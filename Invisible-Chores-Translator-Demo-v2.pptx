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embeddedFontLst>
    <p:embeddedFont>
      <p:font typeface="Noto Sans SC" panose="020B0200000000000000" pitchFamily="34" charset="-122"/>
      <p:regular r:id="rId25"/>
      <p:bold r:id="rId26"/>
    </p:embeddedFont>
    <p:embeddedFont>
      <p:font typeface="Noto Sans SC Medium" panose="020B0200000000000000" pitchFamily="34" charset="-122"/>
      <p:regular r:id="rId27"/>
    </p:embeddedFont>
    <p:embeddedFont>
      <p:font typeface="Source Han Serif SC SemiBold" panose="02020200000000000000" pitchFamily="18" charset="-122"/>
      <p:regular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7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应用截图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应用截图版位_right"/>
          <p:cNvSpPr>
            <a:spLocks noGrp="1"/>
          </p:cNvSpPr>
          <p:nvPr>
            <p:ph type="pic" idx="50"/>
          </p:nvPr>
        </p:nvSpPr>
        <p:spPr>
          <a:xfrm>
            <a:off x="8842248" y="1865376"/>
            <a:ext cx="1938528" cy="4197096"/>
          </a:xfrm>
          <a:prstGeom prst="rect">
            <a:avLst/>
          </a:prstGeom>
          <a:solidFill>
            <a:srgbClr val="F0EEE8"/>
          </a:solidFill>
          <a:ln w="762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应用截图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应用截图版位_left"/>
          <p:cNvSpPr>
            <a:spLocks noGrp="1"/>
          </p:cNvSpPr>
          <p:nvPr>
            <p:ph type="pic" idx="50"/>
          </p:nvPr>
        </p:nvSpPr>
        <p:spPr>
          <a:xfrm>
            <a:off x="960120" y="1865376"/>
            <a:ext cx="1938528" cy="4197096"/>
          </a:xfrm>
          <a:prstGeom prst="rect">
            <a:avLst/>
          </a:prstGeom>
          <a:solidFill>
            <a:srgbClr val="F0EEE8"/>
          </a:solidFill>
          <a:ln w="762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封面_单张连续彩色厨房摄影" descr="双人备餐_Pexels7653646_原始.jpg"/>
          <p:cNvPicPr>
            <a:picLocks noChangeAspect="1"/>
          </p:cNvPicPr>
          <p:nvPr/>
        </p:nvPicPr>
        <p:blipFill>
          <a:blip r:embed="rId2"/>
          <a:srcRect t="2800" r="12000" b="23048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暖纸白渐隐_连续照片遮罩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0">
            <a:gsLst>
              <a:gs pos="0">
                <a:srgbClr val="F7F6F2">
                  <a:alpha val="100000"/>
                </a:srgbClr>
              </a:gs>
              <a:gs pos="30000">
                <a:srgbClr val="F7F6F2">
                  <a:alpha val="100000"/>
                </a:srgbClr>
              </a:gs>
              <a:gs pos="39000">
                <a:srgbClr val="F7F6F2">
                  <a:alpha val="99500"/>
                </a:srgbClr>
              </a:gs>
              <a:gs pos="44000">
                <a:srgbClr val="F7F6F2">
                  <a:alpha val="94000"/>
                </a:srgbClr>
              </a:gs>
              <a:gs pos="50000">
                <a:srgbClr val="F7F6F2">
                  <a:alpha val="54000"/>
                </a:srgbClr>
              </a:gs>
              <a:gs pos="57000">
                <a:srgbClr val="F7F6F2">
                  <a:alpha val="10000"/>
                </a:srgbClr>
              </a:gs>
              <a:gs pos="63000">
                <a:srgbClr val="F7F6F2">
                  <a:alpha val="0"/>
                </a:srgbClr>
              </a:gs>
              <a:gs pos="100000">
                <a:srgbClr val="F7F6F2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文本_课程小组汇报  ／  设计与验证计划"/>
          <p:cNvSpPr txBox="1"/>
          <p:nvPr/>
        </p:nvSpPr>
        <p:spPr>
          <a:xfrm>
            <a:off x="603504" y="484632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课程小组汇报  ／  产品原型与验证计划</a:t>
            </a:r>
            <a:endParaRPr lang="zh-CN" sz="1100"/>
          </a:p>
        </p:txBody>
      </p:sp>
      <p:sp>
        <p:nvSpPr>
          <p:cNvPr id="5" name="封面主标题"/>
          <p:cNvSpPr txBox="1"/>
          <p:nvPr/>
        </p:nvSpPr>
        <p:spPr>
          <a:xfrm>
            <a:off x="576072" y="1417320"/>
            <a:ext cx="5303520" cy="1691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5168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8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隐形家务</a:t>
            </a:r>
            <a:endParaRPr lang="zh-CN" sz="3800"/>
          </a:p>
          <a:p>
            <a:pPr algn="l">
              <a:lnSpc>
                <a:spcPts val="5168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8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翻译器</a:t>
            </a:r>
            <a:endParaRPr lang="zh-CN" sz="3800"/>
          </a:p>
        </p:txBody>
      </p:sp>
      <p:sp>
        <p:nvSpPr>
          <p:cNvPr id="6" name="文本_把“我一直在操心”，_说成看得见、能商量的事。"/>
          <p:cNvSpPr txBox="1"/>
          <p:nvPr/>
        </p:nvSpPr>
        <p:spPr>
          <a:xfrm>
            <a:off x="594360" y="3401568"/>
            <a:ext cx="530352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90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把“我一直在操心”，</a:t>
            </a:r>
            <a:endParaRPr lang="zh-CN" sz="1900"/>
          </a:p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90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说成看得见、能商量的事。</a:t>
            </a:r>
            <a:endParaRPr lang="zh-CN" sz="1900"/>
          </a:p>
        </p:txBody>
      </p:sp>
      <p:sp>
        <p:nvSpPr>
          <p:cNvPr id="7" name="文本_从一个普通的晚饭情境开始。"/>
          <p:cNvSpPr txBox="1"/>
          <p:nvPr/>
        </p:nvSpPr>
        <p:spPr>
          <a:xfrm>
            <a:off x="594360" y="4471416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从一个普通的晚饭情境开始。</a:t>
            </a:r>
            <a:endParaRPr lang="zh-CN" sz="1450"/>
          </a:p>
        </p:txBody>
      </p:sp>
      <p:sp>
        <p:nvSpPr>
          <p:cNvPr id="8" name="封面_情境入口纸页"/>
          <p:cNvSpPr/>
          <p:nvPr/>
        </p:nvSpPr>
        <p:spPr>
          <a:xfrm>
            <a:off x="585216" y="5093208"/>
            <a:ext cx="2532888" cy="1161288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9" name="文本_眼前的任务"/>
          <p:cNvSpPr txBox="1"/>
          <p:nvPr/>
        </p:nvSpPr>
        <p:spPr>
          <a:xfrm>
            <a:off x="813816" y="5276088"/>
            <a:ext cx="2075688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眼前的任务</a:t>
            </a:r>
            <a:endParaRPr lang="zh-CN" sz="1100"/>
          </a:p>
        </p:txBody>
      </p:sp>
      <p:sp>
        <p:nvSpPr>
          <p:cNvPr id="10" name="文本_买菜、做饭"/>
          <p:cNvSpPr txBox="1"/>
          <p:nvPr/>
        </p:nvSpPr>
        <p:spPr>
          <a:xfrm>
            <a:off x="813816" y="5632704"/>
            <a:ext cx="2075688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3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买菜、做饭</a:t>
            </a:r>
            <a:endParaRPr lang="zh-CN" sz="1530"/>
          </a:p>
        </p:txBody>
      </p:sp>
      <p:sp>
        <p:nvSpPr>
          <p:cNvPr id="11" name="封面_情境入口纸页"/>
          <p:cNvSpPr/>
          <p:nvPr/>
        </p:nvSpPr>
        <p:spPr>
          <a:xfrm>
            <a:off x="3346704" y="5093208"/>
            <a:ext cx="2532888" cy="1161288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2" name="文本_没被算进的安排"/>
          <p:cNvSpPr txBox="1"/>
          <p:nvPr/>
        </p:nvSpPr>
        <p:spPr>
          <a:xfrm>
            <a:off x="3575304" y="5276088"/>
            <a:ext cx="2075688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没被算进的安排</a:t>
            </a:r>
            <a:endParaRPr lang="zh-CN" sz="1100"/>
          </a:p>
        </p:txBody>
      </p:sp>
      <p:sp>
        <p:nvSpPr>
          <p:cNvPr id="13" name="文本_核对食材、想菜单_询问口味"/>
          <p:cNvSpPr txBox="1"/>
          <p:nvPr/>
        </p:nvSpPr>
        <p:spPr>
          <a:xfrm>
            <a:off x="3575304" y="5632704"/>
            <a:ext cx="2075688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3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核对食材、想菜单</a:t>
            </a:r>
            <a:endParaRPr lang="zh-CN" sz="1530"/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3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询问口味</a:t>
            </a:r>
            <a:endParaRPr lang="zh-CN" sz="153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5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"/>
          <p:cNvSpPr txBox="1"/>
          <p:nvPr/>
        </p:nvSpPr>
        <p:spPr>
          <a:xfrm>
            <a:off x="594360" y="370332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四人分工  ／  从问题到验证</a:t>
            </a:r>
            <a:endParaRPr lang="zh-CN" sz="1070"/>
          </a:p>
        </p:txBody>
      </p:sp>
      <p:sp>
        <p:nvSpPr>
          <p:cNvPr id="8" name="页码"/>
          <p:cNvSpPr txBox="1"/>
          <p:nvPr/>
        </p:nvSpPr>
        <p:spPr>
          <a:xfrm>
            <a:off x="11247120" y="374904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02</a:t>
            </a:r>
            <a:endParaRPr lang="zh-CN" sz="1070"/>
          </a:p>
        </p:txBody>
      </p:sp>
      <p:sp>
        <p:nvSpPr>
          <p:cNvPr id="9" name="主标题"/>
          <p:cNvSpPr txBox="1"/>
          <p:nvPr/>
        </p:nvSpPr>
        <p:spPr>
          <a:xfrm>
            <a:off x="576072" y="932688"/>
            <a:ext cx="10972800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1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汇报目录</a:t>
            </a:r>
            <a:endParaRPr lang="zh-CN" sz="3100"/>
          </a:p>
        </p:txBody>
      </p:sp>
      <p:cxnSp>
        <p:nvCxnSpPr>
          <p:cNvPr id="10" name="分隔细线"/>
          <p:cNvCxnSpPr/>
          <p:nvPr/>
        </p:nvCxnSpPr>
        <p:spPr>
          <a:xfrm>
            <a:off x="585216" y="6451092"/>
            <a:ext cx="1100937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!!chapterNum0"/>
          <p:cNvSpPr txBox="1"/>
          <p:nvPr/>
        </p:nvSpPr>
        <p:spPr>
          <a:xfrm>
            <a:off x="594360" y="2057400"/>
            <a:ext cx="658368" cy="4846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 b="0">
                <a:solidFill>
                  <a:srgbClr val="8C2D19"/>
                </a:solidFill>
                <a:latin typeface="Source Han Serif SC SemiBold"/>
                <a:ea typeface="Source Han Serif SC SemiBold"/>
                <a:cs typeface="Source Han Serif SC SemiBold"/>
              </a:rPr>
              <a:t>01</a:t>
            </a:r>
            <a:endParaRPr lang="zh-CN" sz="2600"/>
          </a:p>
        </p:txBody>
      </p:sp>
      <p:sp>
        <p:nvSpPr>
          <p:cNvPr id="12" name="!!chapterTitle0"/>
          <p:cNvSpPr txBox="1"/>
          <p:nvPr/>
        </p:nvSpPr>
        <p:spPr>
          <a:xfrm>
            <a:off x="1609344" y="2093976"/>
            <a:ext cx="2084831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10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问题界定</a:t>
            </a:r>
            <a:endParaRPr lang="zh-CN" sz="2100"/>
          </a:p>
        </p:txBody>
      </p:sp>
      <p:sp>
        <p:nvSpPr>
          <p:cNvPr id="13" name="文本_看见被漏掉的前期安排"/>
          <p:cNvSpPr txBox="1"/>
          <p:nvPr/>
        </p:nvSpPr>
        <p:spPr>
          <a:xfrm>
            <a:off x="3986784" y="2125980"/>
            <a:ext cx="5138928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88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看见被漏掉的前期安排</a:t>
            </a:r>
            <a:endParaRPr lang="zh-CN" sz="1600"/>
          </a:p>
        </p:txBody>
      </p:sp>
      <p:sp>
        <p:nvSpPr>
          <p:cNvPr id="14" name="文本_成员A  03—05"/>
          <p:cNvSpPr txBox="1"/>
          <p:nvPr/>
        </p:nvSpPr>
        <p:spPr>
          <a:xfrm>
            <a:off x="9784080" y="2148840"/>
            <a:ext cx="1591056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1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成员A  03—05</a:t>
            </a:r>
            <a:endParaRPr lang="zh-CN" sz="1110"/>
          </a:p>
        </p:txBody>
      </p:sp>
      <p:cxnSp>
        <p:nvCxnSpPr>
          <p:cNvPr id="15" name="分隔细线"/>
          <p:cNvCxnSpPr/>
          <p:nvPr/>
        </p:nvCxnSpPr>
        <p:spPr>
          <a:xfrm>
            <a:off x="1609344" y="2752344"/>
            <a:ext cx="977493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!!chapterNum1"/>
          <p:cNvSpPr txBox="1"/>
          <p:nvPr/>
        </p:nvSpPr>
        <p:spPr>
          <a:xfrm>
            <a:off x="594360" y="3044952"/>
            <a:ext cx="658368" cy="4846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 b="0">
                <a:solidFill>
                  <a:srgbClr val="8C2D19"/>
                </a:solidFill>
                <a:latin typeface="Source Han Serif SC SemiBold"/>
                <a:ea typeface="Source Han Serif SC SemiBold"/>
                <a:cs typeface="Source Han Serif SC SemiBold"/>
              </a:rPr>
              <a:t>02</a:t>
            </a:r>
            <a:endParaRPr lang="zh-CN" sz="2600"/>
          </a:p>
        </p:txBody>
      </p:sp>
      <p:sp>
        <p:nvSpPr>
          <p:cNvPr id="17" name="!!chapterTitle1"/>
          <p:cNvSpPr txBox="1"/>
          <p:nvPr/>
        </p:nvSpPr>
        <p:spPr>
          <a:xfrm>
            <a:off x="1609344" y="3081528"/>
            <a:ext cx="2084831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10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产品演示</a:t>
            </a:r>
            <a:endParaRPr lang="zh-CN" sz="2100"/>
          </a:p>
        </p:txBody>
      </p:sp>
      <p:sp>
        <p:nvSpPr>
          <p:cNvPr id="18" name="文本_从一句原话到共同约定"/>
          <p:cNvSpPr txBox="1"/>
          <p:nvPr/>
        </p:nvSpPr>
        <p:spPr>
          <a:xfrm>
            <a:off x="3986784" y="3113532"/>
            <a:ext cx="5138928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88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从一句原话到共同约定</a:t>
            </a:r>
            <a:endParaRPr lang="zh-CN" sz="1600"/>
          </a:p>
        </p:txBody>
      </p:sp>
      <p:sp>
        <p:nvSpPr>
          <p:cNvPr id="19" name="文本_成员B  06—13"/>
          <p:cNvSpPr txBox="1"/>
          <p:nvPr/>
        </p:nvSpPr>
        <p:spPr>
          <a:xfrm>
            <a:off x="9784080" y="3136392"/>
            <a:ext cx="1591056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1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成员B  06—13</a:t>
            </a:r>
            <a:endParaRPr lang="zh-CN" sz="1110"/>
          </a:p>
        </p:txBody>
      </p:sp>
      <p:cxnSp>
        <p:nvCxnSpPr>
          <p:cNvPr id="20" name="分隔细线"/>
          <p:cNvCxnSpPr/>
          <p:nvPr/>
        </p:nvCxnSpPr>
        <p:spPr>
          <a:xfrm>
            <a:off x="1609344" y="3739896"/>
            <a:ext cx="977493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!!chapterNum2"/>
          <p:cNvSpPr txBox="1"/>
          <p:nvPr/>
        </p:nvSpPr>
        <p:spPr>
          <a:xfrm>
            <a:off x="594360" y="4032504"/>
            <a:ext cx="658368" cy="4846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 b="0">
                <a:solidFill>
                  <a:srgbClr val="8C2D19"/>
                </a:solidFill>
                <a:latin typeface="Source Han Serif SC SemiBold"/>
                <a:ea typeface="Source Han Serif SC SemiBold"/>
                <a:cs typeface="Source Han Serif SC SemiBold"/>
              </a:rPr>
              <a:t>03</a:t>
            </a:r>
            <a:endParaRPr lang="zh-CN" sz="2600"/>
          </a:p>
        </p:txBody>
      </p:sp>
      <p:sp>
        <p:nvSpPr>
          <p:cNvPr id="22" name="!!chapterTitle2"/>
          <p:cNvSpPr txBox="1"/>
          <p:nvPr/>
        </p:nvSpPr>
        <p:spPr>
          <a:xfrm>
            <a:off x="1609344" y="4069080"/>
            <a:ext cx="2084831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10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用户范围</a:t>
            </a:r>
            <a:endParaRPr lang="zh-CN" sz="2100"/>
          </a:p>
        </p:txBody>
      </p:sp>
      <p:sp>
        <p:nvSpPr>
          <p:cNvPr id="23" name="文本_找准操作差异与参与条件"/>
          <p:cNvSpPr txBox="1"/>
          <p:nvPr/>
        </p:nvSpPr>
        <p:spPr>
          <a:xfrm>
            <a:off x="3986784" y="4101084"/>
            <a:ext cx="5138928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88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找准操作差异与参与条件</a:t>
            </a:r>
            <a:endParaRPr lang="zh-CN" sz="1600"/>
          </a:p>
        </p:txBody>
      </p:sp>
      <p:sp>
        <p:nvSpPr>
          <p:cNvPr id="24" name="文本_成员C  14—17"/>
          <p:cNvSpPr txBox="1"/>
          <p:nvPr/>
        </p:nvSpPr>
        <p:spPr>
          <a:xfrm>
            <a:off x="9784080" y="4123944"/>
            <a:ext cx="1591056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1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成员C  14—17</a:t>
            </a:r>
            <a:endParaRPr lang="zh-CN" sz="1110"/>
          </a:p>
        </p:txBody>
      </p:sp>
      <p:cxnSp>
        <p:nvCxnSpPr>
          <p:cNvPr id="25" name="分隔细线"/>
          <p:cNvCxnSpPr/>
          <p:nvPr/>
        </p:nvCxnSpPr>
        <p:spPr>
          <a:xfrm>
            <a:off x="1609344" y="4727448"/>
            <a:ext cx="977493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!!chapterNum3"/>
          <p:cNvSpPr txBox="1"/>
          <p:nvPr/>
        </p:nvSpPr>
        <p:spPr>
          <a:xfrm>
            <a:off x="594360" y="5020056"/>
            <a:ext cx="658368" cy="4846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 b="0">
                <a:solidFill>
                  <a:srgbClr val="8C2D19"/>
                </a:solidFill>
                <a:latin typeface="Source Han Serif SC SemiBold"/>
                <a:ea typeface="Source Han Serif SC SemiBold"/>
                <a:cs typeface="Source Han Serif SC SemiBold"/>
              </a:rPr>
              <a:t>04</a:t>
            </a:r>
            <a:endParaRPr lang="zh-CN" sz="2600"/>
          </a:p>
        </p:txBody>
      </p:sp>
      <p:sp>
        <p:nvSpPr>
          <p:cNvPr id="27" name="!!chapterTitle3"/>
          <p:cNvSpPr txBox="1"/>
          <p:nvPr/>
        </p:nvSpPr>
        <p:spPr>
          <a:xfrm>
            <a:off x="1609344" y="5056632"/>
            <a:ext cx="2084831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10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验证计划</a:t>
            </a:r>
            <a:endParaRPr lang="zh-CN" sz="2100"/>
          </a:p>
        </p:txBody>
      </p:sp>
      <p:sp>
        <p:nvSpPr>
          <p:cNvPr id="28" name="文本_观察真实体验，守住退出边界"/>
          <p:cNvSpPr txBox="1"/>
          <p:nvPr/>
        </p:nvSpPr>
        <p:spPr>
          <a:xfrm>
            <a:off x="3986784" y="5088636"/>
            <a:ext cx="5138928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88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观察真实体验，守住退出边界</a:t>
            </a:r>
            <a:endParaRPr lang="zh-CN" sz="1600"/>
          </a:p>
        </p:txBody>
      </p:sp>
      <p:sp>
        <p:nvSpPr>
          <p:cNvPr id="29" name="文本_成员D  18—23"/>
          <p:cNvSpPr txBox="1"/>
          <p:nvPr/>
        </p:nvSpPr>
        <p:spPr>
          <a:xfrm>
            <a:off x="9784080" y="5111496"/>
            <a:ext cx="1591056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1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成员D  18—23</a:t>
            </a:r>
            <a:endParaRPr lang="zh-CN" sz="111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2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_成员A  ／  问题界定与方案主张"/>
          <p:cNvSpPr txBox="1"/>
          <p:nvPr/>
        </p:nvSpPr>
        <p:spPr>
          <a:xfrm>
            <a:off x="594360" y="370332"/>
            <a:ext cx="822960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成员A  ／  问题界定与方案主张</a:t>
            </a:r>
            <a:endParaRPr lang="zh-CN" sz="1070"/>
          </a:p>
        </p:txBody>
      </p:sp>
      <p:sp>
        <p:nvSpPr>
          <p:cNvPr id="3" name="文本_03"/>
          <p:cNvSpPr txBox="1"/>
          <p:nvPr/>
        </p:nvSpPr>
        <p:spPr>
          <a:xfrm>
            <a:off x="11247120" y="374904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1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03</a:t>
            </a:r>
            <a:endParaRPr lang="zh-CN" sz="1070"/>
          </a:p>
        </p:txBody>
      </p:sp>
      <p:sp>
        <p:nvSpPr>
          <p:cNvPr id="4" name="!!chapterNum0"/>
          <p:cNvSpPr txBox="1"/>
          <p:nvPr/>
        </p:nvSpPr>
        <p:spPr>
          <a:xfrm>
            <a:off x="9043416" y="1197864"/>
            <a:ext cx="2505456" cy="19751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8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800" b="0">
                <a:solidFill>
                  <a:srgbClr val="8C2D19"/>
                </a:solidFill>
                <a:latin typeface="Source Han Serif SC SemiBold"/>
                <a:ea typeface="Source Han Serif SC SemiBold"/>
                <a:cs typeface="Source Han Serif SC SemiBold"/>
              </a:rPr>
              <a:t>01</a:t>
            </a:r>
            <a:endParaRPr lang="zh-CN" sz="10800"/>
          </a:p>
        </p:txBody>
      </p:sp>
      <p:cxnSp>
        <p:nvCxnSpPr>
          <p:cNvPr id="5" name="分隔细线"/>
          <p:cNvCxnSpPr/>
          <p:nvPr/>
        </p:nvCxnSpPr>
        <p:spPr>
          <a:xfrm>
            <a:off x="594360" y="1344168"/>
            <a:ext cx="7205471" cy="0"/>
          </a:xfrm>
          <a:prstGeom prst="line">
            <a:avLst/>
          </a:prstGeom>
          <a:ln w="7620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!!chapterTitle0"/>
          <p:cNvSpPr txBox="1"/>
          <p:nvPr/>
        </p:nvSpPr>
        <p:spPr>
          <a:xfrm>
            <a:off x="576072" y="1856231"/>
            <a:ext cx="7434072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5375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3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问题界定</a:t>
            </a:r>
            <a:endParaRPr lang="zh-CN" sz="4300"/>
          </a:p>
        </p:txBody>
      </p:sp>
      <p:sp>
        <p:nvSpPr>
          <p:cNvPr id="7" name="文本_看见做饭前，_已经发生的安排。"/>
          <p:cNvSpPr txBox="1"/>
          <p:nvPr/>
        </p:nvSpPr>
        <p:spPr>
          <a:xfrm>
            <a:off x="594360" y="3337560"/>
            <a:ext cx="7498079" cy="950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33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2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看见做饭前，</a:t>
            </a:r>
            <a:endParaRPr lang="zh-CN" sz="2320"/>
          </a:p>
          <a:p>
            <a:pPr algn="l">
              <a:lnSpc>
                <a:spcPts val="3433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2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已经发生的安排。</a:t>
            </a:r>
            <a:endParaRPr lang="zh-CN" sz="2320"/>
          </a:p>
        </p:txBody>
      </p:sp>
      <p:sp>
        <p:nvSpPr>
          <p:cNvPr id="8" name="!!chapterTitle1"/>
          <p:cNvSpPr txBox="1"/>
          <p:nvPr/>
        </p:nvSpPr>
        <p:spPr>
          <a:xfrm>
            <a:off x="9034272" y="4791456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8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8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产品演示</a:t>
            </a:r>
            <a:endParaRPr lang="zh-CN" sz="1280"/>
          </a:p>
        </p:txBody>
      </p:sp>
      <p:sp>
        <p:nvSpPr>
          <p:cNvPr id="9" name="!!chapterTitle2"/>
          <p:cNvSpPr txBox="1"/>
          <p:nvPr/>
        </p:nvSpPr>
        <p:spPr>
          <a:xfrm>
            <a:off x="9034272" y="523036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8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8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用户范围</a:t>
            </a:r>
            <a:endParaRPr lang="zh-CN" sz="1280"/>
          </a:p>
        </p:txBody>
      </p:sp>
      <p:sp>
        <p:nvSpPr>
          <p:cNvPr id="10" name="!!chapterTitle3"/>
          <p:cNvSpPr txBox="1"/>
          <p:nvPr/>
        </p:nvSpPr>
        <p:spPr>
          <a:xfrm>
            <a:off x="9034272" y="566928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8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8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验证计划</a:t>
            </a:r>
            <a:endParaRPr lang="zh-CN" sz="1280"/>
          </a:p>
        </p:txBody>
      </p:sp>
      <p:sp>
        <p:nvSpPr>
          <p:cNvPr id="11" name="文本_问题界定与方案主张"/>
          <p:cNvSpPr txBox="1"/>
          <p:nvPr/>
        </p:nvSpPr>
        <p:spPr>
          <a:xfrm>
            <a:off x="594360" y="5897880"/>
            <a:ext cx="7498079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0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3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问题界定与方案主张</a:t>
            </a:r>
            <a:endParaRPr lang="zh-CN" sz="1330"/>
          </a:p>
        </p:txBody>
      </p:sp>
      <p:cxnSp>
        <p:nvCxnSpPr>
          <p:cNvPr id="12" name="分隔细线"/>
          <p:cNvCxnSpPr/>
          <p:nvPr/>
        </p:nvCxnSpPr>
        <p:spPr>
          <a:xfrm>
            <a:off x="585216" y="6451092"/>
            <a:ext cx="1100937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1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"/>
          <p:cNvSpPr txBox="1"/>
          <p:nvPr/>
        </p:nvSpPr>
        <p:spPr>
          <a:xfrm>
            <a:off x="594360" y="370332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问题界定与方案主张</a:t>
            </a:r>
            <a:endParaRPr lang="zh-CN" sz="1070"/>
          </a:p>
        </p:txBody>
      </p:sp>
      <p:sp>
        <p:nvSpPr>
          <p:cNvPr id="3" name="!!chapterTitle0"/>
          <p:cNvSpPr txBox="1"/>
          <p:nvPr/>
        </p:nvSpPr>
        <p:spPr>
          <a:xfrm>
            <a:off x="7040880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问题界定</a:t>
            </a:r>
            <a:endParaRPr lang="zh-CN" sz="919"/>
          </a:p>
        </p:txBody>
      </p:sp>
      <p:cxnSp>
        <p:nvCxnSpPr>
          <p:cNvPr id="4" name="!!activeNavRule"/>
          <p:cNvCxnSpPr/>
          <p:nvPr/>
        </p:nvCxnSpPr>
        <p:spPr>
          <a:xfrm>
            <a:off x="7040880" y="701344"/>
            <a:ext cx="570585" cy="0"/>
          </a:xfrm>
          <a:prstGeom prst="line">
            <a:avLst/>
          </a:prstGeom>
          <a:ln w="10160">
            <a:solidFill>
              <a:srgbClr val="8C2D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!!chapterTitle1"/>
          <p:cNvSpPr txBox="1"/>
          <p:nvPr/>
        </p:nvSpPr>
        <p:spPr>
          <a:xfrm>
            <a:off x="8065008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产品演示</a:t>
            </a:r>
            <a:endParaRPr lang="zh-CN" sz="919"/>
          </a:p>
        </p:txBody>
      </p:sp>
      <p:sp>
        <p:nvSpPr>
          <p:cNvPr id="6" name="!!chapterTitle2"/>
          <p:cNvSpPr txBox="1"/>
          <p:nvPr/>
        </p:nvSpPr>
        <p:spPr>
          <a:xfrm>
            <a:off x="9089136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用户范围</a:t>
            </a:r>
            <a:endParaRPr lang="zh-CN" sz="919"/>
          </a:p>
        </p:txBody>
      </p:sp>
      <p:sp>
        <p:nvSpPr>
          <p:cNvPr id="7" name="!!chapterTitle3"/>
          <p:cNvSpPr txBox="1"/>
          <p:nvPr/>
        </p:nvSpPr>
        <p:spPr>
          <a:xfrm>
            <a:off x="10113264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验证计划</a:t>
            </a:r>
            <a:endParaRPr lang="zh-CN" sz="919"/>
          </a:p>
        </p:txBody>
      </p:sp>
      <p:sp>
        <p:nvSpPr>
          <p:cNvPr id="8" name="页码"/>
          <p:cNvSpPr txBox="1"/>
          <p:nvPr/>
        </p:nvSpPr>
        <p:spPr>
          <a:xfrm>
            <a:off x="11247120" y="374904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04</a:t>
            </a:r>
            <a:endParaRPr lang="zh-CN" sz="1070"/>
          </a:p>
        </p:txBody>
      </p:sp>
      <p:sp>
        <p:nvSpPr>
          <p:cNvPr id="9" name="主标题"/>
          <p:cNvSpPr txBox="1"/>
          <p:nvPr/>
        </p:nvSpPr>
        <p:spPr>
          <a:xfrm>
            <a:off x="576072" y="932688"/>
            <a:ext cx="10972800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1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家务不只发生在动手时。</a:t>
            </a:r>
            <a:endParaRPr lang="zh-CN" sz="3100"/>
          </a:p>
        </p:txBody>
      </p:sp>
      <p:cxnSp>
        <p:nvCxnSpPr>
          <p:cNvPr id="10" name="分隔细线"/>
          <p:cNvCxnSpPr/>
          <p:nvPr/>
        </p:nvCxnSpPr>
        <p:spPr>
          <a:xfrm>
            <a:off x="585216" y="6451092"/>
            <a:ext cx="1100937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_普通文本无链接"/>
          <p:cNvSpPr txBox="1"/>
          <p:nvPr/>
        </p:nvSpPr>
        <p:spPr>
          <a:xfrm>
            <a:off x="594360" y="6528816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46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资料：国家统计局第三次全国时间利用调查（2024）；Daminger, 2019, American Sociological Review 84(4)。</a:t>
            </a:r>
            <a:endParaRPr lang="zh-CN" sz="910"/>
          </a:p>
        </p:txBody>
      </p:sp>
      <p:grpSp>
        <p:nvGrpSpPr>
          <p:cNvPr id="20" name="ANIM:backgroundNumber"/>
          <p:cNvGrpSpPr/>
          <p:nvPr/>
        </p:nvGrpSpPr>
        <p:grpSpPr>
          <a:xfrm>
            <a:off x="576072" y="2029968"/>
            <a:ext cx="4133088" cy="4069080"/>
            <a:chOff x="576072" y="2029968"/>
            <a:chExt cx="4133088" cy="4069080"/>
          </a:xfrm>
        </p:grpSpPr>
        <p:sp>
          <p:nvSpPr>
            <p:cNvPr id="12" name="文本_2024年  ／  居民日均家务劳动"/>
            <p:cNvSpPr txBox="1"/>
            <p:nvPr/>
          </p:nvSpPr>
          <p:spPr>
            <a:xfrm>
              <a:off x="594360" y="2029968"/>
              <a:ext cx="3931920" cy="3017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83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80" b="0">
                  <a:solidFill>
                    <a:srgbClr val="6E6D68"/>
                  </a:solidFill>
                  <a:latin typeface="Noto Sans SC Medium"/>
                  <a:ea typeface="Noto Sans SC Medium"/>
                  <a:cs typeface="Noto Sans SC Medium"/>
                </a:rPr>
                <a:t>2024年  ／  居民日均家务劳动</a:t>
              </a:r>
              <a:endParaRPr lang="zh-CN" sz="1280"/>
            </a:p>
          </p:txBody>
        </p:sp>
        <p:sp>
          <p:nvSpPr>
            <p:cNvPr id="13" name="文本_1"/>
            <p:cNvSpPr txBox="1"/>
            <p:nvPr/>
          </p:nvSpPr>
          <p:spPr>
            <a:xfrm>
              <a:off x="576072" y="2679192"/>
              <a:ext cx="841248" cy="9601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6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6600" b="0">
                  <a:solidFill>
                    <a:srgbClr val="24241F"/>
                  </a:solidFill>
                  <a:latin typeface="Source Han Serif SC SemiBold"/>
                  <a:ea typeface="Source Han Serif SC SemiBold"/>
                  <a:cs typeface="Source Han Serif SC SemiBold"/>
                </a:rPr>
                <a:t>1</a:t>
              </a:r>
              <a:endParaRPr lang="zh-CN" sz="6600"/>
            </a:p>
          </p:txBody>
        </p:sp>
        <p:sp>
          <p:nvSpPr>
            <p:cNvPr id="14" name="文本_小时"/>
            <p:cNvSpPr txBox="1"/>
            <p:nvPr/>
          </p:nvSpPr>
          <p:spPr>
            <a:xfrm>
              <a:off x="1389888" y="3182112"/>
              <a:ext cx="594360" cy="3931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2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0">
                  <a:solidFill>
                    <a:srgbClr val="24241F"/>
                  </a:solidFill>
                  <a:latin typeface="Noto Sans SC"/>
                  <a:ea typeface="Noto Sans SC"/>
                  <a:cs typeface="Noto Sans SC"/>
                </a:rPr>
                <a:t>小时</a:t>
              </a:r>
              <a:endParaRPr lang="zh-CN" sz="1600"/>
            </a:p>
          </p:txBody>
        </p:sp>
        <p:sp>
          <p:nvSpPr>
            <p:cNvPr id="15" name="文本_17"/>
            <p:cNvSpPr txBox="1"/>
            <p:nvPr/>
          </p:nvSpPr>
          <p:spPr>
            <a:xfrm>
              <a:off x="1984248" y="2679192"/>
              <a:ext cx="1554480" cy="9601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6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6600" b="0">
                  <a:solidFill>
                    <a:srgbClr val="8C2D19"/>
                  </a:solidFill>
                  <a:latin typeface="Source Han Serif SC SemiBold"/>
                  <a:ea typeface="Source Han Serif SC SemiBold"/>
                  <a:cs typeface="Source Han Serif SC SemiBold"/>
                </a:rPr>
                <a:t>17</a:t>
              </a:r>
              <a:endParaRPr lang="zh-CN" sz="6600"/>
            </a:p>
          </p:txBody>
        </p:sp>
        <p:sp>
          <p:nvSpPr>
            <p:cNvPr id="16" name="文本_分钟"/>
            <p:cNvSpPr txBox="1"/>
            <p:nvPr/>
          </p:nvSpPr>
          <p:spPr>
            <a:xfrm>
              <a:off x="3547872" y="3182112"/>
              <a:ext cx="612648" cy="3931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2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0">
                  <a:solidFill>
                    <a:srgbClr val="24241F"/>
                  </a:solidFill>
                  <a:latin typeface="Noto Sans SC"/>
                  <a:ea typeface="Noto Sans SC"/>
                  <a:cs typeface="Noto Sans SC"/>
                </a:rPr>
                <a:t>分钟</a:t>
              </a:r>
              <a:endParaRPr lang="zh-CN" sz="1600"/>
            </a:p>
          </p:txBody>
        </p:sp>
        <p:sp>
          <p:nvSpPr>
            <p:cNvPr id="17" name="文本_6周岁及以上调查对象平均，_含未参与者，按一周加权。"/>
            <p:cNvSpPr txBox="1"/>
            <p:nvPr/>
          </p:nvSpPr>
          <p:spPr>
            <a:xfrm>
              <a:off x="594360" y="3995928"/>
              <a:ext cx="4114800" cy="7498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1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3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6周岁及以上调查对象平均，</a:t>
              </a:r>
              <a:endParaRPr lang="zh-CN" sz="1430"/>
            </a:p>
            <a:p>
              <a:pPr algn="l">
                <a:lnSpc>
                  <a:spcPts val="21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3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含未参与者，按一周加权。</a:t>
              </a:r>
              <a:endParaRPr lang="zh-CN" sz="1430"/>
            </a:p>
          </p:txBody>
        </p:sp>
        <p:cxnSp>
          <p:nvCxnSpPr>
            <p:cNvPr id="18" name="分隔细线"/>
            <p:cNvCxnSpPr/>
            <p:nvPr/>
          </p:nvCxnSpPr>
          <p:spPr>
            <a:xfrm>
              <a:off x="594360" y="5020056"/>
              <a:ext cx="4114800" cy="0"/>
            </a:xfrm>
            <a:prstGeom prst="line">
              <a:avLst/>
            </a:prstGeom>
            <a:ln w="6985">
              <a:solidFill>
                <a:srgbClr val="D4D2C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_统计的是家务劳动时间，_不是认知投入的专门测量。"/>
            <p:cNvSpPr txBox="1"/>
            <p:nvPr/>
          </p:nvSpPr>
          <p:spPr>
            <a:xfrm>
              <a:off x="594360" y="5257800"/>
              <a:ext cx="4114800" cy="8412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50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统计的是家务劳动时间，</a:t>
              </a:r>
              <a:endParaRPr lang="zh-CN" sz="1500"/>
            </a:p>
            <a:p>
              <a:pPr algn="l">
                <a:lnSpc>
                  <a:spcPts val="2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50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不是认知投入的专门测量。</a:t>
              </a:r>
              <a:endParaRPr lang="zh-CN" sz="1500"/>
            </a:p>
          </p:txBody>
        </p:sp>
      </p:grpSp>
      <p:sp>
        <p:nvSpPr>
          <p:cNvPr id="21" name="研究背景纸页"/>
          <p:cNvSpPr/>
          <p:nvPr/>
        </p:nvSpPr>
        <p:spPr>
          <a:xfrm>
            <a:off x="5285232" y="2048256"/>
            <a:ext cx="6309360" cy="4087368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2" name="文本_认知家务的四个环节"/>
          <p:cNvSpPr txBox="1"/>
          <p:nvPr/>
        </p:nvSpPr>
        <p:spPr>
          <a:xfrm>
            <a:off x="5568696" y="2331720"/>
            <a:ext cx="5687568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认知家务的四个环节</a:t>
            </a:r>
            <a:endParaRPr lang="zh-CN" sz="2000"/>
          </a:p>
        </p:txBody>
      </p:sp>
      <p:sp>
        <p:nvSpPr>
          <p:cNvPr id="23" name="文本_35对伴侣  ·  70次个别访谈  ／  Daming"/>
          <p:cNvSpPr txBox="1"/>
          <p:nvPr/>
        </p:nvSpPr>
        <p:spPr>
          <a:xfrm>
            <a:off x="5568696" y="2843784"/>
            <a:ext cx="56875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3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35对伴侣  ·  70次个别访谈  ／  Daminger（2019）</a:t>
            </a:r>
            <a:endParaRPr lang="zh-CN" sz="1130"/>
          </a:p>
        </p:txBody>
      </p:sp>
      <p:grpSp>
        <p:nvGrpSpPr>
          <p:cNvPr id="30" name="ANIM:cognitiveTrace"/>
          <p:cNvGrpSpPr/>
          <p:nvPr/>
        </p:nvGrpSpPr>
        <p:grpSpPr>
          <a:xfrm>
            <a:off x="7269480" y="3801829"/>
            <a:ext cx="2461810" cy="1403181"/>
            <a:chOff x="7269480" y="3801829"/>
            <a:chExt cx="2461810" cy="1403181"/>
          </a:xfrm>
        </p:grpSpPr>
        <p:cxnSp>
          <p:nvCxnSpPr>
            <p:cNvPr id="24" name="流程连线"/>
            <p:cNvCxnSpPr/>
            <p:nvPr/>
          </p:nvCxnSpPr>
          <p:spPr>
            <a:xfrm>
              <a:off x="7269480" y="3849624"/>
              <a:ext cx="1088136" cy="0"/>
            </a:xfrm>
            <a:prstGeom prst="line">
              <a:avLst/>
            </a:prstGeom>
            <a:ln w="13335">
              <a:solidFill>
                <a:srgbClr val="6E6D6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原生矢量路径"/>
            <p:cNvSpPr/>
            <p:nvPr/>
          </p:nvSpPr>
          <p:spPr>
            <a:xfrm>
              <a:off x="8279661" y="3801829"/>
              <a:ext cx="77955" cy="95589"/>
            </a:xfrm>
            <a:custGeom>
              <a:avLst/>
              <a:gdLst/>
              <a:ahLst/>
              <a:cxnLst/>
              <a:rect l="l" t="t" r="r" b="b"/>
              <a:pathLst>
                <a:path w="77955" h="95589">
                  <a:moveTo>
                    <a:pt x="0" y="95589"/>
                  </a:moveTo>
                  <a:lnTo>
                    <a:pt x="77955" y="47795"/>
                  </a:ln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6E6D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6" name="流程连线"/>
            <p:cNvCxnSpPr/>
            <p:nvPr/>
          </p:nvCxnSpPr>
          <p:spPr>
            <a:xfrm>
              <a:off x="9683496" y="4297680"/>
              <a:ext cx="0" cy="329184"/>
            </a:xfrm>
            <a:prstGeom prst="line">
              <a:avLst/>
            </a:prstGeom>
            <a:ln w="13335">
              <a:solidFill>
                <a:srgbClr val="6E6D6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原生矢量路径"/>
            <p:cNvSpPr/>
            <p:nvPr/>
          </p:nvSpPr>
          <p:spPr>
            <a:xfrm>
              <a:off x="9635701" y="4548909"/>
              <a:ext cx="95589" cy="77955"/>
            </a:xfrm>
            <a:custGeom>
              <a:avLst/>
              <a:gdLst/>
              <a:ahLst/>
              <a:cxnLst/>
              <a:rect l="l" t="t" r="r" b="b"/>
              <a:pathLst>
                <a:path w="95589" h="77955">
                  <a:moveTo>
                    <a:pt x="0" y="0"/>
                  </a:moveTo>
                  <a:lnTo>
                    <a:pt x="47795" y="77955"/>
                  </a:lnTo>
                  <a:lnTo>
                    <a:pt x="95589" y="0"/>
                  </a:lnTo>
                </a:path>
              </a:pathLst>
            </a:custGeom>
            <a:noFill/>
            <a:ln w="13335">
              <a:solidFill>
                <a:srgbClr val="6E6D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8" name="流程连线"/>
            <p:cNvCxnSpPr/>
            <p:nvPr/>
          </p:nvCxnSpPr>
          <p:spPr>
            <a:xfrm flipH="1">
              <a:off x="7269480" y="5157216"/>
              <a:ext cx="1088136" cy="0"/>
            </a:xfrm>
            <a:prstGeom prst="line">
              <a:avLst/>
            </a:prstGeom>
            <a:ln w="13335">
              <a:solidFill>
                <a:srgbClr val="6E6D6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原生矢量路径"/>
            <p:cNvSpPr/>
            <p:nvPr/>
          </p:nvSpPr>
          <p:spPr>
            <a:xfrm>
              <a:off x="7269480" y="5109421"/>
              <a:ext cx="77954" cy="95589"/>
            </a:xfrm>
            <a:custGeom>
              <a:avLst/>
              <a:gdLst/>
              <a:ahLst/>
              <a:cxnLst/>
              <a:rect l="l" t="t" r="r" b="b"/>
              <a:pathLst>
                <a:path w="77954" h="95589">
                  <a:moveTo>
                    <a:pt x="77954" y="0"/>
                  </a:moveTo>
                  <a:lnTo>
                    <a:pt x="0" y="47795"/>
                  </a:lnTo>
                  <a:lnTo>
                    <a:pt x="77954" y="95589"/>
                  </a:lnTo>
                </a:path>
              </a:pathLst>
            </a:custGeom>
            <a:noFill/>
            <a:ln w="13335">
              <a:solidFill>
                <a:srgbClr val="6E6D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6" name="ANIM:cognitive0"/>
          <p:cNvGrpSpPr/>
          <p:nvPr/>
        </p:nvGrpSpPr>
        <p:grpSpPr>
          <a:xfrm>
            <a:off x="5692140" y="3520439"/>
            <a:ext cx="2464308" cy="813817"/>
            <a:chOff x="5692140" y="3520439"/>
            <a:chExt cx="2464308" cy="813817"/>
          </a:xfrm>
        </p:grpSpPr>
        <p:grpSp>
          <p:nvGrpSpPr>
            <p:cNvPr id="33" name="图标_eye"/>
            <p:cNvGrpSpPr/>
            <p:nvPr/>
          </p:nvGrpSpPr>
          <p:grpSpPr>
            <a:xfrm>
              <a:off x="5692140" y="3603650"/>
              <a:ext cx="412394" cy="281635"/>
              <a:chOff x="5692140" y="3603650"/>
              <a:chExt cx="412394" cy="281635"/>
            </a:xfrm>
          </p:grpSpPr>
          <p:sp>
            <p:nvSpPr>
              <p:cNvPr id="31" name="原生矢量路径"/>
              <p:cNvSpPr/>
              <p:nvPr/>
            </p:nvSpPr>
            <p:spPr>
              <a:xfrm>
                <a:off x="5692140" y="3603650"/>
                <a:ext cx="412394" cy="281635"/>
              </a:xfrm>
              <a:custGeom>
                <a:avLst/>
                <a:gdLst/>
                <a:ahLst/>
                <a:cxnLst/>
                <a:rect l="l" t="t" r="r" b="b"/>
                <a:pathLst>
                  <a:path w="412394" h="281635">
                    <a:moveTo>
                      <a:pt x="0" y="140818"/>
                    </a:moveTo>
                    <a:lnTo>
                      <a:pt x="95554" y="40234"/>
                    </a:lnTo>
                    <a:lnTo>
                      <a:pt x="201168" y="0"/>
                    </a:lnTo>
                    <a:lnTo>
                      <a:pt x="311810" y="45263"/>
                    </a:lnTo>
                    <a:lnTo>
                      <a:pt x="412394" y="140818"/>
                    </a:lnTo>
                    <a:lnTo>
                      <a:pt x="311810" y="236372"/>
                    </a:lnTo>
                    <a:lnTo>
                      <a:pt x="201168" y="281635"/>
                    </a:lnTo>
                    <a:lnTo>
                      <a:pt x="95554" y="241402"/>
                    </a:lnTo>
                    <a:lnTo>
                      <a:pt x="0" y="140818"/>
                    </a:lnTo>
                  </a:path>
                </a:pathLst>
              </a:custGeom>
              <a:noFill/>
              <a:ln w="12065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语义节点"/>
              <p:cNvSpPr/>
              <p:nvPr/>
            </p:nvSpPr>
            <p:spPr>
              <a:xfrm>
                <a:off x="5827928" y="3679088"/>
                <a:ext cx="130759" cy="130759"/>
              </a:xfrm>
              <a:prstGeom prst="ellipse">
                <a:avLst/>
              </a:prstGeom>
              <a:noFill/>
              <a:ln w="889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34" name="文本_预判需求"/>
            <p:cNvSpPr txBox="1"/>
            <p:nvPr/>
          </p:nvSpPr>
          <p:spPr>
            <a:xfrm>
              <a:off x="6309360" y="3520439"/>
              <a:ext cx="1837943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2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预判需求</a:t>
              </a:r>
              <a:endParaRPr lang="zh-CN" sz="1600"/>
            </a:p>
          </p:txBody>
        </p:sp>
        <p:sp>
          <p:nvSpPr>
            <p:cNvPr id="35" name="文本_先意识到需要"/>
            <p:cNvSpPr txBox="1"/>
            <p:nvPr/>
          </p:nvSpPr>
          <p:spPr>
            <a:xfrm>
              <a:off x="6309360" y="3995928"/>
              <a:ext cx="1847088" cy="3383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6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先意识到需要</a:t>
              </a:r>
              <a:endParaRPr lang="zh-CN" sz="1260"/>
            </a:p>
          </p:txBody>
        </p:sp>
      </p:grpSp>
      <p:grpSp>
        <p:nvGrpSpPr>
          <p:cNvPr id="45" name="ANIM:cognitive1"/>
          <p:cNvGrpSpPr/>
          <p:nvPr/>
        </p:nvGrpSpPr>
        <p:grpSpPr>
          <a:xfrm>
            <a:off x="8703259" y="3520439"/>
            <a:ext cx="2434133" cy="813817"/>
            <a:chOff x="8703259" y="3520439"/>
            <a:chExt cx="2434133" cy="813817"/>
          </a:xfrm>
        </p:grpSpPr>
        <p:grpSp>
          <p:nvGrpSpPr>
            <p:cNvPr id="42" name="图标_choice"/>
            <p:cNvGrpSpPr/>
            <p:nvPr/>
          </p:nvGrpSpPr>
          <p:grpSpPr>
            <a:xfrm>
              <a:off x="8703259" y="3583533"/>
              <a:ext cx="357073" cy="321869"/>
              <a:chOff x="8703259" y="3583533"/>
              <a:chExt cx="357073" cy="321869"/>
            </a:xfrm>
          </p:grpSpPr>
          <p:cxnSp>
            <p:nvCxnSpPr>
              <p:cNvPr id="37" name="图解线条"/>
              <p:cNvCxnSpPr/>
              <p:nvPr/>
            </p:nvCxnSpPr>
            <p:spPr>
              <a:xfrm>
                <a:off x="8703259" y="3744468"/>
                <a:ext cx="165963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图解线条"/>
              <p:cNvCxnSpPr/>
              <p:nvPr/>
            </p:nvCxnSpPr>
            <p:spPr>
              <a:xfrm flipV="1">
                <a:off x="8869222" y="3583533"/>
                <a:ext cx="0" cy="160935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图解线条"/>
              <p:cNvCxnSpPr/>
              <p:nvPr/>
            </p:nvCxnSpPr>
            <p:spPr>
              <a:xfrm>
                <a:off x="8869222" y="3744468"/>
                <a:ext cx="0" cy="160934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图解线条"/>
              <p:cNvCxnSpPr/>
              <p:nvPr/>
            </p:nvCxnSpPr>
            <p:spPr>
              <a:xfrm>
                <a:off x="8869222" y="3583533"/>
                <a:ext cx="191110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图解线条"/>
              <p:cNvCxnSpPr/>
              <p:nvPr/>
            </p:nvCxnSpPr>
            <p:spPr>
              <a:xfrm>
                <a:off x="8869222" y="3905402"/>
                <a:ext cx="191110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文本_识别选项"/>
            <p:cNvSpPr txBox="1"/>
            <p:nvPr/>
          </p:nvSpPr>
          <p:spPr>
            <a:xfrm>
              <a:off x="9290304" y="3520439"/>
              <a:ext cx="1837943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2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识别选项</a:t>
              </a:r>
              <a:endParaRPr lang="zh-CN" sz="1600"/>
            </a:p>
          </p:txBody>
        </p:sp>
        <p:sp>
          <p:nvSpPr>
            <p:cNvPr id="44" name="文本_寻找可行办法"/>
            <p:cNvSpPr txBox="1"/>
            <p:nvPr/>
          </p:nvSpPr>
          <p:spPr>
            <a:xfrm>
              <a:off x="9290304" y="3995928"/>
              <a:ext cx="1847088" cy="3383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6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寻找可行办法</a:t>
              </a:r>
              <a:endParaRPr lang="zh-CN" sz="1260"/>
            </a:p>
          </p:txBody>
        </p:sp>
      </p:grpSp>
      <p:grpSp>
        <p:nvGrpSpPr>
          <p:cNvPr id="51" name="ANIM:cognitive2"/>
          <p:cNvGrpSpPr/>
          <p:nvPr/>
        </p:nvGrpSpPr>
        <p:grpSpPr>
          <a:xfrm>
            <a:off x="8703259" y="4828032"/>
            <a:ext cx="2434133" cy="813816"/>
            <a:chOff x="8703259" y="4828032"/>
            <a:chExt cx="2434133" cy="813816"/>
          </a:xfrm>
        </p:grpSpPr>
        <p:grpSp>
          <p:nvGrpSpPr>
            <p:cNvPr id="48" name="图标_execute"/>
            <p:cNvGrpSpPr/>
            <p:nvPr/>
          </p:nvGrpSpPr>
          <p:grpSpPr>
            <a:xfrm>
              <a:off x="8703259" y="4901184"/>
              <a:ext cx="357073" cy="352044"/>
              <a:chOff x="8703259" y="4901184"/>
              <a:chExt cx="357073" cy="352044"/>
            </a:xfrm>
          </p:grpSpPr>
          <p:sp>
            <p:nvSpPr>
              <p:cNvPr id="46" name="原生矢量路径"/>
              <p:cNvSpPr/>
              <p:nvPr/>
            </p:nvSpPr>
            <p:spPr>
              <a:xfrm>
                <a:off x="8713317" y="4901184"/>
                <a:ext cx="336957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336957" h="251460">
                    <a:moveTo>
                      <a:pt x="0" y="125730"/>
                    </a:moveTo>
                    <a:lnTo>
                      <a:pt x="110643" y="251460"/>
                    </a:lnTo>
                    <a:lnTo>
                      <a:pt x="336957" y="0"/>
                    </a:lnTo>
                  </a:path>
                </a:pathLst>
              </a:custGeom>
              <a:noFill/>
              <a:ln w="1905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7" name="图解线条"/>
              <p:cNvCxnSpPr/>
              <p:nvPr/>
            </p:nvCxnSpPr>
            <p:spPr>
              <a:xfrm>
                <a:off x="8703259" y="5253228"/>
                <a:ext cx="357073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文本_作出决定"/>
            <p:cNvSpPr txBox="1"/>
            <p:nvPr/>
          </p:nvSpPr>
          <p:spPr>
            <a:xfrm>
              <a:off x="9290304" y="4828032"/>
              <a:ext cx="1837943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2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作出决定</a:t>
              </a:r>
              <a:endParaRPr lang="zh-CN" sz="1600"/>
            </a:p>
          </p:txBody>
        </p:sp>
        <p:sp>
          <p:nvSpPr>
            <p:cNvPr id="50" name="文本_选择怎么安排"/>
            <p:cNvSpPr txBox="1"/>
            <p:nvPr/>
          </p:nvSpPr>
          <p:spPr>
            <a:xfrm>
              <a:off x="9290304" y="5303520"/>
              <a:ext cx="1847088" cy="3383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6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选择怎么安排</a:t>
              </a:r>
              <a:endParaRPr lang="zh-CN" sz="1260"/>
            </a:p>
          </p:txBody>
        </p:sp>
      </p:grpSp>
      <p:grpSp>
        <p:nvGrpSpPr>
          <p:cNvPr id="58" name="ANIM:cognitive3"/>
          <p:cNvGrpSpPr/>
          <p:nvPr/>
        </p:nvGrpSpPr>
        <p:grpSpPr>
          <a:xfrm>
            <a:off x="5702198" y="4828032"/>
            <a:ext cx="2454250" cy="813816"/>
            <a:chOff x="5702198" y="4828032"/>
            <a:chExt cx="2454250" cy="813816"/>
          </a:xfrm>
        </p:grpSpPr>
        <p:grpSp>
          <p:nvGrpSpPr>
            <p:cNvPr id="55" name="图标_clock"/>
            <p:cNvGrpSpPr/>
            <p:nvPr/>
          </p:nvGrpSpPr>
          <p:grpSpPr>
            <a:xfrm>
              <a:off x="5702198" y="4860950"/>
              <a:ext cx="382219" cy="382219"/>
              <a:chOff x="5702198" y="4860950"/>
              <a:chExt cx="382219" cy="382219"/>
            </a:xfrm>
          </p:grpSpPr>
          <p:sp>
            <p:nvSpPr>
              <p:cNvPr id="52" name="语义节点"/>
              <p:cNvSpPr/>
              <p:nvPr/>
            </p:nvSpPr>
            <p:spPr>
              <a:xfrm>
                <a:off x="5702198" y="4860950"/>
                <a:ext cx="382219" cy="382219"/>
              </a:xfrm>
              <a:prstGeom prst="ellipse">
                <a:avLst/>
              </a:prstGeom>
              <a:noFill/>
              <a:ln w="889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3" name="图解线条"/>
              <p:cNvCxnSpPr/>
              <p:nvPr/>
            </p:nvCxnSpPr>
            <p:spPr>
              <a:xfrm>
                <a:off x="5893308" y="4931359"/>
                <a:ext cx="0" cy="12573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图解线条"/>
              <p:cNvCxnSpPr/>
              <p:nvPr/>
            </p:nvCxnSpPr>
            <p:spPr>
              <a:xfrm>
                <a:off x="5893308" y="5057089"/>
                <a:ext cx="95554" cy="55321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文本_监控结果"/>
            <p:cNvSpPr txBox="1"/>
            <p:nvPr/>
          </p:nvSpPr>
          <p:spPr>
            <a:xfrm>
              <a:off x="6309360" y="4828032"/>
              <a:ext cx="1837943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2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监控结果</a:t>
              </a:r>
              <a:endParaRPr lang="zh-CN" sz="1600"/>
            </a:p>
          </p:txBody>
        </p:sp>
        <p:sp>
          <p:nvSpPr>
            <p:cNvPr id="57" name="文本_跟踪是否完成"/>
            <p:cNvSpPr txBox="1"/>
            <p:nvPr/>
          </p:nvSpPr>
          <p:spPr>
            <a:xfrm>
              <a:off x="6309360" y="5303520"/>
              <a:ext cx="1847088" cy="3383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80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6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跟踪是否完成</a:t>
              </a:r>
              <a:endParaRPr lang="zh-CN" sz="126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2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4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"/>
          <p:cNvSpPr txBox="1"/>
          <p:nvPr/>
        </p:nvSpPr>
        <p:spPr>
          <a:xfrm>
            <a:off x="594360" y="370332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问题界定与方案主张</a:t>
            </a:r>
            <a:endParaRPr lang="zh-CN" sz="1070"/>
          </a:p>
        </p:txBody>
      </p:sp>
      <p:sp>
        <p:nvSpPr>
          <p:cNvPr id="3" name="!!chapterTitle0"/>
          <p:cNvSpPr txBox="1"/>
          <p:nvPr/>
        </p:nvSpPr>
        <p:spPr>
          <a:xfrm>
            <a:off x="7040880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问题界定</a:t>
            </a:r>
            <a:endParaRPr lang="zh-CN" sz="919"/>
          </a:p>
        </p:txBody>
      </p:sp>
      <p:cxnSp>
        <p:nvCxnSpPr>
          <p:cNvPr id="4" name="!!activeNavRule"/>
          <p:cNvCxnSpPr/>
          <p:nvPr/>
        </p:nvCxnSpPr>
        <p:spPr>
          <a:xfrm>
            <a:off x="7040880" y="701344"/>
            <a:ext cx="570585" cy="0"/>
          </a:xfrm>
          <a:prstGeom prst="line">
            <a:avLst/>
          </a:prstGeom>
          <a:ln w="10160">
            <a:solidFill>
              <a:srgbClr val="8C2D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!!chapterTitle1"/>
          <p:cNvSpPr txBox="1"/>
          <p:nvPr/>
        </p:nvSpPr>
        <p:spPr>
          <a:xfrm>
            <a:off x="8065008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产品演示</a:t>
            </a:r>
            <a:endParaRPr lang="zh-CN" sz="919"/>
          </a:p>
        </p:txBody>
      </p:sp>
      <p:sp>
        <p:nvSpPr>
          <p:cNvPr id="6" name="!!chapterTitle2"/>
          <p:cNvSpPr txBox="1"/>
          <p:nvPr/>
        </p:nvSpPr>
        <p:spPr>
          <a:xfrm>
            <a:off x="9089136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用户范围</a:t>
            </a:r>
            <a:endParaRPr lang="zh-CN" sz="919"/>
          </a:p>
        </p:txBody>
      </p:sp>
      <p:sp>
        <p:nvSpPr>
          <p:cNvPr id="7" name="!!chapterTitle3"/>
          <p:cNvSpPr txBox="1"/>
          <p:nvPr/>
        </p:nvSpPr>
        <p:spPr>
          <a:xfrm>
            <a:off x="10113264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验证计划</a:t>
            </a:r>
            <a:endParaRPr lang="zh-CN" sz="919"/>
          </a:p>
        </p:txBody>
      </p:sp>
      <p:sp>
        <p:nvSpPr>
          <p:cNvPr id="8" name="页码"/>
          <p:cNvSpPr txBox="1"/>
          <p:nvPr/>
        </p:nvSpPr>
        <p:spPr>
          <a:xfrm>
            <a:off x="11247120" y="374904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05</a:t>
            </a:r>
            <a:endParaRPr lang="zh-CN" sz="1070"/>
          </a:p>
        </p:txBody>
      </p:sp>
      <p:sp>
        <p:nvSpPr>
          <p:cNvPr id="9" name="主标题"/>
          <p:cNvSpPr txBox="1"/>
          <p:nvPr/>
        </p:nvSpPr>
        <p:spPr>
          <a:xfrm>
            <a:off x="576072" y="932688"/>
            <a:ext cx="10972800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1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先给事情命名，不给人打分。</a:t>
            </a:r>
            <a:endParaRPr lang="zh-CN" sz="3100"/>
          </a:p>
        </p:txBody>
      </p:sp>
      <p:cxnSp>
        <p:nvCxnSpPr>
          <p:cNvPr id="10" name="分隔细线"/>
          <p:cNvCxnSpPr/>
          <p:nvPr/>
        </p:nvCxnSpPr>
        <p:spPr>
          <a:xfrm>
            <a:off x="585216" y="6451092"/>
            <a:ext cx="1100937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_普通文本无链接"/>
          <p:cNvSpPr txBox="1"/>
          <p:nvPr/>
        </p:nvSpPr>
        <p:spPr>
          <a:xfrm>
            <a:off x="594360" y="6528816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46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五类标签是本项目交互设计，不是文献四环节的改名；认知劳动不等于情绪劳动，也可伴随身体动作。</a:t>
            </a:r>
            <a:endParaRPr lang="zh-CN" sz="910"/>
          </a:p>
        </p:txBody>
      </p:sp>
      <p:sp>
        <p:nvSpPr>
          <p:cNvPr id="12" name="文本_同一顿晚饭，可以包含不同类型的投入。"/>
          <p:cNvSpPr txBox="1"/>
          <p:nvPr/>
        </p:nvSpPr>
        <p:spPr>
          <a:xfrm>
            <a:off x="594360" y="1975104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同一顿晚饭，可以包含不同类型的投入。</a:t>
            </a:r>
            <a:endParaRPr lang="zh-CN" sz="1500"/>
          </a:p>
        </p:txBody>
      </p:sp>
      <p:grpSp>
        <p:nvGrpSpPr>
          <p:cNvPr id="19" name="ANIM:label0"/>
          <p:cNvGrpSpPr/>
          <p:nvPr/>
        </p:nvGrpSpPr>
        <p:grpSpPr>
          <a:xfrm>
            <a:off x="594360" y="2854756"/>
            <a:ext cx="1947672" cy="2531060"/>
            <a:chOff x="594360" y="2854756"/>
            <a:chExt cx="1947672" cy="2531060"/>
          </a:xfrm>
        </p:grpSpPr>
        <p:grpSp>
          <p:nvGrpSpPr>
            <p:cNvPr id="15" name="图标_execute"/>
            <p:cNvGrpSpPr/>
            <p:nvPr/>
          </p:nvGrpSpPr>
          <p:grpSpPr>
            <a:xfrm>
              <a:off x="1202984" y="2854756"/>
              <a:ext cx="590794" cy="582473"/>
              <a:chOff x="1202984" y="2854756"/>
              <a:chExt cx="590794" cy="582473"/>
            </a:xfrm>
          </p:grpSpPr>
          <p:sp>
            <p:nvSpPr>
              <p:cNvPr id="13" name="原生矢量路径"/>
              <p:cNvSpPr/>
              <p:nvPr/>
            </p:nvSpPr>
            <p:spPr>
              <a:xfrm>
                <a:off x="1219626" y="2854756"/>
                <a:ext cx="557510" cy="416052"/>
              </a:xfrm>
              <a:custGeom>
                <a:avLst/>
                <a:gdLst/>
                <a:ahLst/>
                <a:cxnLst/>
                <a:rect l="l" t="t" r="r" b="b"/>
                <a:pathLst>
                  <a:path w="557510" h="416052">
                    <a:moveTo>
                      <a:pt x="0" y="208026"/>
                    </a:moveTo>
                    <a:lnTo>
                      <a:pt x="183063" y="416052"/>
                    </a:lnTo>
                    <a:lnTo>
                      <a:pt x="557510" y="0"/>
                    </a:lnTo>
                  </a:path>
                </a:pathLst>
              </a:custGeom>
              <a:noFill/>
              <a:ln w="1905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4" name="图解线条"/>
              <p:cNvCxnSpPr/>
              <p:nvPr/>
            </p:nvCxnSpPr>
            <p:spPr>
              <a:xfrm>
                <a:off x="1202984" y="3437229"/>
                <a:ext cx="590794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文本_执行"/>
            <p:cNvSpPr txBox="1"/>
            <p:nvPr/>
          </p:nvSpPr>
          <p:spPr>
            <a:xfrm>
              <a:off x="594360" y="3831336"/>
              <a:ext cx="1947672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300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10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执行</a:t>
              </a:r>
              <a:endParaRPr lang="zh-CN" sz="2100"/>
            </a:p>
          </p:txBody>
        </p:sp>
        <p:cxnSp>
          <p:nvCxnSpPr>
            <p:cNvPr id="17" name="分隔细线"/>
            <p:cNvCxnSpPr/>
            <p:nvPr/>
          </p:nvCxnSpPr>
          <p:spPr>
            <a:xfrm>
              <a:off x="594360" y="4453128"/>
              <a:ext cx="1901952" cy="0"/>
            </a:xfrm>
            <a:prstGeom prst="line">
              <a:avLst/>
            </a:prstGeom>
            <a:ln w="6985">
              <a:solidFill>
                <a:srgbClr val="D4D2C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_买菜、动手做饭"/>
            <p:cNvSpPr txBox="1"/>
            <p:nvPr/>
          </p:nvSpPr>
          <p:spPr>
            <a:xfrm>
              <a:off x="594360" y="4700016"/>
              <a:ext cx="1947672" cy="6858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1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买菜、动手做饭</a:t>
              </a:r>
              <a:endParaRPr lang="zh-CN" sz="1410"/>
            </a:p>
          </p:txBody>
        </p:sp>
      </p:grpSp>
      <p:grpSp>
        <p:nvGrpSpPr>
          <p:cNvPr id="32" name="ANIM:label1"/>
          <p:cNvGrpSpPr/>
          <p:nvPr/>
        </p:nvGrpSpPr>
        <p:grpSpPr>
          <a:xfrm>
            <a:off x="2834640" y="2763225"/>
            <a:ext cx="1947672" cy="2622591"/>
            <a:chOff x="2834640" y="2763225"/>
            <a:chExt cx="1947672" cy="2622591"/>
          </a:xfrm>
        </p:grpSpPr>
        <p:grpSp>
          <p:nvGrpSpPr>
            <p:cNvPr id="28" name="图标_planning"/>
            <p:cNvGrpSpPr/>
            <p:nvPr/>
          </p:nvGrpSpPr>
          <p:grpSpPr>
            <a:xfrm>
              <a:off x="3426622" y="2763225"/>
              <a:ext cx="607436" cy="649040"/>
              <a:chOff x="3426622" y="2763225"/>
              <a:chExt cx="607436" cy="649040"/>
            </a:xfrm>
          </p:grpSpPr>
          <p:sp>
            <p:nvSpPr>
              <p:cNvPr id="20" name="直角形状"/>
              <p:cNvSpPr/>
              <p:nvPr/>
            </p:nvSpPr>
            <p:spPr>
              <a:xfrm>
                <a:off x="3426622" y="2838114"/>
                <a:ext cx="607435" cy="574151"/>
              </a:xfrm>
              <a:prstGeom prst="rect">
                <a:avLst/>
              </a:prstGeom>
              <a:noFill/>
              <a:ln w="1016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1" name="图解线条"/>
              <p:cNvCxnSpPr/>
              <p:nvPr/>
            </p:nvCxnSpPr>
            <p:spPr>
              <a:xfrm>
                <a:off x="3426622" y="3012856"/>
                <a:ext cx="607436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图解线条"/>
              <p:cNvCxnSpPr/>
              <p:nvPr/>
            </p:nvCxnSpPr>
            <p:spPr>
              <a:xfrm>
                <a:off x="3593043" y="2763225"/>
                <a:ext cx="0" cy="166421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图解线条"/>
              <p:cNvCxnSpPr/>
              <p:nvPr/>
            </p:nvCxnSpPr>
            <p:spPr>
              <a:xfrm>
                <a:off x="3867637" y="2763225"/>
                <a:ext cx="0" cy="166421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语义节点"/>
              <p:cNvSpPr/>
              <p:nvPr/>
            </p:nvSpPr>
            <p:spPr>
              <a:xfrm>
                <a:off x="3593043" y="3129351"/>
                <a:ext cx="49926" cy="49926"/>
              </a:xfrm>
              <a:prstGeom prst="ellipse">
                <a:avLst/>
              </a:prstGeom>
              <a:solidFill>
                <a:srgbClr val="8C2D1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语义节点"/>
              <p:cNvSpPr/>
              <p:nvPr/>
            </p:nvSpPr>
            <p:spPr>
              <a:xfrm>
                <a:off x="3817711" y="3129351"/>
                <a:ext cx="49926" cy="49926"/>
              </a:xfrm>
              <a:prstGeom prst="ellipse">
                <a:avLst/>
              </a:prstGeom>
              <a:solidFill>
                <a:srgbClr val="8C2D1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语义节点"/>
              <p:cNvSpPr/>
              <p:nvPr/>
            </p:nvSpPr>
            <p:spPr>
              <a:xfrm>
                <a:off x="3593043" y="3287450"/>
                <a:ext cx="49926" cy="49926"/>
              </a:xfrm>
              <a:prstGeom prst="ellipse">
                <a:avLst/>
              </a:prstGeom>
              <a:solidFill>
                <a:srgbClr val="8C2D1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语义节点"/>
              <p:cNvSpPr/>
              <p:nvPr/>
            </p:nvSpPr>
            <p:spPr>
              <a:xfrm>
                <a:off x="3817711" y="3287450"/>
                <a:ext cx="49926" cy="49926"/>
              </a:xfrm>
              <a:prstGeom prst="ellipse">
                <a:avLst/>
              </a:prstGeom>
              <a:solidFill>
                <a:srgbClr val="8C2D1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9" name="文本_规划"/>
            <p:cNvSpPr txBox="1"/>
            <p:nvPr/>
          </p:nvSpPr>
          <p:spPr>
            <a:xfrm>
              <a:off x="2834640" y="3831336"/>
              <a:ext cx="1947672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300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10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规划</a:t>
              </a:r>
              <a:endParaRPr lang="zh-CN" sz="2100"/>
            </a:p>
          </p:txBody>
        </p:sp>
        <p:cxnSp>
          <p:nvCxnSpPr>
            <p:cNvPr id="30" name="分隔细线"/>
            <p:cNvCxnSpPr/>
            <p:nvPr/>
          </p:nvCxnSpPr>
          <p:spPr>
            <a:xfrm>
              <a:off x="2834640" y="4453128"/>
              <a:ext cx="1901952" cy="0"/>
            </a:xfrm>
            <a:prstGeom prst="line">
              <a:avLst/>
            </a:prstGeom>
            <a:ln w="6985">
              <a:solidFill>
                <a:srgbClr val="D4D2C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_想好菜单"/>
            <p:cNvSpPr txBox="1"/>
            <p:nvPr/>
          </p:nvSpPr>
          <p:spPr>
            <a:xfrm>
              <a:off x="2834640" y="4700016"/>
              <a:ext cx="1947672" cy="6858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1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想好菜单</a:t>
              </a:r>
              <a:endParaRPr lang="zh-CN" sz="1410"/>
            </a:p>
          </p:txBody>
        </p:sp>
      </p:grpSp>
      <p:grpSp>
        <p:nvGrpSpPr>
          <p:cNvPr id="41" name="ANIM:label2"/>
          <p:cNvGrpSpPr/>
          <p:nvPr/>
        </p:nvGrpSpPr>
        <p:grpSpPr>
          <a:xfrm>
            <a:off x="5074920" y="2754904"/>
            <a:ext cx="1947672" cy="2630912"/>
            <a:chOff x="5074920" y="2754904"/>
            <a:chExt cx="1947672" cy="2630912"/>
          </a:xfrm>
        </p:grpSpPr>
        <p:grpSp>
          <p:nvGrpSpPr>
            <p:cNvPr id="37" name="图标_prepare"/>
            <p:cNvGrpSpPr/>
            <p:nvPr/>
          </p:nvGrpSpPr>
          <p:grpSpPr>
            <a:xfrm>
              <a:off x="5725149" y="2754904"/>
              <a:ext cx="482621" cy="698967"/>
              <a:chOff x="5725149" y="2754904"/>
              <a:chExt cx="482621" cy="698967"/>
            </a:xfrm>
          </p:grpSpPr>
          <p:sp>
            <p:nvSpPr>
              <p:cNvPr id="33" name="直角形状"/>
              <p:cNvSpPr/>
              <p:nvPr/>
            </p:nvSpPr>
            <p:spPr>
              <a:xfrm>
                <a:off x="5725149" y="2754904"/>
                <a:ext cx="482620" cy="698967"/>
              </a:xfrm>
              <a:prstGeom prst="rect">
                <a:avLst/>
              </a:prstGeom>
              <a:noFill/>
              <a:ln w="1016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4" name="图解线条"/>
              <p:cNvCxnSpPr/>
              <p:nvPr/>
            </p:nvCxnSpPr>
            <p:spPr>
              <a:xfrm>
                <a:off x="5725149" y="3046140"/>
                <a:ext cx="482621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图解线条"/>
              <p:cNvCxnSpPr/>
              <p:nvPr/>
            </p:nvCxnSpPr>
            <p:spPr>
              <a:xfrm>
                <a:off x="5816681" y="2896362"/>
                <a:ext cx="0" cy="8321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图解线条"/>
              <p:cNvCxnSpPr/>
              <p:nvPr/>
            </p:nvCxnSpPr>
            <p:spPr>
              <a:xfrm>
                <a:off x="5816681" y="3145993"/>
                <a:ext cx="0" cy="99852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_准备"/>
            <p:cNvSpPr txBox="1"/>
            <p:nvPr/>
          </p:nvSpPr>
          <p:spPr>
            <a:xfrm>
              <a:off x="5074920" y="3831336"/>
              <a:ext cx="1947672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300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10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准备</a:t>
              </a:r>
              <a:endParaRPr lang="zh-CN" sz="2100"/>
            </a:p>
          </p:txBody>
        </p:sp>
        <p:cxnSp>
          <p:nvCxnSpPr>
            <p:cNvPr id="39" name="分隔细线"/>
            <p:cNvCxnSpPr/>
            <p:nvPr/>
          </p:nvCxnSpPr>
          <p:spPr>
            <a:xfrm>
              <a:off x="5074920" y="4453128"/>
              <a:ext cx="1901952" cy="0"/>
            </a:xfrm>
            <a:prstGeom prst="line">
              <a:avLst/>
            </a:prstGeom>
            <a:ln w="6985">
              <a:solidFill>
                <a:srgbClr val="D4D2C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_核对食材存量"/>
            <p:cNvSpPr txBox="1"/>
            <p:nvPr/>
          </p:nvSpPr>
          <p:spPr>
            <a:xfrm>
              <a:off x="5074920" y="4700016"/>
              <a:ext cx="1947672" cy="6858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1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核对食材存量</a:t>
              </a:r>
              <a:endParaRPr lang="zh-CN" sz="1410"/>
            </a:p>
          </p:txBody>
        </p:sp>
      </p:grpSp>
      <p:grpSp>
        <p:nvGrpSpPr>
          <p:cNvPr id="51" name="ANIM:label3"/>
          <p:cNvGrpSpPr/>
          <p:nvPr/>
        </p:nvGrpSpPr>
        <p:grpSpPr>
          <a:xfrm>
            <a:off x="7315200" y="2796509"/>
            <a:ext cx="1947672" cy="2589307"/>
            <a:chOff x="7315200" y="2796509"/>
            <a:chExt cx="1947672" cy="2589307"/>
          </a:xfrm>
        </p:grpSpPr>
        <p:grpSp>
          <p:nvGrpSpPr>
            <p:cNvPr id="47" name="图标_coordinate"/>
            <p:cNvGrpSpPr/>
            <p:nvPr/>
          </p:nvGrpSpPr>
          <p:grpSpPr>
            <a:xfrm>
              <a:off x="7873898" y="2796509"/>
              <a:ext cx="665683" cy="582473"/>
              <a:chOff x="7873898" y="2796509"/>
              <a:chExt cx="665683" cy="582473"/>
            </a:xfrm>
          </p:grpSpPr>
          <p:sp>
            <p:nvSpPr>
              <p:cNvPr id="42" name="语义节点"/>
              <p:cNvSpPr/>
              <p:nvPr/>
            </p:nvSpPr>
            <p:spPr>
              <a:xfrm>
                <a:off x="7873898" y="2796509"/>
                <a:ext cx="232989" cy="232989"/>
              </a:xfrm>
              <a:prstGeom prst="ellipse">
                <a:avLst/>
              </a:prstGeom>
              <a:noFill/>
              <a:ln w="889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语义节点"/>
              <p:cNvSpPr/>
              <p:nvPr/>
            </p:nvSpPr>
            <p:spPr>
              <a:xfrm>
                <a:off x="8306592" y="2796509"/>
                <a:ext cx="232989" cy="232989"/>
              </a:xfrm>
              <a:prstGeom prst="ellipse">
                <a:avLst/>
              </a:prstGeom>
              <a:noFill/>
              <a:ln w="889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4" name="图解线条"/>
              <p:cNvCxnSpPr/>
              <p:nvPr/>
            </p:nvCxnSpPr>
            <p:spPr>
              <a:xfrm>
                <a:off x="7990392" y="3054461"/>
                <a:ext cx="0" cy="324521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图解线条"/>
              <p:cNvCxnSpPr/>
              <p:nvPr/>
            </p:nvCxnSpPr>
            <p:spPr>
              <a:xfrm>
                <a:off x="8423087" y="3054461"/>
                <a:ext cx="0" cy="324521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图解线条"/>
              <p:cNvCxnSpPr/>
              <p:nvPr/>
            </p:nvCxnSpPr>
            <p:spPr>
              <a:xfrm>
                <a:off x="7990392" y="3220882"/>
                <a:ext cx="432695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文本_协调"/>
            <p:cNvSpPr txBox="1"/>
            <p:nvPr/>
          </p:nvSpPr>
          <p:spPr>
            <a:xfrm>
              <a:off x="7315200" y="3831336"/>
              <a:ext cx="1947672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300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10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协调</a:t>
              </a:r>
              <a:endParaRPr lang="zh-CN" sz="2100"/>
            </a:p>
          </p:txBody>
        </p:sp>
        <p:cxnSp>
          <p:nvCxnSpPr>
            <p:cNvPr id="49" name="分隔细线"/>
            <p:cNvCxnSpPr/>
            <p:nvPr/>
          </p:nvCxnSpPr>
          <p:spPr>
            <a:xfrm>
              <a:off x="7315200" y="4453128"/>
              <a:ext cx="1901952" cy="0"/>
            </a:xfrm>
            <a:prstGeom prst="line">
              <a:avLst/>
            </a:prstGeom>
            <a:ln w="6985">
              <a:solidFill>
                <a:srgbClr val="D4D2C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本_询问大家口味"/>
            <p:cNvSpPr txBox="1"/>
            <p:nvPr/>
          </p:nvSpPr>
          <p:spPr>
            <a:xfrm>
              <a:off x="7315200" y="4700016"/>
              <a:ext cx="1947672" cy="6858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1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询问大家口味</a:t>
              </a:r>
              <a:endParaRPr lang="zh-CN" sz="1410"/>
            </a:p>
          </p:txBody>
        </p:sp>
      </p:grpSp>
      <p:grpSp>
        <p:nvGrpSpPr>
          <p:cNvPr id="62" name="ANIM:label4"/>
          <p:cNvGrpSpPr/>
          <p:nvPr/>
        </p:nvGrpSpPr>
        <p:grpSpPr>
          <a:xfrm>
            <a:off x="9555480" y="2763225"/>
            <a:ext cx="1947672" cy="2622591"/>
            <a:chOff x="9555480" y="2763225"/>
            <a:chExt cx="1947672" cy="2622591"/>
          </a:xfrm>
        </p:grpSpPr>
        <p:grpSp>
          <p:nvGrpSpPr>
            <p:cNvPr id="58" name="图标_cleanup"/>
            <p:cNvGrpSpPr/>
            <p:nvPr/>
          </p:nvGrpSpPr>
          <p:grpSpPr>
            <a:xfrm>
              <a:off x="10155783" y="2763225"/>
              <a:ext cx="649041" cy="707288"/>
              <a:chOff x="10155783" y="2763225"/>
              <a:chExt cx="649041" cy="707288"/>
            </a:xfrm>
          </p:grpSpPr>
          <p:cxnSp>
            <p:nvCxnSpPr>
              <p:cNvPr id="52" name="图解线条"/>
              <p:cNvCxnSpPr/>
              <p:nvPr/>
            </p:nvCxnSpPr>
            <p:spPr>
              <a:xfrm>
                <a:off x="10155783" y="3370661"/>
                <a:ext cx="590794" cy="0"/>
              </a:xfrm>
              <a:prstGeom prst="line">
                <a:avLst/>
              </a:prstGeom>
              <a:ln w="12065">
                <a:solidFill>
                  <a:srgbClr val="6E6D6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图解线条"/>
              <p:cNvCxnSpPr/>
              <p:nvPr/>
            </p:nvCxnSpPr>
            <p:spPr>
              <a:xfrm flipV="1">
                <a:off x="10222351" y="2888040"/>
                <a:ext cx="282916" cy="407731"/>
              </a:xfrm>
              <a:prstGeom prst="line">
                <a:avLst/>
              </a:prstGeom>
              <a:ln w="12065">
                <a:solidFill>
                  <a:srgbClr val="6E6D6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图解线条"/>
              <p:cNvCxnSpPr/>
              <p:nvPr/>
            </p:nvCxnSpPr>
            <p:spPr>
              <a:xfrm>
                <a:off x="10405414" y="2871398"/>
                <a:ext cx="199705" cy="133137"/>
              </a:xfrm>
              <a:prstGeom prst="line">
                <a:avLst/>
              </a:prstGeom>
              <a:ln w="12065">
                <a:solidFill>
                  <a:srgbClr val="6E6D6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图解线条"/>
              <p:cNvCxnSpPr/>
              <p:nvPr/>
            </p:nvCxnSpPr>
            <p:spPr>
              <a:xfrm>
                <a:off x="10155783" y="3337377"/>
                <a:ext cx="174742" cy="133136"/>
              </a:xfrm>
              <a:prstGeom prst="line">
                <a:avLst/>
              </a:prstGeom>
              <a:ln w="12065">
                <a:solidFill>
                  <a:srgbClr val="6E6D6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图解线条"/>
              <p:cNvCxnSpPr/>
              <p:nvPr/>
            </p:nvCxnSpPr>
            <p:spPr>
              <a:xfrm>
                <a:off x="10713293" y="2763225"/>
                <a:ext cx="0" cy="183063"/>
              </a:xfrm>
              <a:prstGeom prst="line">
                <a:avLst/>
              </a:prstGeom>
              <a:ln w="12065">
                <a:solidFill>
                  <a:srgbClr val="6E6D6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图解线条"/>
              <p:cNvCxnSpPr/>
              <p:nvPr/>
            </p:nvCxnSpPr>
            <p:spPr>
              <a:xfrm>
                <a:off x="10621761" y="2854756"/>
                <a:ext cx="183063" cy="0"/>
              </a:xfrm>
              <a:prstGeom prst="line">
                <a:avLst/>
              </a:prstGeom>
              <a:ln w="12065">
                <a:solidFill>
                  <a:srgbClr val="6E6D6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文本_收尾"/>
            <p:cNvSpPr txBox="1"/>
            <p:nvPr/>
          </p:nvSpPr>
          <p:spPr>
            <a:xfrm>
              <a:off x="9555480" y="3831336"/>
              <a:ext cx="1947672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300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10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收尾</a:t>
              </a:r>
              <a:endParaRPr lang="zh-CN" sz="2100"/>
            </a:p>
          </p:txBody>
        </p:sp>
        <p:cxnSp>
          <p:nvCxnSpPr>
            <p:cNvPr id="60" name="分隔细线"/>
            <p:cNvCxnSpPr/>
            <p:nvPr/>
          </p:nvCxnSpPr>
          <p:spPr>
            <a:xfrm>
              <a:off x="9555480" y="4453128"/>
              <a:ext cx="1901952" cy="0"/>
            </a:xfrm>
            <a:prstGeom prst="line">
              <a:avLst/>
            </a:prstGeom>
            <a:ln w="6985">
              <a:solidFill>
                <a:srgbClr val="D4D2C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本_原话未提到，不补"/>
            <p:cNvSpPr txBox="1"/>
            <p:nvPr/>
          </p:nvSpPr>
          <p:spPr>
            <a:xfrm>
              <a:off x="9555480" y="4700016"/>
              <a:ext cx="1947672" cy="6858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1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原话未提到，不补</a:t>
              </a:r>
              <a:endParaRPr lang="zh-CN" sz="1410"/>
            </a:p>
          </p:txBody>
        </p:sp>
      </p:grpSp>
      <p:sp>
        <p:nvSpPr>
          <p:cNvPr id="63" name="主张纸页"/>
          <p:cNvSpPr/>
          <p:nvPr/>
        </p:nvSpPr>
        <p:spPr>
          <a:xfrm>
            <a:off x="594360" y="5577840"/>
            <a:ext cx="11000232" cy="649224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4" name="文本_把前期安排变成能核对、能讨论的具体事项，而不是判谁更辛苦"/>
          <p:cNvSpPr txBox="1"/>
          <p:nvPr/>
        </p:nvSpPr>
        <p:spPr>
          <a:xfrm>
            <a:off x="859536" y="5760720"/>
            <a:ext cx="1046073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1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把前期安排变成能核对、能讨论的具体事项，而不是判谁更辛苦。</a:t>
            </a:r>
            <a:endParaRPr lang="zh-CN" sz="161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2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_成员B  ／  产品示例与技术边界"/>
          <p:cNvSpPr txBox="1"/>
          <p:nvPr/>
        </p:nvSpPr>
        <p:spPr>
          <a:xfrm>
            <a:off x="594360" y="370332"/>
            <a:ext cx="822960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成员B  ／  产品示例与技术边界</a:t>
            </a:r>
            <a:endParaRPr lang="zh-CN" sz="1070"/>
          </a:p>
        </p:txBody>
      </p:sp>
      <p:sp>
        <p:nvSpPr>
          <p:cNvPr id="3" name="文本_06"/>
          <p:cNvSpPr txBox="1"/>
          <p:nvPr/>
        </p:nvSpPr>
        <p:spPr>
          <a:xfrm>
            <a:off x="11247120" y="374904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1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06</a:t>
            </a:r>
            <a:endParaRPr lang="zh-CN" sz="1070"/>
          </a:p>
        </p:txBody>
      </p:sp>
      <p:sp>
        <p:nvSpPr>
          <p:cNvPr id="4" name="!!chapterNum1"/>
          <p:cNvSpPr txBox="1"/>
          <p:nvPr/>
        </p:nvSpPr>
        <p:spPr>
          <a:xfrm>
            <a:off x="9043416" y="1197864"/>
            <a:ext cx="2505456" cy="19751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8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800" b="0">
                <a:solidFill>
                  <a:srgbClr val="8C2D19"/>
                </a:solidFill>
                <a:latin typeface="Source Han Serif SC SemiBold"/>
                <a:ea typeface="Source Han Serif SC SemiBold"/>
                <a:cs typeface="Source Han Serif SC SemiBold"/>
              </a:rPr>
              <a:t>02</a:t>
            </a:r>
            <a:endParaRPr lang="zh-CN" sz="10800"/>
          </a:p>
        </p:txBody>
      </p:sp>
      <p:cxnSp>
        <p:nvCxnSpPr>
          <p:cNvPr id="5" name="分隔细线"/>
          <p:cNvCxnSpPr/>
          <p:nvPr/>
        </p:nvCxnSpPr>
        <p:spPr>
          <a:xfrm>
            <a:off x="594360" y="1344168"/>
            <a:ext cx="7205471" cy="0"/>
          </a:xfrm>
          <a:prstGeom prst="line">
            <a:avLst/>
          </a:prstGeom>
          <a:ln w="7620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!!chapterTitle1"/>
          <p:cNvSpPr txBox="1"/>
          <p:nvPr/>
        </p:nvSpPr>
        <p:spPr>
          <a:xfrm>
            <a:off x="576072" y="1856231"/>
            <a:ext cx="7434072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5375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3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产品演示</a:t>
            </a:r>
            <a:endParaRPr lang="zh-CN" sz="4300"/>
          </a:p>
        </p:txBody>
      </p:sp>
      <p:sp>
        <p:nvSpPr>
          <p:cNvPr id="7" name="文本_从一句原话，_走到下一步共同约定。"/>
          <p:cNvSpPr txBox="1"/>
          <p:nvPr/>
        </p:nvSpPr>
        <p:spPr>
          <a:xfrm>
            <a:off x="594360" y="3337560"/>
            <a:ext cx="7498079" cy="950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33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2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从一句原话，</a:t>
            </a:r>
            <a:endParaRPr lang="zh-CN" sz="2320"/>
          </a:p>
          <a:p>
            <a:pPr algn="l">
              <a:lnSpc>
                <a:spcPts val="3433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2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走到下一步共同约定。</a:t>
            </a:r>
            <a:endParaRPr lang="zh-CN" sz="2320"/>
          </a:p>
        </p:txBody>
      </p:sp>
      <p:sp>
        <p:nvSpPr>
          <p:cNvPr id="8" name="!!chapterTitle0"/>
          <p:cNvSpPr txBox="1"/>
          <p:nvPr/>
        </p:nvSpPr>
        <p:spPr>
          <a:xfrm>
            <a:off x="9034272" y="4791456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8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8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问题界定</a:t>
            </a:r>
            <a:endParaRPr lang="zh-CN" sz="1280"/>
          </a:p>
        </p:txBody>
      </p:sp>
      <p:sp>
        <p:nvSpPr>
          <p:cNvPr id="9" name="!!chapterTitle2"/>
          <p:cNvSpPr txBox="1"/>
          <p:nvPr/>
        </p:nvSpPr>
        <p:spPr>
          <a:xfrm>
            <a:off x="9034272" y="523036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8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8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用户范围</a:t>
            </a:r>
            <a:endParaRPr lang="zh-CN" sz="1280"/>
          </a:p>
        </p:txBody>
      </p:sp>
      <p:sp>
        <p:nvSpPr>
          <p:cNvPr id="10" name="!!chapterTitle3"/>
          <p:cNvSpPr txBox="1"/>
          <p:nvPr/>
        </p:nvSpPr>
        <p:spPr>
          <a:xfrm>
            <a:off x="9034272" y="566928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8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8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验证计划</a:t>
            </a:r>
            <a:endParaRPr lang="zh-CN" sz="1280"/>
          </a:p>
        </p:txBody>
      </p:sp>
      <p:sp>
        <p:nvSpPr>
          <p:cNvPr id="11" name="文本_产品示例与技术边界"/>
          <p:cNvSpPr txBox="1"/>
          <p:nvPr/>
        </p:nvSpPr>
        <p:spPr>
          <a:xfrm>
            <a:off x="594360" y="5897880"/>
            <a:ext cx="7498079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0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3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产品示例与技术边界</a:t>
            </a:r>
            <a:endParaRPr lang="zh-CN" sz="1330"/>
          </a:p>
        </p:txBody>
      </p:sp>
      <p:cxnSp>
        <p:nvCxnSpPr>
          <p:cNvPr id="12" name="分隔细线"/>
          <p:cNvCxnSpPr/>
          <p:nvPr/>
        </p:nvCxnSpPr>
        <p:spPr>
          <a:xfrm>
            <a:off x="585216" y="6451092"/>
            <a:ext cx="1100937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1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"/>
          <p:cNvSpPr txBox="1"/>
          <p:nvPr/>
        </p:nvSpPr>
        <p:spPr>
          <a:xfrm>
            <a:off x="594360" y="370332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产品演示  ／  S01 原话录入 · 截图预留</a:t>
            </a:r>
            <a:endParaRPr lang="zh-CN" sz="1070"/>
          </a:p>
        </p:txBody>
      </p:sp>
      <p:sp>
        <p:nvSpPr>
          <p:cNvPr id="3" name="!!chapterTitle0"/>
          <p:cNvSpPr txBox="1"/>
          <p:nvPr/>
        </p:nvSpPr>
        <p:spPr>
          <a:xfrm>
            <a:off x="7040880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问题界定</a:t>
            </a:r>
            <a:endParaRPr lang="zh-CN" sz="919"/>
          </a:p>
        </p:txBody>
      </p:sp>
      <p:sp>
        <p:nvSpPr>
          <p:cNvPr id="4" name="!!chapterTitle1"/>
          <p:cNvSpPr txBox="1"/>
          <p:nvPr/>
        </p:nvSpPr>
        <p:spPr>
          <a:xfrm>
            <a:off x="8065008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产品演示</a:t>
            </a:r>
            <a:endParaRPr lang="zh-CN" sz="919"/>
          </a:p>
        </p:txBody>
      </p:sp>
      <p:cxnSp>
        <p:nvCxnSpPr>
          <p:cNvPr id="5" name="!!activeNavRule"/>
          <p:cNvCxnSpPr/>
          <p:nvPr/>
        </p:nvCxnSpPr>
        <p:spPr>
          <a:xfrm>
            <a:off x="8065008" y="701344"/>
            <a:ext cx="570585" cy="0"/>
          </a:xfrm>
          <a:prstGeom prst="line">
            <a:avLst/>
          </a:prstGeom>
          <a:ln w="10160">
            <a:solidFill>
              <a:srgbClr val="8C2D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!!chapterTitle2"/>
          <p:cNvSpPr txBox="1"/>
          <p:nvPr/>
        </p:nvSpPr>
        <p:spPr>
          <a:xfrm>
            <a:off x="9089136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用户范围</a:t>
            </a:r>
            <a:endParaRPr lang="zh-CN" sz="919"/>
          </a:p>
        </p:txBody>
      </p:sp>
      <p:sp>
        <p:nvSpPr>
          <p:cNvPr id="7" name="!!chapterTitle3"/>
          <p:cNvSpPr txBox="1"/>
          <p:nvPr/>
        </p:nvSpPr>
        <p:spPr>
          <a:xfrm>
            <a:off x="10113264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验证计划</a:t>
            </a:r>
            <a:endParaRPr lang="zh-CN" sz="919"/>
          </a:p>
        </p:txBody>
      </p:sp>
      <p:sp>
        <p:nvSpPr>
          <p:cNvPr id="8" name="页码"/>
          <p:cNvSpPr txBox="1"/>
          <p:nvPr/>
        </p:nvSpPr>
        <p:spPr>
          <a:xfrm>
            <a:off x="11247120" y="374904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07</a:t>
            </a:r>
            <a:endParaRPr lang="zh-CN" sz="1070"/>
          </a:p>
        </p:txBody>
      </p:sp>
      <p:sp>
        <p:nvSpPr>
          <p:cNvPr id="9" name="主标题"/>
          <p:cNvSpPr txBox="1"/>
          <p:nvPr/>
        </p:nvSpPr>
        <p:spPr>
          <a:xfrm>
            <a:off x="576072" y="932688"/>
            <a:ext cx="10972800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1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先照原话记下来，不要求先理成清单。</a:t>
            </a:r>
            <a:endParaRPr lang="zh-CN" sz="3100"/>
          </a:p>
        </p:txBody>
      </p:sp>
      <p:cxnSp>
        <p:nvCxnSpPr>
          <p:cNvPr id="10" name="分隔细线"/>
          <p:cNvCxnSpPr/>
          <p:nvPr/>
        </p:nvCxnSpPr>
        <p:spPr>
          <a:xfrm>
            <a:off x="585216" y="6451092"/>
            <a:ext cx="1100937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!!phonePaper"/>
          <p:cNvSpPr/>
          <p:nvPr/>
        </p:nvSpPr>
        <p:spPr>
          <a:xfrm>
            <a:off x="6953417" y="1755648"/>
            <a:ext cx="2157984" cy="4416552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82" name="图片占位符 81">
            <a:extLst>
              <a:ext uri="{FF2B5EF4-FFF2-40B4-BE49-F238E27FC236}">
                <a16:creationId xmlns:a16="http://schemas.microsoft.com/office/drawing/2014/main" id="{9AAB0A95-2CC0-B4F0-DBDB-6E7605818F1D}"/>
              </a:ext>
            </a:extLst>
          </p:cNvPr>
          <p:cNvPicPr>
            <a:picLocks noGrp="1" noChangeAspect="1"/>
          </p:cNvPicPr>
          <p:nvPr>
            <p:ph type="pic" idx="50"/>
          </p:nvPr>
        </p:nvPicPr>
        <p:blipFill>
          <a:blip r:embed="rId2"/>
          <a:srcRect t="504" b="504"/>
          <a:stretch>
            <a:fillRect/>
          </a:stretch>
        </p:blipFill>
        <p:spPr>
          <a:xfrm>
            <a:off x="7062788" y="1865313"/>
            <a:ext cx="1938337" cy="4197350"/>
          </a:xfrm>
          <a:prstGeom prst="rect">
            <a:avLst/>
          </a:prstGeom>
          <a:solidFill>
            <a:srgbClr val="F0EEE8"/>
          </a:solidFill>
          <a:ln w="7620" cap="flat" cmpd="sng" algn="ctr">
            <a:solidFill>
              <a:srgbClr val="E5E2D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pic>
      <p:sp>
        <p:nvSpPr>
          <p:cNvPr id="19" name="!!phoneCaption"/>
          <p:cNvSpPr txBox="1"/>
          <p:nvPr/>
        </p:nvSpPr>
        <p:spPr>
          <a:xfrm>
            <a:off x="7044857" y="1554480"/>
            <a:ext cx="1975104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20" b="0" dirty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S01  ／  原话录入</a:t>
            </a:r>
            <a:endParaRPr lang="zh-CN" sz="1120" dirty="0"/>
          </a:p>
        </p:txBody>
      </p:sp>
      <p:sp>
        <p:nvSpPr>
          <p:cNvPr id="20" name="!!stageBar0"/>
          <p:cNvSpPr/>
          <p:nvPr/>
        </p:nvSpPr>
        <p:spPr>
          <a:xfrm>
            <a:off x="594360" y="6190488"/>
            <a:ext cx="566928" cy="32004"/>
          </a:xfrm>
          <a:prstGeom prst="rect">
            <a:avLst/>
          </a:prstGeom>
          <a:solidFill>
            <a:srgbClr val="8C2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stageName0"/>
          <p:cNvSpPr txBox="1"/>
          <p:nvPr/>
        </p:nvSpPr>
        <p:spPr>
          <a:xfrm>
            <a:off x="5943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8C2D19"/>
                </a:solidFill>
                <a:latin typeface="Noto Sans SC"/>
                <a:ea typeface="Noto Sans SC"/>
                <a:cs typeface="Noto Sans SC"/>
              </a:rPr>
              <a:t>原话</a:t>
            </a:r>
            <a:endParaRPr lang="zh-CN" sz="840"/>
          </a:p>
        </p:txBody>
      </p:sp>
      <p:sp>
        <p:nvSpPr>
          <p:cNvPr id="22" name="!!stageBar1"/>
          <p:cNvSpPr/>
          <p:nvPr/>
        </p:nvSpPr>
        <p:spPr>
          <a:xfrm>
            <a:off x="15087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stageName1"/>
          <p:cNvSpPr txBox="1"/>
          <p:nvPr/>
        </p:nvSpPr>
        <p:spPr>
          <a:xfrm>
            <a:off x="15087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拆解</a:t>
            </a:r>
            <a:endParaRPr lang="zh-CN" sz="840"/>
          </a:p>
        </p:txBody>
      </p:sp>
      <p:sp>
        <p:nvSpPr>
          <p:cNvPr id="24" name="!!stageBar2"/>
          <p:cNvSpPr/>
          <p:nvPr/>
        </p:nvSpPr>
        <p:spPr>
          <a:xfrm>
            <a:off x="24231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stageName2"/>
          <p:cNvSpPr txBox="1"/>
          <p:nvPr/>
        </p:nvSpPr>
        <p:spPr>
          <a:xfrm>
            <a:off x="24231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私密</a:t>
            </a:r>
            <a:endParaRPr lang="zh-CN" sz="840"/>
          </a:p>
        </p:txBody>
      </p:sp>
      <p:sp>
        <p:nvSpPr>
          <p:cNvPr id="26" name="!!stageBar3"/>
          <p:cNvSpPr/>
          <p:nvPr/>
        </p:nvSpPr>
        <p:spPr>
          <a:xfrm>
            <a:off x="33375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stageName3"/>
          <p:cNvSpPr txBox="1"/>
          <p:nvPr/>
        </p:nvSpPr>
        <p:spPr>
          <a:xfrm>
            <a:off x="33375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核对</a:t>
            </a:r>
            <a:endParaRPr lang="zh-CN" sz="840"/>
          </a:p>
        </p:txBody>
      </p:sp>
      <p:sp>
        <p:nvSpPr>
          <p:cNvPr id="28" name="!!stageBar4"/>
          <p:cNvSpPr/>
          <p:nvPr/>
        </p:nvSpPr>
        <p:spPr>
          <a:xfrm>
            <a:off x="42519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stageName4"/>
          <p:cNvSpPr txBox="1"/>
          <p:nvPr/>
        </p:nvSpPr>
        <p:spPr>
          <a:xfrm>
            <a:off x="42519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投入</a:t>
            </a:r>
            <a:endParaRPr lang="zh-CN" sz="840"/>
          </a:p>
        </p:txBody>
      </p:sp>
      <p:sp>
        <p:nvSpPr>
          <p:cNvPr id="30" name="!!stageBar5"/>
          <p:cNvSpPr/>
          <p:nvPr/>
        </p:nvSpPr>
        <p:spPr>
          <a:xfrm>
            <a:off x="51663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stageName5"/>
          <p:cNvSpPr txBox="1"/>
          <p:nvPr/>
        </p:nvSpPr>
        <p:spPr>
          <a:xfrm>
            <a:off x="51663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约定</a:t>
            </a:r>
            <a:endParaRPr lang="zh-CN" sz="840"/>
          </a:p>
        </p:txBody>
      </p:sp>
      <p:sp>
        <p:nvSpPr>
          <p:cNvPr id="32" name="!!utterancePaper"/>
          <p:cNvSpPr/>
          <p:nvPr/>
        </p:nvSpPr>
        <p:spPr>
          <a:xfrm>
            <a:off x="594360" y="2011680"/>
            <a:ext cx="5138928" cy="1581912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3" name="!!utteranceText"/>
          <p:cNvSpPr txBox="1"/>
          <p:nvPr/>
        </p:nvSpPr>
        <p:spPr>
          <a:xfrm>
            <a:off x="877824" y="2276856"/>
            <a:ext cx="6547104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10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晚饭前我查了冰箱，想好菜单，</a:t>
            </a:r>
            <a:endParaRPr lang="zh-CN" sz="2100"/>
          </a:p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10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问过大家想吃什么，还去买了菜。</a:t>
            </a:r>
            <a:endParaRPr lang="zh-CN" sz="2100"/>
          </a:p>
        </p:txBody>
      </p:sp>
      <p:sp>
        <p:nvSpPr>
          <p:cNvPr id="34" name="文本_先保留真实表达，再给出可修改的候选。"/>
          <p:cNvSpPr txBox="1"/>
          <p:nvPr/>
        </p:nvSpPr>
        <p:spPr>
          <a:xfrm>
            <a:off x="594360" y="3959352"/>
            <a:ext cx="71323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77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先保留真实表达，再给出可修改的候选。</a:t>
            </a:r>
            <a:endParaRPr lang="zh-CN" sz="1770"/>
          </a:p>
        </p:txBody>
      </p:sp>
      <p:grpSp>
        <p:nvGrpSpPr>
          <p:cNvPr id="40" name="ANIM:input0"/>
          <p:cNvGrpSpPr/>
          <p:nvPr/>
        </p:nvGrpSpPr>
        <p:grpSpPr>
          <a:xfrm>
            <a:off x="382275" y="4847325"/>
            <a:ext cx="2155424" cy="429037"/>
            <a:chOff x="843808" y="4847325"/>
            <a:chExt cx="2155424" cy="429037"/>
          </a:xfrm>
        </p:grpSpPr>
        <p:grpSp>
          <p:nvGrpSpPr>
            <p:cNvPr id="38" name="图标_talk"/>
            <p:cNvGrpSpPr/>
            <p:nvPr/>
          </p:nvGrpSpPr>
          <p:grpSpPr>
            <a:xfrm>
              <a:off x="843808" y="4847325"/>
              <a:ext cx="479511" cy="429037"/>
              <a:chOff x="843808" y="4847325"/>
              <a:chExt cx="479511" cy="429037"/>
            </a:xfrm>
          </p:grpSpPr>
          <p:sp>
            <p:nvSpPr>
              <p:cNvPr id="35" name="原生矢量路径"/>
              <p:cNvSpPr/>
              <p:nvPr/>
            </p:nvSpPr>
            <p:spPr>
              <a:xfrm>
                <a:off x="843808" y="4847325"/>
                <a:ext cx="479511" cy="429037"/>
              </a:xfrm>
              <a:custGeom>
                <a:avLst/>
                <a:gdLst/>
                <a:ahLst/>
                <a:cxnLst/>
                <a:rect l="l" t="t" r="r" b="b"/>
                <a:pathLst>
                  <a:path w="479511" h="429037">
                    <a:moveTo>
                      <a:pt x="0" y="0"/>
                    </a:moveTo>
                    <a:lnTo>
                      <a:pt x="479511" y="0"/>
                    </a:lnTo>
                    <a:lnTo>
                      <a:pt x="479511" y="321778"/>
                    </a:lnTo>
                    <a:lnTo>
                      <a:pt x="195590" y="321778"/>
                    </a:lnTo>
                    <a:lnTo>
                      <a:pt x="69403" y="429037"/>
                    </a:lnTo>
                    <a:lnTo>
                      <a:pt x="75712" y="321778"/>
                    </a:lnTo>
                    <a:lnTo>
                      <a:pt x="0" y="321778"/>
                    </a:lnTo>
                    <a:lnTo>
                      <a:pt x="0" y="0"/>
                    </a:lnTo>
                  </a:path>
                </a:pathLst>
              </a:custGeom>
              <a:noFill/>
              <a:ln w="12065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6" name="图解线条"/>
              <p:cNvCxnSpPr/>
              <p:nvPr/>
            </p:nvCxnSpPr>
            <p:spPr>
              <a:xfrm>
                <a:off x="938448" y="4960894"/>
                <a:ext cx="283921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图解线条"/>
              <p:cNvCxnSpPr/>
              <p:nvPr/>
            </p:nvCxnSpPr>
            <p:spPr>
              <a:xfrm>
                <a:off x="938448" y="5055534"/>
                <a:ext cx="189281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文本_原话"/>
            <p:cNvSpPr txBox="1"/>
            <p:nvPr/>
          </p:nvSpPr>
          <p:spPr>
            <a:xfrm>
              <a:off x="1609344" y="4873752"/>
              <a:ext cx="1389888" cy="3383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30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1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原话</a:t>
              </a:r>
              <a:endParaRPr lang="zh-CN" sz="1610"/>
            </a:p>
          </p:txBody>
        </p:sp>
      </p:grpSp>
      <p:cxnSp>
        <p:nvCxnSpPr>
          <p:cNvPr id="41" name="流程连线"/>
          <p:cNvCxnSpPr/>
          <p:nvPr/>
        </p:nvCxnSpPr>
        <p:spPr>
          <a:xfrm>
            <a:off x="1762403" y="5084064"/>
            <a:ext cx="338328" cy="0"/>
          </a:xfrm>
          <a:prstGeom prst="line">
            <a:avLst/>
          </a:prstGeom>
          <a:ln w="12700">
            <a:solidFill>
              <a:srgbClr val="6E6D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原生矢量路径"/>
          <p:cNvSpPr/>
          <p:nvPr/>
        </p:nvSpPr>
        <p:spPr>
          <a:xfrm>
            <a:off x="2022776" y="5036269"/>
            <a:ext cx="77955" cy="95589"/>
          </a:xfrm>
          <a:custGeom>
            <a:avLst/>
            <a:gdLst/>
            <a:ahLst/>
            <a:cxnLst/>
            <a:rect l="l" t="t" r="r" b="b"/>
            <a:pathLst>
              <a:path w="77955" h="95589">
                <a:moveTo>
                  <a:pt x="0" y="95589"/>
                </a:moveTo>
                <a:lnTo>
                  <a:pt x="77955" y="47795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6E6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9" name="ANIM:input1"/>
          <p:cNvGrpSpPr/>
          <p:nvPr/>
        </p:nvGrpSpPr>
        <p:grpSpPr>
          <a:xfrm>
            <a:off x="2429965" y="4809469"/>
            <a:ext cx="2092331" cy="492130"/>
            <a:chOff x="3147181" y="4796850"/>
            <a:chExt cx="2092331" cy="492130"/>
          </a:xfrm>
        </p:grpSpPr>
        <p:grpSp>
          <p:nvGrpSpPr>
            <p:cNvPr id="47" name="图标_document"/>
            <p:cNvGrpSpPr/>
            <p:nvPr/>
          </p:nvGrpSpPr>
          <p:grpSpPr>
            <a:xfrm>
              <a:off x="3147181" y="4796850"/>
              <a:ext cx="359633" cy="492130"/>
              <a:chOff x="3147181" y="4796850"/>
              <a:chExt cx="359633" cy="492130"/>
            </a:xfrm>
          </p:grpSpPr>
          <p:sp>
            <p:nvSpPr>
              <p:cNvPr id="43" name="直角形状"/>
              <p:cNvSpPr/>
              <p:nvPr/>
            </p:nvSpPr>
            <p:spPr>
              <a:xfrm>
                <a:off x="3147181" y="4796850"/>
                <a:ext cx="359633" cy="492130"/>
              </a:xfrm>
              <a:prstGeom prst="rect">
                <a:avLst/>
              </a:prstGeom>
              <a:noFill/>
              <a:ln w="1016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4" name="图解线条"/>
              <p:cNvCxnSpPr/>
              <p:nvPr/>
            </p:nvCxnSpPr>
            <p:spPr>
              <a:xfrm>
                <a:off x="3222894" y="4941966"/>
                <a:ext cx="201899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图解线条"/>
              <p:cNvCxnSpPr/>
              <p:nvPr/>
            </p:nvCxnSpPr>
            <p:spPr>
              <a:xfrm>
                <a:off x="3222894" y="5042916"/>
                <a:ext cx="201899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图解线条"/>
              <p:cNvCxnSpPr/>
              <p:nvPr/>
            </p:nvCxnSpPr>
            <p:spPr>
              <a:xfrm>
                <a:off x="3222894" y="5143865"/>
                <a:ext cx="145115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文本_候选"/>
            <p:cNvSpPr txBox="1"/>
            <p:nvPr/>
          </p:nvSpPr>
          <p:spPr>
            <a:xfrm>
              <a:off x="3849624" y="4873752"/>
              <a:ext cx="1389888" cy="3383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30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10" b="0" dirty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候选</a:t>
              </a:r>
              <a:endParaRPr lang="zh-CN" sz="1610" dirty="0"/>
            </a:p>
          </p:txBody>
        </p:sp>
      </p:grpSp>
      <p:cxnSp>
        <p:nvCxnSpPr>
          <p:cNvPr id="50" name="流程连线"/>
          <p:cNvCxnSpPr/>
          <p:nvPr/>
        </p:nvCxnSpPr>
        <p:spPr>
          <a:xfrm>
            <a:off x="3903299" y="5084064"/>
            <a:ext cx="338328" cy="0"/>
          </a:xfrm>
          <a:prstGeom prst="line">
            <a:avLst/>
          </a:prstGeom>
          <a:ln w="12700">
            <a:solidFill>
              <a:srgbClr val="6E6D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原生矢量路径"/>
          <p:cNvSpPr/>
          <p:nvPr/>
        </p:nvSpPr>
        <p:spPr>
          <a:xfrm>
            <a:off x="4163672" y="5036269"/>
            <a:ext cx="77955" cy="95589"/>
          </a:xfrm>
          <a:custGeom>
            <a:avLst/>
            <a:gdLst/>
            <a:ahLst/>
            <a:cxnLst/>
            <a:rect l="l" t="t" r="r" b="b"/>
            <a:pathLst>
              <a:path w="77955" h="95589">
                <a:moveTo>
                  <a:pt x="0" y="95589"/>
                </a:moveTo>
                <a:lnTo>
                  <a:pt x="77955" y="47795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6E6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6" name="ANIM:input2"/>
          <p:cNvGrpSpPr/>
          <p:nvPr/>
        </p:nvGrpSpPr>
        <p:grpSpPr>
          <a:xfrm>
            <a:off x="4471453" y="4847325"/>
            <a:ext cx="2130187" cy="441655"/>
            <a:chOff x="5349605" y="4853635"/>
            <a:chExt cx="2130187" cy="441655"/>
          </a:xfrm>
        </p:grpSpPr>
        <p:grpSp>
          <p:nvGrpSpPr>
            <p:cNvPr id="54" name="图标_execute"/>
            <p:cNvGrpSpPr/>
            <p:nvPr/>
          </p:nvGrpSpPr>
          <p:grpSpPr>
            <a:xfrm>
              <a:off x="5349605" y="4853635"/>
              <a:ext cx="447965" cy="441655"/>
              <a:chOff x="5349605" y="4853635"/>
              <a:chExt cx="447965" cy="441655"/>
            </a:xfrm>
          </p:grpSpPr>
          <p:sp>
            <p:nvSpPr>
              <p:cNvPr id="52" name="原生矢量路径"/>
              <p:cNvSpPr/>
              <p:nvPr/>
            </p:nvSpPr>
            <p:spPr>
              <a:xfrm>
                <a:off x="5362224" y="4853635"/>
                <a:ext cx="422727" cy="315468"/>
              </a:xfrm>
              <a:custGeom>
                <a:avLst/>
                <a:gdLst/>
                <a:ahLst/>
                <a:cxnLst/>
                <a:rect l="l" t="t" r="r" b="b"/>
                <a:pathLst>
                  <a:path w="422727" h="315468">
                    <a:moveTo>
                      <a:pt x="0" y="157734"/>
                    </a:moveTo>
                    <a:lnTo>
                      <a:pt x="138806" y="315468"/>
                    </a:lnTo>
                    <a:lnTo>
                      <a:pt x="422727" y="0"/>
                    </a:lnTo>
                  </a:path>
                </a:pathLst>
              </a:custGeom>
              <a:noFill/>
              <a:ln w="1905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3" name="图解线条"/>
              <p:cNvCxnSpPr/>
              <p:nvPr/>
            </p:nvCxnSpPr>
            <p:spPr>
              <a:xfrm>
                <a:off x="5349605" y="5295290"/>
                <a:ext cx="447965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文本_本人确认"/>
            <p:cNvSpPr txBox="1"/>
            <p:nvPr/>
          </p:nvSpPr>
          <p:spPr>
            <a:xfrm>
              <a:off x="6089904" y="4873752"/>
              <a:ext cx="1389888" cy="3383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30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1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本人确认</a:t>
              </a:r>
              <a:endParaRPr lang="zh-CN" sz="1610"/>
            </a:p>
          </p:txBody>
        </p:sp>
      </p:grpSp>
      <p:sp>
        <p:nvSpPr>
          <p:cNvPr id="57" name="文本_可只存原文；解析失败，退回模板或纯文本。"/>
          <p:cNvSpPr txBox="1"/>
          <p:nvPr/>
        </p:nvSpPr>
        <p:spPr>
          <a:xfrm>
            <a:off x="594360" y="5724144"/>
            <a:ext cx="72237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8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8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可只存原文；解析失败，退回模板或纯文本。</a:t>
            </a:r>
            <a:endParaRPr lang="zh-CN" sz="1280"/>
          </a:p>
        </p:txBody>
      </p:sp>
      <p:sp>
        <p:nvSpPr>
          <p:cNvPr id="76" name="!!phonePaper">
            <a:extLst>
              <a:ext uri="{FF2B5EF4-FFF2-40B4-BE49-F238E27FC236}">
                <a16:creationId xmlns:a16="http://schemas.microsoft.com/office/drawing/2014/main" id="{327D2B25-EB82-0342-9B3C-B2E3BA60F014}"/>
              </a:ext>
            </a:extLst>
          </p:cNvPr>
          <p:cNvSpPr/>
          <p:nvPr/>
        </p:nvSpPr>
        <p:spPr>
          <a:xfrm>
            <a:off x="9805569" y="1773936"/>
            <a:ext cx="2157984" cy="4416552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78" name="!!phoneCaption">
            <a:extLst>
              <a:ext uri="{FF2B5EF4-FFF2-40B4-BE49-F238E27FC236}">
                <a16:creationId xmlns:a16="http://schemas.microsoft.com/office/drawing/2014/main" id="{2ABE9F39-68DD-3EBA-2CC9-C88D895881CA}"/>
              </a:ext>
            </a:extLst>
          </p:cNvPr>
          <p:cNvSpPr txBox="1"/>
          <p:nvPr/>
        </p:nvSpPr>
        <p:spPr>
          <a:xfrm>
            <a:off x="9897009" y="1572768"/>
            <a:ext cx="1975104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20" b="0" dirty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S0</a:t>
            </a:r>
            <a:r>
              <a:rPr lang="en-US" altLang="zh-CN" sz="1120" b="0" dirty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2</a:t>
            </a:r>
            <a:r>
              <a:rPr lang="zh-CN" altLang="en-US" sz="1120" b="0" dirty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  ／  候选</a:t>
            </a:r>
            <a:r>
              <a:rPr lang="en-US" altLang="zh-CN" sz="1120" b="0" dirty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&amp;</a:t>
            </a:r>
            <a:r>
              <a:rPr lang="zh-CN" altLang="en-US" sz="1120" b="0" dirty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确认</a:t>
            </a:r>
            <a:endParaRPr lang="zh-CN" sz="1120" dirty="0"/>
          </a:p>
        </p:txBody>
      </p:sp>
      <p:cxnSp>
        <p:nvCxnSpPr>
          <p:cNvPr id="79" name="流程连线">
            <a:extLst>
              <a:ext uri="{FF2B5EF4-FFF2-40B4-BE49-F238E27FC236}">
                <a16:creationId xmlns:a16="http://schemas.microsoft.com/office/drawing/2014/main" id="{2594AB43-45EB-954F-F2B3-117CA8EAC33B}"/>
              </a:ext>
            </a:extLst>
          </p:cNvPr>
          <p:cNvCxnSpPr/>
          <p:nvPr/>
        </p:nvCxnSpPr>
        <p:spPr>
          <a:xfrm>
            <a:off x="9296063" y="4066595"/>
            <a:ext cx="338328" cy="0"/>
          </a:xfrm>
          <a:prstGeom prst="line">
            <a:avLst/>
          </a:prstGeom>
          <a:ln w="12700">
            <a:solidFill>
              <a:srgbClr val="6E6D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原生矢量路径">
            <a:extLst>
              <a:ext uri="{FF2B5EF4-FFF2-40B4-BE49-F238E27FC236}">
                <a16:creationId xmlns:a16="http://schemas.microsoft.com/office/drawing/2014/main" id="{15AA39A7-4381-496C-2B43-763D366F8F8D}"/>
              </a:ext>
            </a:extLst>
          </p:cNvPr>
          <p:cNvSpPr/>
          <p:nvPr/>
        </p:nvSpPr>
        <p:spPr>
          <a:xfrm>
            <a:off x="9556436" y="4018800"/>
            <a:ext cx="77955" cy="95589"/>
          </a:xfrm>
          <a:custGeom>
            <a:avLst/>
            <a:gdLst/>
            <a:ahLst/>
            <a:cxnLst/>
            <a:rect l="l" t="t" r="r" b="b"/>
            <a:pathLst>
              <a:path w="77955" h="95589">
                <a:moveTo>
                  <a:pt x="0" y="95589"/>
                </a:moveTo>
                <a:lnTo>
                  <a:pt x="77955" y="47795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6E6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5" name="图片占位符 81">
            <a:extLst>
              <a:ext uri="{FF2B5EF4-FFF2-40B4-BE49-F238E27FC236}">
                <a16:creationId xmlns:a16="http://schemas.microsoft.com/office/drawing/2014/main" id="{E76CDCFB-BAF9-4D57-16F8-71AB9F3972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4" b="504"/>
          <a:stretch/>
        </p:blipFill>
        <p:spPr>
          <a:xfrm>
            <a:off x="9933776" y="1865313"/>
            <a:ext cx="1938337" cy="4197350"/>
          </a:xfrm>
          <a:prstGeom prst="rect">
            <a:avLst/>
          </a:prstGeom>
          <a:solidFill>
            <a:srgbClr val="F0EEE8"/>
          </a:solidFill>
          <a:ln w="7620" cap="flat" cmpd="sng" algn="ctr">
            <a:solidFill>
              <a:srgbClr val="E5E2D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"/>
          <p:cNvSpPr txBox="1"/>
          <p:nvPr/>
        </p:nvSpPr>
        <p:spPr>
          <a:xfrm>
            <a:off x="594360" y="370332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产品演示  ／  S02 候选拆解 · 截图预留</a:t>
            </a:r>
            <a:endParaRPr lang="zh-CN" sz="1070"/>
          </a:p>
        </p:txBody>
      </p:sp>
      <p:sp>
        <p:nvSpPr>
          <p:cNvPr id="3" name="!!chapterTitle0"/>
          <p:cNvSpPr txBox="1"/>
          <p:nvPr/>
        </p:nvSpPr>
        <p:spPr>
          <a:xfrm>
            <a:off x="7040880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问题界定</a:t>
            </a:r>
            <a:endParaRPr lang="zh-CN" sz="919"/>
          </a:p>
        </p:txBody>
      </p:sp>
      <p:sp>
        <p:nvSpPr>
          <p:cNvPr id="4" name="!!chapterTitle1"/>
          <p:cNvSpPr txBox="1"/>
          <p:nvPr/>
        </p:nvSpPr>
        <p:spPr>
          <a:xfrm>
            <a:off x="8065008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产品演示</a:t>
            </a:r>
            <a:endParaRPr lang="zh-CN" sz="919"/>
          </a:p>
        </p:txBody>
      </p:sp>
      <p:cxnSp>
        <p:nvCxnSpPr>
          <p:cNvPr id="5" name="!!activeNavRule"/>
          <p:cNvCxnSpPr/>
          <p:nvPr/>
        </p:nvCxnSpPr>
        <p:spPr>
          <a:xfrm>
            <a:off x="8065008" y="701344"/>
            <a:ext cx="570585" cy="0"/>
          </a:xfrm>
          <a:prstGeom prst="line">
            <a:avLst/>
          </a:prstGeom>
          <a:ln w="10160">
            <a:solidFill>
              <a:srgbClr val="8C2D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!!chapterTitle2"/>
          <p:cNvSpPr txBox="1"/>
          <p:nvPr/>
        </p:nvSpPr>
        <p:spPr>
          <a:xfrm>
            <a:off x="9089136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用户范围</a:t>
            </a:r>
            <a:endParaRPr lang="zh-CN" sz="919"/>
          </a:p>
        </p:txBody>
      </p:sp>
      <p:sp>
        <p:nvSpPr>
          <p:cNvPr id="7" name="!!chapterTitle3"/>
          <p:cNvSpPr txBox="1"/>
          <p:nvPr/>
        </p:nvSpPr>
        <p:spPr>
          <a:xfrm>
            <a:off x="10113264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验证计划</a:t>
            </a:r>
            <a:endParaRPr lang="zh-CN" sz="919"/>
          </a:p>
        </p:txBody>
      </p:sp>
      <p:sp>
        <p:nvSpPr>
          <p:cNvPr id="8" name="页码"/>
          <p:cNvSpPr txBox="1"/>
          <p:nvPr/>
        </p:nvSpPr>
        <p:spPr>
          <a:xfrm>
            <a:off x="11247120" y="374904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08</a:t>
            </a:r>
            <a:endParaRPr lang="zh-CN" sz="1070"/>
          </a:p>
        </p:txBody>
      </p:sp>
      <p:sp>
        <p:nvSpPr>
          <p:cNvPr id="9" name="主标题"/>
          <p:cNvSpPr txBox="1"/>
          <p:nvPr/>
        </p:nvSpPr>
        <p:spPr>
          <a:xfrm>
            <a:off x="576072" y="932688"/>
            <a:ext cx="10972800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1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只把明确说出的动作，拆成候选。</a:t>
            </a:r>
            <a:endParaRPr lang="zh-CN" sz="3100"/>
          </a:p>
        </p:txBody>
      </p:sp>
      <p:cxnSp>
        <p:nvCxnSpPr>
          <p:cNvPr id="10" name="分隔细线"/>
          <p:cNvCxnSpPr/>
          <p:nvPr/>
        </p:nvCxnSpPr>
        <p:spPr>
          <a:xfrm>
            <a:off x="585216" y="6451092"/>
            <a:ext cx="1100937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!!phonePaper"/>
          <p:cNvSpPr/>
          <p:nvPr/>
        </p:nvSpPr>
        <p:spPr>
          <a:xfrm>
            <a:off x="8732520" y="1755648"/>
            <a:ext cx="2157984" cy="4416552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79" name="图片占位符 78">
            <a:extLst>
              <a:ext uri="{FF2B5EF4-FFF2-40B4-BE49-F238E27FC236}">
                <a16:creationId xmlns:a16="http://schemas.microsoft.com/office/drawing/2014/main" id="{DD1D6E9C-6DB8-19D7-41A9-27803CCB41F5}"/>
              </a:ext>
            </a:extLst>
          </p:cNvPr>
          <p:cNvPicPr>
            <a:picLocks noGrp="1" noChangeAspect="1"/>
          </p:cNvPicPr>
          <p:nvPr>
            <p:ph type="pic" idx="50"/>
          </p:nvPr>
        </p:nvPicPr>
        <p:blipFill>
          <a:blip r:embed="rId2"/>
          <a:srcRect t="512" b="512"/>
          <a:stretch/>
        </p:blipFill>
        <p:spPr>
          <a:prstGeom prst="rect">
            <a:avLst/>
          </a:prstGeom>
          <a:solidFill>
            <a:srgbClr val="F0EEE8"/>
          </a:solidFill>
          <a:ln w="7620" cap="flat" cmpd="sng" algn="ctr">
            <a:solidFill>
              <a:srgbClr val="E5E2D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pic>
      <p:sp>
        <p:nvSpPr>
          <p:cNvPr id="19" name="!!phoneCaption"/>
          <p:cNvSpPr txBox="1"/>
          <p:nvPr/>
        </p:nvSpPr>
        <p:spPr>
          <a:xfrm>
            <a:off x="8823960" y="1554480"/>
            <a:ext cx="1975104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20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S02  ／  候选可修改</a:t>
            </a:r>
            <a:endParaRPr lang="zh-CN" sz="1120"/>
          </a:p>
        </p:txBody>
      </p:sp>
      <p:sp>
        <p:nvSpPr>
          <p:cNvPr id="20" name="!!stageBar0"/>
          <p:cNvSpPr/>
          <p:nvPr/>
        </p:nvSpPr>
        <p:spPr>
          <a:xfrm>
            <a:off x="5943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stageName0"/>
          <p:cNvSpPr txBox="1"/>
          <p:nvPr/>
        </p:nvSpPr>
        <p:spPr>
          <a:xfrm>
            <a:off x="5943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原话</a:t>
            </a:r>
            <a:endParaRPr lang="zh-CN" sz="840"/>
          </a:p>
        </p:txBody>
      </p:sp>
      <p:sp>
        <p:nvSpPr>
          <p:cNvPr id="22" name="!!stageBar1"/>
          <p:cNvSpPr/>
          <p:nvPr/>
        </p:nvSpPr>
        <p:spPr>
          <a:xfrm>
            <a:off x="1508760" y="6190488"/>
            <a:ext cx="566928" cy="32004"/>
          </a:xfrm>
          <a:prstGeom prst="rect">
            <a:avLst/>
          </a:prstGeom>
          <a:solidFill>
            <a:srgbClr val="8C2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stageName1"/>
          <p:cNvSpPr txBox="1"/>
          <p:nvPr/>
        </p:nvSpPr>
        <p:spPr>
          <a:xfrm>
            <a:off x="15087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8C2D19"/>
                </a:solidFill>
                <a:latin typeface="Noto Sans SC"/>
                <a:ea typeface="Noto Sans SC"/>
                <a:cs typeface="Noto Sans SC"/>
              </a:rPr>
              <a:t>拆解</a:t>
            </a:r>
            <a:endParaRPr lang="zh-CN" sz="840"/>
          </a:p>
        </p:txBody>
      </p:sp>
      <p:sp>
        <p:nvSpPr>
          <p:cNvPr id="24" name="!!stageBar2"/>
          <p:cNvSpPr/>
          <p:nvPr/>
        </p:nvSpPr>
        <p:spPr>
          <a:xfrm>
            <a:off x="24231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stageName2"/>
          <p:cNvSpPr txBox="1"/>
          <p:nvPr/>
        </p:nvSpPr>
        <p:spPr>
          <a:xfrm>
            <a:off x="24231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私密</a:t>
            </a:r>
            <a:endParaRPr lang="zh-CN" sz="840"/>
          </a:p>
        </p:txBody>
      </p:sp>
      <p:sp>
        <p:nvSpPr>
          <p:cNvPr id="26" name="!!stageBar3"/>
          <p:cNvSpPr/>
          <p:nvPr/>
        </p:nvSpPr>
        <p:spPr>
          <a:xfrm>
            <a:off x="33375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stageName3"/>
          <p:cNvSpPr txBox="1"/>
          <p:nvPr/>
        </p:nvSpPr>
        <p:spPr>
          <a:xfrm>
            <a:off x="33375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核对</a:t>
            </a:r>
            <a:endParaRPr lang="zh-CN" sz="840"/>
          </a:p>
        </p:txBody>
      </p:sp>
      <p:sp>
        <p:nvSpPr>
          <p:cNvPr id="28" name="!!stageBar4"/>
          <p:cNvSpPr/>
          <p:nvPr/>
        </p:nvSpPr>
        <p:spPr>
          <a:xfrm>
            <a:off x="42519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stageName4"/>
          <p:cNvSpPr txBox="1"/>
          <p:nvPr/>
        </p:nvSpPr>
        <p:spPr>
          <a:xfrm>
            <a:off x="42519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投入</a:t>
            </a:r>
            <a:endParaRPr lang="zh-CN" sz="840"/>
          </a:p>
        </p:txBody>
      </p:sp>
      <p:sp>
        <p:nvSpPr>
          <p:cNvPr id="30" name="!!stageBar5"/>
          <p:cNvSpPr/>
          <p:nvPr/>
        </p:nvSpPr>
        <p:spPr>
          <a:xfrm>
            <a:off x="51663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stageName5"/>
          <p:cNvSpPr txBox="1"/>
          <p:nvPr/>
        </p:nvSpPr>
        <p:spPr>
          <a:xfrm>
            <a:off x="51663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约定</a:t>
            </a:r>
            <a:endParaRPr lang="zh-CN" sz="840"/>
          </a:p>
        </p:txBody>
      </p:sp>
      <p:sp>
        <p:nvSpPr>
          <p:cNvPr id="32" name="!!utterancePaper"/>
          <p:cNvSpPr/>
          <p:nvPr/>
        </p:nvSpPr>
        <p:spPr>
          <a:xfrm>
            <a:off x="594360" y="1938528"/>
            <a:ext cx="7114032" cy="658368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3" name="!!utteranceText"/>
          <p:cNvSpPr txBox="1"/>
          <p:nvPr/>
        </p:nvSpPr>
        <p:spPr>
          <a:xfrm>
            <a:off x="859536" y="2112264"/>
            <a:ext cx="656539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0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4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查了冰箱、想好菜单、问过口味、还去买了菜。</a:t>
            </a:r>
            <a:endParaRPr lang="zh-CN" sz="1540"/>
          </a:p>
        </p:txBody>
      </p:sp>
      <p:grpSp>
        <p:nvGrpSpPr>
          <p:cNvPr id="43" name="ANIM:parse0"/>
          <p:cNvGrpSpPr/>
          <p:nvPr/>
        </p:nvGrpSpPr>
        <p:grpSpPr>
          <a:xfrm>
            <a:off x="594360" y="2999232"/>
            <a:ext cx="3337560" cy="1188719"/>
            <a:chOff x="594360" y="2999232"/>
            <a:chExt cx="3337560" cy="1188719"/>
          </a:xfrm>
        </p:grpSpPr>
        <p:sp>
          <p:nvSpPr>
            <p:cNvPr id="34" name="文本_查了冰箱"/>
            <p:cNvSpPr txBox="1"/>
            <p:nvPr/>
          </p:nvSpPr>
          <p:spPr>
            <a:xfrm>
              <a:off x="594360" y="2999232"/>
              <a:ext cx="2587752" cy="3017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7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查了冰箱</a:t>
              </a:r>
              <a:endParaRPr lang="zh-CN" sz="1270"/>
            </a:p>
          </p:txBody>
        </p:sp>
        <p:grpSp>
          <p:nvGrpSpPr>
            <p:cNvPr id="39" name="图标_prepare"/>
            <p:cNvGrpSpPr/>
            <p:nvPr/>
          </p:nvGrpSpPr>
          <p:grpSpPr>
            <a:xfrm>
              <a:off x="703813" y="3516416"/>
              <a:ext cx="302301" cy="437814"/>
              <a:chOff x="703813" y="3516416"/>
              <a:chExt cx="302301" cy="437814"/>
            </a:xfrm>
          </p:grpSpPr>
          <p:sp>
            <p:nvSpPr>
              <p:cNvPr id="35" name="直角形状"/>
              <p:cNvSpPr/>
              <p:nvPr/>
            </p:nvSpPr>
            <p:spPr>
              <a:xfrm>
                <a:off x="703813" y="3516416"/>
                <a:ext cx="302300" cy="437814"/>
              </a:xfrm>
              <a:prstGeom prst="rect">
                <a:avLst/>
              </a:prstGeom>
              <a:noFill/>
              <a:ln w="1016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6" name="图解线条"/>
              <p:cNvCxnSpPr/>
              <p:nvPr/>
            </p:nvCxnSpPr>
            <p:spPr>
              <a:xfrm>
                <a:off x="703813" y="3698839"/>
                <a:ext cx="302301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图解线条"/>
              <p:cNvCxnSpPr/>
              <p:nvPr/>
            </p:nvCxnSpPr>
            <p:spPr>
              <a:xfrm>
                <a:off x="761146" y="3605022"/>
                <a:ext cx="0" cy="5212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图解线条"/>
              <p:cNvCxnSpPr/>
              <p:nvPr/>
            </p:nvCxnSpPr>
            <p:spPr>
              <a:xfrm>
                <a:off x="761146" y="3761384"/>
                <a:ext cx="0" cy="62545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文本_核对存量"/>
            <p:cNvSpPr txBox="1"/>
            <p:nvPr/>
          </p:nvSpPr>
          <p:spPr>
            <a:xfrm>
              <a:off x="1289304" y="3493008"/>
              <a:ext cx="2359152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47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3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核对存量</a:t>
              </a:r>
              <a:endParaRPr lang="zh-CN" sz="1730"/>
            </a:p>
          </p:txBody>
        </p:sp>
        <p:sp>
          <p:nvSpPr>
            <p:cNvPr id="41" name="文本_准备"/>
            <p:cNvSpPr txBox="1"/>
            <p:nvPr/>
          </p:nvSpPr>
          <p:spPr>
            <a:xfrm>
              <a:off x="1289304" y="3913631"/>
              <a:ext cx="2359152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73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10" b="0">
                  <a:solidFill>
                    <a:srgbClr val="8C2D19"/>
                  </a:solidFill>
                  <a:latin typeface="Noto Sans SC"/>
                  <a:ea typeface="Noto Sans SC"/>
                  <a:cs typeface="Noto Sans SC"/>
                </a:rPr>
                <a:t>准备</a:t>
              </a:r>
              <a:endParaRPr lang="zh-CN" sz="1210"/>
            </a:p>
          </p:txBody>
        </p:sp>
        <p:cxnSp>
          <p:nvCxnSpPr>
            <p:cNvPr id="42" name="分隔细线"/>
            <p:cNvCxnSpPr/>
            <p:nvPr/>
          </p:nvCxnSpPr>
          <p:spPr>
            <a:xfrm>
              <a:off x="594360" y="4105656"/>
              <a:ext cx="3337560" cy="0"/>
            </a:xfrm>
            <a:prstGeom prst="line">
              <a:avLst/>
            </a:prstGeom>
            <a:ln w="5715">
              <a:solidFill>
                <a:srgbClr val="D4D2C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ANIM:parse1"/>
          <p:cNvGrpSpPr/>
          <p:nvPr/>
        </p:nvGrpSpPr>
        <p:grpSpPr>
          <a:xfrm>
            <a:off x="4279392" y="2999232"/>
            <a:ext cx="3337560" cy="1188719"/>
            <a:chOff x="4279392" y="2999232"/>
            <a:chExt cx="3337560" cy="1188719"/>
          </a:xfrm>
        </p:grpSpPr>
        <p:sp>
          <p:nvSpPr>
            <p:cNvPr id="44" name="文本_想好菜单"/>
            <p:cNvSpPr txBox="1"/>
            <p:nvPr/>
          </p:nvSpPr>
          <p:spPr>
            <a:xfrm>
              <a:off x="4279392" y="2999232"/>
              <a:ext cx="2587752" cy="3017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7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想好菜单</a:t>
              </a:r>
              <a:endParaRPr lang="zh-CN" sz="1270"/>
            </a:p>
          </p:txBody>
        </p:sp>
        <p:grpSp>
          <p:nvGrpSpPr>
            <p:cNvPr id="53" name="图标_planning"/>
            <p:cNvGrpSpPr/>
            <p:nvPr/>
          </p:nvGrpSpPr>
          <p:grpSpPr>
            <a:xfrm>
              <a:off x="4352361" y="3521628"/>
              <a:ext cx="380481" cy="406542"/>
              <a:chOff x="4352361" y="3521628"/>
              <a:chExt cx="380481" cy="406542"/>
            </a:xfrm>
          </p:grpSpPr>
          <p:sp>
            <p:nvSpPr>
              <p:cNvPr id="45" name="直角形状"/>
              <p:cNvSpPr/>
              <p:nvPr/>
            </p:nvSpPr>
            <p:spPr>
              <a:xfrm>
                <a:off x="4352361" y="3568537"/>
                <a:ext cx="380481" cy="359633"/>
              </a:xfrm>
              <a:prstGeom prst="rect">
                <a:avLst/>
              </a:prstGeom>
              <a:noFill/>
              <a:ln w="1016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6" name="图解线条"/>
              <p:cNvCxnSpPr/>
              <p:nvPr/>
            </p:nvCxnSpPr>
            <p:spPr>
              <a:xfrm>
                <a:off x="4352361" y="3677991"/>
                <a:ext cx="380481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图解线条"/>
              <p:cNvCxnSpPr/>
              <p:nvPr/>
            </p:nvCxnSpPr>
            <p:spPr>
              <a:xfrm>
                <a:off x="4456602" y="3521628"/>
                <a:ext cx="0" cy="104242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图解线条"/>
              <p:cNvCxnSpPr/>
              <p:nvPr/>
            </p:nvCxnSpPr>
            <p:spPr>
              <a:xfrm>
                <a:off x="4628601" y="3521628"/>
                <a:ext cx="0" cy="104242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语义节点"/>
              <p:cNvSpPr/>
              <p:nvPr/>
            </p:nvSpPr>
            <p:spPr>
              <a:xfrm>
                <a:off x="4456602" y="3750960"/>
                <a:ext cx="31272" cy="31272"/>
              </a:xfrm>
              <a:prstGeom prst="ellipse">
                <a:avLst/>
              </a:prstGeom>
              <a:solidFill>
                <a:srgbClr val="8C2D1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语义节点"/>
              <p:cNvSpPr/>
              <p:nvPr/>
            </p:nvSpPr>
            <p:spPr>
              <a:xfrm>
                <a:off x="4597328" y="3750960"/>
                <a:ext cx="31272" cy="31272"/>
              </a:xfrm>
              <a:prstGeom prst="ellipse">
                <a:avLst/>
              </a:prstGeom>
              <a:solidFill>
                <a:srgbClr val="8C2D1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语义节点"/>
              <p:cNvSpPr/>
              <p:nvPr/>
            </p:nvSpPr>
            <p:spPr>
              <a:xfrm>
                <a:off x="4456602" y="3849989"/>
                <a:ext cx="31272" cy="31272"/>
              </a:xfrm>
              <a:prstGeom prst="ellipse">
                <a:avLst/>
              </a:prstGeom>
              <a:solidFill>
                <a:srgbClr val="8C2D1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语义节点"/>
              <p:cNvSpPr/>
              <p:nvPr/>
            </p:nvSpPr>
            <p:spPr>
              <a:xfrm>
                <a:off x="4597328" y="3849989"/>
                <a:ext cx="31272" cy="31272"/>
              </a:xfrm>
              <a:prstGeom prst="ellipse">
                <a:avLst/>
              </a:prstGeom>
              <a:solidFill>
                <a:srgbClr val="8C2D1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54" name="文本_确定菜单"/>
            <p:cNvSpPr txBox="1"/>
            <p:nvPr/>
          </p:nvSpPr>
          <p:spPr>
            <a:xfrm>
              <a:off x="4974336" y="3493008"/>
              <a:ext cx="2359152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47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3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确定菜单</a:t>
              </a:r>
              <a:endParaRPr lang="zh-CN" sz="1730"/>
            </a:p>
          </p:txBody>
        </p:sp>
        <p:sp>
          <p:nvSpPr>
            <p:cNvPr id="55" name="文本_规划"/>
            <p:cNvSpPr txBox="1"/>
            <p:nvPr/>
          </p:nvSpPr>
          <p:spPr>
            <a:xfrm>
              <a:off x="4974336" y="3913631"/>
              <a:ext cx="2359152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73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10" b="0">
                  <a:solidFill>
                    <a:srgbClr val="8C2D19"/>
                  </a:solidFill>
                  <a:latin typeface="Noto Sans SC"/>
                  <a:ea typeface="Noto Sans SC"/>
                  <a:cs typeface="Noto Sans SC"/>
                </a:rPr>
                <a:t>规划</a:t>
              </a:r>
              <a:endParaRPr lang="zh-CN" sz="1210"/>
            </a:p>
          </p:txBody>
        </p:sp>
        <p:cxnSp>
          <p:nvCxnSpPr>
            <p:cNvPr id="56" name="分隔细线"/>
            <p:cNvCxnSpPr/>
            <p:nvPr/>
          </p:nvCxnSpPr>
          <p:spPr>
            <a:xfrm>
              <a:off x="4279392" y="4105656"/>
              <a:ext cx="3337560" cy="0"/>
            </a:xfrm>
            <a:prstGeom prst="line">
              <a:avLst/>
            </a:prstGeom>
            <a:ln w="5715">
              <a:solidFill>
                <a:srgbClr val="D4D2C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ANIM:parse2"/>
          <p:cNvGrpSpPr/>
          <p:nvPr/>
        </p:nvGrpSpPr>
        <p:grpSpPr>
          <a:xfrm>
            <a:off x="594360" y="4251960"/>
            <a:ext cx="3337560" cy="1188720"/>
            <a:chOff x="594360" y="4251960"/>
            <a:chExt cx="3337560" cy="1188720"/>
          </a:xfrm>
        </p:grpSpPr>
        <p:sp>
          <p:nvSpPr>
            <p:cNvPr id="58" name="文本_问过口味"/>
            <p:cNvSpPr txBox="1"/>
            <p:nvPr/>
          </p:nvSpPr>
          <p:spPr>
            <a:xfrm>
              <a:off x="594360" y="4251960"/>
              <a:ext cx="2587752" cy="3017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7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问过口味</a:t>
              </a:r>
              <a:endParaRPr lang="zh-CN" sz="1270"/>
            </a:p>
          </p:txBody>
        </p:sp>
        <p:grpSp>
          <p:nvGrpSpPr>
            <p:cNvPr id="64" name="图标_coordinate"/>
            <p:cNvGrpSpPr/>
            <p:nvPr/>
          </p:nvGrpSpPr>
          <p:grpSpPr>
            <a:xfrm>
              <a:off x="646480" y="4795205"/>
              <a:ext cx="416966" cy="364845"/>
              <a:chOff x="646480" y="4795205"/>
              <a:chExt cx="416966" cy="364845"/>
            </a:xfrm>
          </p:grpSpPr>
          <p:sp>
            <p:nvSpPr>
              <p:cNvPr id="59" name="语义节点"/>
              <p:cNvSpPr/>
              <p:nvPr/>
            </p:nvSpPr>
            <p:spPr>
              <a:xfrm>
                <a:off x="646480" y="4795205"/>
                <a:ext cx="145938" cy="145938"/>
              </a:xfrm>
              <a:prstGeom prst="ellipse">
                <a:avLst/>
              </a:prstGeom>
              <a:noFill/>
              <a:ln w="889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语义节点"/>
              <p:cNvSpPr/>
              <p:nvPr/>
            </p:nvSpPr>
            <p:spPr>
              <a:xfrm>
                <a:off x="917508" y="4795205"/>
                <a:ext cx="145938" cy="145938"/>
              </a:xfrm>
              <a:prstGeom prst="ellipse">
                <a:avLst/>
              </a:prstGeom>
              <a:noFill/>
              <a:ln w="889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1" name="图解线条"/>
              <p:cNvCxnSpPr/>
              <p:nvPr/>
            </p:nvCxnSpPr>
            <p:spPr>
              <a:xfrm>
                <a:off x="719449" y="4956779"/>
                <a:ext cx="0" cy="203271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图解线条"/>
              <p:cNvCxnSpPr/>
              <p:nvPr/>
            </p:nvCxnSpPr>
            <p:spPr>
              <a:xfrm>
                <a:off x="990478" y="4956779"/>
                <a:ext cx="0" cy="203271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图解线条"/>
              <p:cNvCxnSpPr/>
              <p:nvPr/>
            </p:nvCxnSpPr>
            <p:spPr>
              <a:xfrm>
                <a:off x="719449" y="5061021"/>
                <a:ext cx="271029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5" name="文本_沟通偏好"/>
            <p:cNvSpPr txBox="1"/>
            <p:nvPr/>
          </p:nvSpPr>
          <p:spPr>
            <a:xfrm>
              <a:off x="1289304" y="4745736"/>
              <a:ext cx="2359152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47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3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沟通偏好</a:t>
              </a:r>
              <a:endParaRPr lang="zh-CN" sz="1730"/>
            </a:p>
          </p:txBody>
        </p:sp>
        <p:sp>
          <p:nvSpPr>
            <p:cNvPr id="66" name="文本_协调"/>
            <p:cNvSpPr txBox="1"/>
            <p:nvPr/>
          </p:nvSpPr>
          <p:spPr>
            <a:xfrm>
              <a:off x="1289304" y="5166360"/>
              <a:ext cx="2359152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73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10" b="0">
                  <a:solidFill>
                    <a:srgbClr val="8C2D19"/>
                  </a:solidFill>
                  <a:latin typeface="Noto Sans SC"/>
                  <a:ea typeface="Noto Sans SC"/>
                  <a:cs typeface="Noto Sans SC"/>
                </a:rPr>
                <a:t>协调</a:t>
              </a:r>
              <a:endParaRPr lang="zh-CN" sz="1210"/>
            </a:p>
          </p:txBody>
        </p:sp>
        <p:cxnSp>
          <p:nvCxnSpPr>
            <p:cNvPr id="67" name="分隔细线"/>
            <p:cNvCxnSpPr/>
            <p:nvPr/>
          </p:nvCxnSpPr>
          <p:spPr>
            <a:xfrm>
              <a:off x="594360" y="5358384"/>
              <a:ext cx="3337560" cy="0"/>
            </a:xfrm>
            <a:prstGeom prst="line">
              <a:avLst/>
            </a:prstGeom>
            <a:ln w="5715">
              <a:solidFill>
                <a:srgbClr val="D4D2C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ANIM:parse3"/>
          <p:cNvGrpSpPr/>
          <p:nvPr/>
        </p:nvGrpSpPr>
        <p:grpSpPr>
          <a:xfrm>
            <a:off x="4279392" y="4251960"/>
            <a:ext cx="3337560" cy="1188720"/>
            <a:chOff x="4279392" y="4251960"/>
            <a:chExt cx="3337560" cy="1188720"/>
          </a:xfrm>
        </p:grpSpPr>
        <p:sp>
          <p:nvSpPr>
            <p:cNvPr id="69" name="文本_去买了菜"/>
            <p:cNvSpPr txBox="1"/>
            <p:nvPr/>
          </p:nvSpPr>
          <p:spPr>
            <a:xfrm>
              <a:off x="4279392" y="4251960"/>
              <a:ext cx="2587752" cy="3017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7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去买了菜</a:t>
              </a:r>
              <a:endParaRPr lang="zh-CN" sz="1270"/>
            </a:p>
          </p:txBody>
        </p:sp>
        <p:grpSp>
          <p:nvGrpSpPr>
            <p:cNvPr id="72" name="图标_execute"/>
            <p:cNvGrpSpPr/>
            <p:nvPr/>
          </p:nvGrpSpPr>
          <p:grpSpPr>
            <a:xfrm>
              <a:off x="4362785" y="4831689"/>
              <a:ext cx="370057" cy="364846"/>
              <a:chOff x="4362785" y="4831689"/>
              <a:chExt cx="370057" cy="364846"/>
            </a:xfrm>
          </p:grpSpPr>
          <p:sp>
            <p:nvSpPr>
              <p:cNvPr id="70" name="原生矢量路径"/>
              <p:cNvSpPr/>
              <p:nvPr/>
            </p:nvSpPr>
            <p:spPr>
              <a:xfrm>
                <a:off x="4373209" y="4831689"/>
                <a:ext cx="349209" cy="260604"/>
              </a:xfrm>
              <a:custGeom>
                <a:avLst/>
                <a:gdLst/>
                <a:ahLst/>
                <a:cxnLst/>
                <a:rect l="l" t="t" r="r" b="b"/>
                <a:pathLst>
                  <a:path w="349209" h="260604">
                    <a:moveTo>
                      <a:pt x="0" y="130302"/>
                    </a:moveTo>
                    <a:lnTo>
                      <a:pt x="114666" y="260604"/>
                    </a:lnTo>
                    <a:lnTo>
                      <a:pt x="349209" y="0"/>
                    </a:lnTo>
                  </a:path>
                </a:pathLst>
              </a:custGeom>
              <a:noFill/>
              <a:ln w="1905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71" name="图解线条"/>
              <p:cNvCxnSpPr/>
              <p:nvPr/>
            </p:nvCxnSpPr>
            <p:spPr>
              <a:xfrm>
                <a:off x="4362785" y="5196535"/>
                <a:ext cx="370057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文本_购买食材"/>
            <p:cNvSpPr txBox="1"/>
            <p:nvPr/>
          </p:nvSpPr>
          <p:spPr>
            <a:xfrm>
              <a:off x="4974336" y="4745736"/>
              <a:ext cx="2359152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47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3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购买食材</a:t>
              </a:r>
              <a:endParaRPr lang="zh-CN" sz="1730"/>
            </a:p>
          </p:txBody>
        </p:sp>
        <p:sp>
          <p:nvSpPr>
            <p:cNvPr id="74" name="文本_执行"/>
            <p:cNvSpPr txBox="1"/>
            <p:nvPr/>
          </p:nvSpPr>
          <p:spPr>
            <a:xfrm>
              <a:off x="4974336" y="5166360"/>
              <a:ext cx="2359152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73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10" b="0">
                  <a:solidFill>
                    <a:srgbClr val="8C2D19"/>
                  </a:solidFill>
                  <a:latin typeface="Noto Sans SC"/>
                  <a:ea typeface="Noto Sans SC"/>
                  <a:cs typeface="Noto Sans SC"/>
                </a:rPr>
                <a:t>执行</a:t>
              </a:r>
              <a:endParaRPr lang="zh-CN" sz="1210"/>
            </a:p>
          </p:txBody>
        </p:sp>
        <p:cxnSp>
          <p:nvCxnSpPr>
            <p:cNvPr id="75" name="分隔细线"/>
            <p:cNvCxnSpPr/>
            <p:nvPr/>
          </p:nvCxnSpPr>
          <p:spPr>
            <a:xfrm>
              <a:off x="4279392" y="5358384"/>
              <a:ext cx="3337560" cy="0"/>
            </a:xfrm>
            <a:prstGeom prst="line">
              <a:avLst/>
            </a:prstGeom>
            <a:ln w="5715">
              <a:solidFill>
                <a:srgbClr val="D4D2C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文本_收尾未提到，就不补。含糊处请本人澄清，不猜动机。"/>
          <p:cNvSpPr txBox="1"/>
          <p:nvPr/>
        </p:nvSpPr>
        <p:spPr>
          <a:xfrm>
            <a:off x="594360" y="5824728"/>
            <a:ext cx="7141464" cy="2834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收尾未提到，就不补。含糊处请本人澄清，不猜动机。</a:t>
            </a:r>
            <a:endParaRPr lang="zh-CN" sz="13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4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4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4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4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"/>
          <p:cNvSpPr txBox="1"/>
          <p:nvPr/>
        </p:nvSpPr>
        <p:spPr>
          <a:xfrm>
            <a:off x="594360" y="370332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产品演示  ／  S03 私人草稿与主动共享 · 截图预留</a:t>
            </a:r>
            <a:endParaRPr lang="zh-CN" sz="1070"/>
          </a:p>
        </p:txBody>
      </p:sp>
      <p:sp>
        <p:nvSpPr>
          <p:cNvPr id="3" name="!!chapterTitle0"/>
          <p:cNvSpPr txBox="1"/>
          <p:nvPr/>
        </p:nvSpPr>
        <p:spPr>
          <a:xfrm>
            <a:off x="7040880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问题界定</a:t>
            </a:r>
            <a:endParaRPr lang="zh-CN" sz="919"/>
          </a:p>
        </p:txBody>
      </p:sp>
      <p:sp>
        <p:nvSpPr>
          <p:cNvPr id="4" name="!!chapterTitle1"/>
          <p:cNvSpPr txBox="1"/>
          <p:nvPr/>
        </p:nvSpPr>
        <p:spPr>
          <a:xfrm>
            <a:off x="8065008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产品演示</a:t>
            </a:r>
            <a:endParaRPr lang="zh-CN" sz="919"/>
          </a:p>
        </p:txBody>
      </p:sp>
      <p:cxnSp>
        <p:nvCxnSpPr>
          <p:cNvPr id="5" name="!!activeNavRule"/>
          <p:cNvCxnSpPr/>
          <p:nvPr/>
        </p:nvCxnSpPr>
        <p:spPr>
          <a:xfrm>
            <a:off x="8065008" y="701344"/>
            <a:ext cx="570585" cy="0"/>
          </a:xfrm>
          <a:prstGeom prst="line">
            <a:avLst/>
          </a:prstGeom>
          <a:ln w="10160">
            <a:solidFill>
              <a:srgbClr val="8C2D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!!chapterTitle2"/>
          <p:cNvSpPr txBox="1"/>
          <p:nvPr/>
        </p:nvSpPr>
        <p:spPr>
          <a:xfrm>
            <a:off x="9089136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用户范围</a:t>
            </a:r>
            <a:endParaRPr lang="zh-CN" sz="919"/>
          </a:p>
        </p:txBody>
      </p:sp>
      <p:sp>
        <p:nvSpPr>
          <p:cNvPr id="7" name="!!chapterTitle3"/>
          <p:cNvSpPr txBox="1"/>
          <p:nvPr/>
        </p:nvSpPr>
        <p:spPr>
          <a:xfrm>
            <a:off x="10113264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验证计划</a:t>
            </a:r>
            <a:endParaRPr lang="zh-CN" sz="919"/>
          </a:p>
        </p:txBody>
      </p:sp>
      <p:sp>
        <p:nvSpPr>
          <p:cNvPr id="8" name="页码"/>
          <p:cNvSpPr txBox="1"/>
          <p:nvPr/>
        </p:nvSpPr>
        <p:spPr>
          <a:xfrm>
            <a:off x="11247120" y="374904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09</a:t>
            </a:r>
            <a:endParaRPr lang="zh-CN" sz="1070"/>
          </a:p>
        </p:txBody>
      </p:sp>
      <p:sp>
        <p:nvSpPr>
          <p:cNvPr id="9" name="主标题"/>
          <p:cNvSpPr txBox="1"/>
          <p:nvPr/>
        </p:nvSpPr>
        <p:spPr>
          <a:xfrm>
            <a:off x="576072" y="932688"/>
            <a:ext cx="10972800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1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共享由本人发起，不是系统自动发送。</a:t>
            </a:r>
            <a:endParaRPr lang="zh-CN" sz="3100"/>
          </a:p>
        </p:txBody>
      </p:sp>
      <p:cxnSp>
        <p:nvCxnSpPr>
          <p:cNvPr id="10" name="分隔细线"/>
          <p:cNvCxnSpPr/>
          <p:nvPr/>
        </p:nvCxnSpPr>
        <p:spPr>
          <a:xfrm>
            <a:off x="585216" y="6451092"/>
            <a:ext cx="1100937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!!phonePaper"/>
          <p:cNvSpPr/>
          <p:nvPr/>
        </p:nvSpPr>
        <p:spPr>
          <a:xfrm>
            <a:off x="850392" y="1755648"/>
            <a:ext cx="2157984" cy="4416552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54" name="图片占位符 53">
            <a:extLst>
              <a:ext uri="{FF2B5EF4-FFF2-40B4-BE49-F238E27FC236}">
                <a16:creationId xmlns:a16="http://schemas.microsoft.com/office/drawing/2014/main" id="{C2F8919D-18F1-6975-9031-7C0117713DF7}"/>
              </a:ext>
            </a:extLst>
          </p:cNvPr>
          <p:cNvPicPr>
            <a:picLocks noGrp="1" noChangeAspect="1"/>
          </p:cNvPicPr>
          <p:nvPr>
            <p:ph type="pic" idx="50"/>
          </p:nvPr>
        </p:nvPicPr>
        <p:blipFill>
          <a:blip r:embed="rId2"/>
          <a:srcRect t="512" b="512"/>
          <a:stretch/>
        </p:blipFill>
        <p:spPr>
          <a:prstGeom prst="rect">
            <a:avLst/>
          </a:prstGeom>
          <a:solidFill>
            <a:srgbClr val="F0EEE8"/>
          </a:solidFill>
          <a:ln w="7620" cap="flat" cmpd="sng" algn="ctr">
            <a:solidFill>
              <a:srgbClr val="E5E2D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pic>
      <p:sp>
        <p:nvSpPr>
          <p:cNvPr id="19" name="!!phoneCaption"/>
          <p:cNvSpPr txBox="1"/>
          <p:nvPr/>
        </p:nvSpPr>
        <p:spPr>
          <a:xfrm>
            <a:off x="941832" y="1554480"/>
            <a:ext cx="1975104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20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S03  ／  默认私密</a:t>
            </a:r>
            <a:endParaRPr lang="zh-CN" sz="1120"/>
          </a:p>
        </p:txBody>
      </p:sp>
      <p:sp>
        <p:nvSpPr>
          <p:cNvPr id="20" name="!!stageBar0"/>
          <p:cNvSpPr/>
          <p:nvPr/>
        </p:nvSpPr>
        <p:spPr>
          <a:xfrm>
            <a:off x="5943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stageName0"/>
          <p:cNvSpPr txBox="1"/>
          <p:nvPr/>
        </p:nvSpPr>
        <p:spPr>
          <a:xfrm>
            <a:off x="5943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原话</a:t>
            </a:r>
            <a:endParaRPr lang="zh-CN" sz="840"/>
          </a:p>
        </p:txBody>
      </p:sp>
      <p:sp>
        <p:nvSpPr>
          <p:cNvPr id="22" name="!!stageBar1"/>
          <p:cNvSpPr/>
          <p:nvPr/>
        </p:nvSpPr>
        <p:spPr>
          <a:xfrm>
            <a:off x="15087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stageName1"/>
          <p:cNvSpPr txBox="1"/>
          <p:nvPr/>
        </p:nvSpPr>
        <p:spPr>
          <a:xfrm>
            <a:off x="15087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拆解</a:t>
            </a:r>
            <a:endParaRPr lang="zh-CN" sz="840"/>
          </a:p>
        </p:txBody>
      </p:sp>
      <p:sp>
        <p:nvSpPr>
          <p:cNvPr id="24" name="!!stageBar2"/>
          <p:cNvSpPr/>
          <p:nvPr/>
        </p:nvSpPr>
        <p:spPr>
          <a:xfrm>
            <a:off x="2423160" y="6190488"/>
            <a:ext cx="566928" cy="32004"/>
          </a:xfrm>
          <a:prstGeom prst="rect">
            <a:avLst/>
          </a:prstGeom>
          <a:solidFill>
            <a:srgbClr val="8C2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stageName2"/>
          <p:cNvSpPr txBox="1"/>
          <p:nvPr/>
        </p:nvSpPr>
        <p:spPr>
          <a:xfrm>
            <a:off x="24231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8C2D19"/>
                </a:solidFill>
                <a:latin typeface="Noto Sans SC"/>
                <a:ea typeface="Noto Sans SC"/>
                <a:cs typeface="Noto Sans SC"/>
              </a:rPr>
              <a:t>私密</a:t>
            </a:r>
            <a:endParaRPr lang="zh-CN" sz="840"/>
          </a:p>
        </p:txBody>
      </p:sp>
      <p:sp>
        <p:nvSpPr>
          <p:cNvPr id="26" name="!!stageBar3"/>
          <p:cNvSpPr/>
          <p:nvPr/>
        </p:nvSpPr>
        <p:spPr>
          <a:xfrm>
            <a:off x="33375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stageName3"/>
          <p:cNvSpPr txBox="1"/>
          <p:nvPr/>
        </p:nvSpPr>
        <p:spPr>
          <a:xfrm>
            <a:off x="33375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核对</a:t>
            </a:r>
            <a:endParaRPr lang="zh-CN" sz="840"/>
          </a:p>
        </p:txBody>
      </p:sp>
      <p:sp>
        <p:nvSpPr>
          <p:cNvPr id="28" name="!!stageBar4"/>
          <p:cNvSpPr/>
          <p:nvPr/>
        </p:nvSpPr>
        <p:spPr>
          <a:xfrm>
            <a:off x="42519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stageName4"/>
          <p:cNvSpPr txBox="1"/>
          <p:nvPr/>
        </p:nvSpPr>
        <p:spPr>
          <a:xfrm>
            <a:off x="42519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投入</a:t>
            </a:r>
            <a:endParaRPr lang="zh-CN" sz="840"/>
          </a:p>
        </p:txBody>
      </p:sp>
      <p:sp>
        <p:nvSpPr>
          <p:cNvPr id="30" name="!!stageBar5"/>
          <p:cNvSpPr/>
          <p:nvPr/>
        </p:nvSpPr>
        <p:spPr>
          <a:xfrm>
            <a:off x="51663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stageName5"/>
          <p:cNvSpPr txBox="1"/>
          <p:nvPr/>
        </p:nvSpPr>
        <p:spPr>
          <a:xfrm>
            <a:off x="51663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约定</a:t>
            </a:r>
            <a:endParaRPr lang="zh-CN" sz="840"/>
          </a:p>
        </p:txBody>
      </p:sp>
      <p:sp>
        <p:nvSpPr>
          <p:cNvPr id="32" name="文本_先在自己的空间里确认，再决定是否让对方看见。"/>
          <p:cNvSpPr txBox="1"/>
          <p:nvPr/>
        </p:nvSpPr>
        <p:spPr>
          <a:xfrm>
            <a:off x="3794760" y="2048256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3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70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先在自己的空间里确认，再决定是否让对方看见。</a:t>
            </a:r>
            <a:endParaRPr lang="zh-CN" sz="1700"/>
          </a:p>
        </p:txBody>
      </p:sp>
      <p:grpSp>
        <p:nvGrpSpPr>
          <p:cNvPr id="40" name="ANIM:privateBoundary"/>
          <p:cNvGrpSpPr/>
          <p:nvPr/>
        </p:nvGrpSpPr>
        <p:grpSpPr>
          <a:xfrm>
            <a:off x="3877056" y="2798064"/>
            <a:ext cx="3182112" cy="2093976"/>
            <a:chOff x="3877056" y="2798064"/>
            <a:chExt cx="3182112" cy="2093976"/>
          </a:xfrm>
        </p:grpSpPr>
        <p:sp>
          <p:nvSpPr>
            <p:cNvPr id="33" name="!!privateSpace"/>
            <p:cNvSpPr/>
            <p:nvPr/>
          </p:nvSpPr>
          <p:spPr>
            <a:xfrm>
              <a:off x="3877056" y="2798064"/>
              <a:ext cx="3182112" cy="2093976"/>
            </a:xfrm>
            <a:prstGeom prst="rect">
              <a:avLst/>
            </a:prstGeom>
            <a:solidFill>
              <a:srgbClr val="FCFBF8"/>
            </a:solidFill>
            <a:ln w="6985">
              <a:solidFill>
                <a:srgbClr val="E5E2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7" name="图标_lock"/>
            <p:cNvGrpSpPr/>
            <p:nvPr/>
          </p:nvGrpSpPr>
          <p:grpSpPr>
            <a:xfrm>
              <a:off x="4224802" y="3114354"/>
              <a:ext cx="306781" cy="390448"/>
              <a:chOff x="4224802" y="3114354"/>
              <a:chExt cx="306781" cy="390448"/>
            </a:xfrm>
          </p:grpSpPr>
          <p:sp>
            <p:nvSpPr>
              <p:cNvPr id="34" name="直角形状"/>
              <p:cNvSpPr/>
              <p:nvPr/>
            </p:nvSpPr>
            <p:spPr>
              <a:xfrm>
                <a:off x="4224802" y="3253800"/>
                <a:ext cx="306781" cy="251002"/>
              </a:xfrm>
              <a:prstGeom prst="rect">
                <a:avLst/>
              </a:prstGeom>
              <a:noFill/>
              <a:ln w="1016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原生矢量路径"/>
              <p:cNvSpPr/>
              <p:nvPr/>
            </p:nvSpPr>
            <p:spPr>
              <a:xfrm>
                <a:off x="4277791" y="3114354"/>
                <a:ext cx="200803" cy="128291"/>
              </a:xfrm>
              <a:custGeom>
                <a:avLst/>
                <a:gdLst/>
                <a:ahLst/>
                <a:cxnLst/>
                <a:rect l="l" t="t" r="r" b="b"/>
                <a:pathLst>
                  <a:path w="200803" h="128291">
                    <a:moveTo>
                      <a:pt x="0" y="128291"/>
                    </a:moveTo>
                    <a:lnTo>
                      <a:pt x="1929" y="103263"/>
                    </a:lnTo>
                    <a:lnTo>
                      <a:pt x="7643" y="79196"/>
                    </a:lnTo>
                    <a:lnTo>
                      <a:pt x="16921" y="57016"/>
                    </a:lnTo>
                    <a:lnTo>
                      <a:pt x="29407" y="37576"/>
                    </a:lnTo>
                    <a:lnTo>
                      <a:pt x="44622" y="21621"/>
                    </a:lnTo>
                    <a:lnTo>
                      <a:pt x="61980" y="9766"/>
                    </a:lnTo>
                    <a:lnTo>
                      <a:pt x="80814" y="2466"/>
                    </a:lnTo>
                    <a:lnTo>
                      <a:pt x="100401" y="0"/>
                    </a:lnTo>
                    <a:lnTo>
                      <a:pt x="119989" y="2466"/>
                    </a:lnTo>
                    <a:lnTo>
                      <a:pt x="138823" y="9766"/>
                    </a:lnTo>
                    <a:lnTo>
                      <a:pt x="156181" y="21621"/>
                    </a:lnTo>
                    <a:lnTo>
                      <a:pt x="171396" y="37576"/>
                    </a:lnTo>
                    <a:lnTo>
                      <a:pt x="183882" y="57016"/>
                    </a:lnTo>
                    <a:lnTo>
                      <a:pt x="193160" y="79196"/>
                    </a:lnTo>
                    <a:lnTo>
                      <a:pt x="198873" y="103263"/>
                    </a:lnTo>
                    <a:lnTo>
                      <a:pt x="200803" y="128291"/>
                    </a:lnTo>
                  </a:path>
                </a:pathLst>
              </a:custGeom>
              <a:noFill/>
              <a:ln w="1270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6" name="图解线条"/>
              <p:cNvCxnSpPr/>
              <p:nvPr/>
            </p:nvCxnSpPr>
            <p:spPr>
              <a:xfrm>
                <a:off x="4378192" y="3343046"/>
                <a:ext cx="0" cy="7809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_仅本人可见"/>
            <p:cNvSpPr txBox="1"/>
            <p:nvPr/>
          </p:nvSpPr>
          <p:spPr>
            <a:xfrm>
              <a:off x="4846320" y="3136392"/>
              <a:ext cx="1947672" cy="3749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47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3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仅本人可见</a:t>
              </a:r>
              <a:endParaRPr lang="zh-CN" sz="1730"/>
            </a:p>
          </p:txBody>
        </p:sp>
        <p:sp>
          <p:nvSpPr>
            <p:cNvPr id="39" name="文本_记录可以修改、保存，_也可以不共享。"/>
            <p:cNvSpPr txBox="1"/>
            <p:nvPr/>
          </p:nvSpPr>
          <p:spPr>
            <a:xfrm>
              <a:off x="4160520" y="3895344"/>
              <a:ext cx="2615184" cy="5943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1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记录可以修改、保存，</a:t>
              </a:r>
              <a:endParaRPr lang="zh-CN" sz="1410"/>
            </a:p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1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也可以不共享。</a:t>
              </a:r>
              <a:endParaRPr lang="zh-CN" sz="1410"/>
            </a:p>
          </p:txBody>
        </p:sp>
      </p:grpSp>
      <p:grpSp>
        <p:nvGrpSpPr>
          <p:cNvPr id="45" name="ANIM:partnerSpace"/>
          <p:cNvGrpSpPr/>
          <p:nvPr/>
        </p:nvGrpSpPr>
        <p:grpSpPr>
          <a:xfrm>
            <a:off x="9646920" y="3108960"/>
            <a:ext cx="1847088" cy="1344168"/>
            <a:chOff x="9646920" y="3108960"/>
            <a:chExt cx="1847088" cy="1344168"/>
          </a:xfrm>
        </p:grpSpPr>
        <p:grpSp>
          <p:nvGrpSpPr>
            <p:cNvPr id="43" name="角色_乙"/>
            <p:cNvGrpSpPr/>
            <p:nvPr/>
          </p:nvGrpSpPr>
          <p:grpSpPr>
            <a:xfrm>
              <a:off x="10259568" y="3108960"/>
              <a:ext cx="530352" cy="530352"/>
              <a:chOff x="10259568" y="3108960"/>
              <a:chExt cx="530352" cy="530352"/>
            </a:xfrm>
          </p:grpSpPr>
          <p:sp>
            <p:nvSpPr>
              <p:cNvPr id="41" name="语义节点"/>
              <p:cNvSpPr/>
              <p:nvPr/>
            </p:nvSpPr>
            <p:spPr>
              <a:xfrm>
                <a:off x="10259568" y="3108960"/>
                <a:ext cx="530352" cy="530352"/>
              </a:xfrm>
              <a:prstGeom prst="ellipse">
                <a:avLst/>
              </a:prstGeom>
              <a:solidFill>
                <a:srgbClr val="FCFBF8"/>
              </a:solidFill>
              <a:ln w="10160">
                <a:solidFill>
                  <a:srgbClr val="24241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文本_乙"/>
              <p:cNvSpPr txBox="1"/>
              <p:nvPr/>
            </p:nvSpPr>
            <p:spPr>
              <a:xfrm>
                <a:off x="10259568" y="3200400"/>
                <a:ext cx="530352" cy="30175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ts val="154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b="0">
                    <a:solidFill>
                      <a:srgbClr val="24241F"/>
                    </a:solidFill>
                    <a:latin typeface="Noto Sans SC Medium"/>
                    <a:ea typeface="Noto Sans SC Medium"/>
                    <a:cs typeface="Noto Sans SC Medium"/>
                  </a:rPr>
                  <a:t>乙</a:t>
                </a:r>
                <a:endParaRPr lang="zh-CN" sz="1400"/>
              </a:p>
            </p:txBody>
          </p:sp>
        </p:grpSp>
        <p:sp>
          <p:nvSpPr>
            <p:cNvPr id="44" name="文本_伴侣空间_共享前不可见"/>
            <p:cNvSpPr txBox="1"/>
            <p:nvPr/>
          </p:nvSpPr>
          <p:spPr>
            <a:xfrm>
              <a:off x="9646920" y="3895344"/>
              <a:ext cx="1847088" cy="5577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19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6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伴侣空间</a:t>
              </a:r>
              <a:endParaRPr lang="zh-CN" sz="1360"/>
            </a:p>
            <a:p>
              <a:pPr algn="ctr">
                <a:lnSpc>
                  <a:spcPts val="19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6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共享前不可见</a:t>
              </a:r>
              <a:endParaRPr lang="zh-CN" sz="1360"/>
            </a:p>
          </p:txBody>
        </p:sp>
      </p:grpSp>
      <p:grpSp>
        <p:nvGrpSpPr>
          <p:cNvPr id="50" name="ANIM:shareGate"/>
          <p:cNvGrpSpPr/>
          <p:nvPr/>
        </p:nvGrpSpPr>
        <p:grpSpPr>
          <a:xfrm>
            <a:off x="7287768" y="2752344"/>
            <a:ext cx="2496312" cy="1536192"/>
            <a:chOff x="7287768" y="2752344"/>
            <a:chExt cx="2496312" cy="1536192"/>
          </a:xfrm>
        </p:grpSpPr>
        <p:cxnSp>
          <p:nvCxnSpPr>
            <p:cNvPr id="46" name="流程连线"/>
            <p:cNvCxnSpPr/>
            <p:nvPr/>
          </p:nvCxnSpPr>
          <p:spPr>
            <a:xfrm>
              <a:off x="7287768" y="3429000"/>
              <a:ext cx="2496312" cy="0"/>
            </a:xfrm>
            <a:prstGeom prst="line">
              <a:avLst/>
            </a:prstGeom>
            <a:ln w="14604">
              <a:solidFill>
                <a:srgbClr val="8C2D1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原生矢量路径"/>
            <p:cNvSpPr/>
            <p:nvPr/>
          </p:nvSpPr>
          <p:spPr>
            <a:xfrm>
              <a:off x="9706125" y="3381205"/>
              <a:ext cx="77955" cy="95589"/>
            </a:xfrm>
            <a:custGeom>
              <a:avLst/>
              <a:gdLst/>
              <a:ahLst/>
              <a:cxnLst/>
              <a:rect l="l" t="t" r="r" b="b"/>
              <a:pathLst>
                <a:path w="77955" h="95589">
                  <a:moveTo>
                    <a:pt x="0" y="95589"/>
                  </a:moveTo>
                  <a:lnTo>
                    <a:pt x="77955" y="47795"/>
                  </a:lnTo>
                  <a:lnTo>
                    <a:pt x="0" y="0"/>
                  </a:lnTo>
                </a:path>
              </a:pathLst>
            </a:custGeom>
            <a:noFill/>
            <a:ln w="14604">
              <a:solidFill>
                <a:srgbClr val="8C2D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文本_本人主动共享"/>
            <p:cNvSpPr txBox="1"/>
            <p:nvPr/>
          </p:nvSpPr>
          <p:spPr>
            <a:xfrm>
              <a:off x="7461504" y="2752344"/>
              <a:ext cx="2212848" cy="3931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218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530" b="0">
                  <a:solidFill>
                    <a:srgbClr val="8C2D19"/>
                  </a:solidFill>
                  <a:latin typeface="Noto Sans SC Medium"/>
                  <a:ea typeface="Noto Sans SC Medium"/>
                  <a:cs typeface="Noto Sans SC Medium"/>
                </a:rPr>
                <a:t>本人主动共享</a:t>
              </a:r>
              <a:endParaRPr lang="zh-CN" sz="1530"/>
            </a:p>
          </p:txBody>
        </p:sp>
        <p:sp>
          <p:nvSpPr>
            <p:cNvPr id="49" name="文本_确认后，_才发起核对。"/>
            <p:cNvSpPr txBox="1"/>
            <p:nvPr/>
          </p:nvSpPr>
          <p:spPr>
            <a:xfrm>
              <a:off x="7461504" y="3703320"/>
              <a:ext cx="2212848" cy="5852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18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9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确认后，</a:t>
              </a:r>
              <a:endParaRPr lang="zh-CN" sz="1290"/>
            </a:p>
            <a:p>
              <a:pPr algn="ctr">
                <a:lnSpc>
                  <a:spcPts val="18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9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才发起核对。</a:t>
              </a:r>
              <a:endParaRPr lang="zh-CN" sz="1290"/>
            </a:p>
          </p:txBody>
        </p:sp>
      </p:grpSp>
      <p:cxnSp>
        <p:nvCxnSpPr>
          <p:cNvPr id="51" name="分隔细线"/>
          <p:cNvCxnSpPr/>
          <p:nvPr/>
        </p:nvCxnSpPr>
        <p:spPr>
          <a:xfrm>
            <a:off x="3877056" y="5230368"/>
            <a:ext cx="7534656" cy="0"/>
          </a:xfrm>
          <a:prstGeom prst="line">
            <a:avLst/>
          </a:prstGeom>
          <a:ln w="698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_拒绝共享，也不影响这条私人记录的保存。"/>
          <p:cNvSpPr txBox="1"/>
          <p:nvPr/>
        </p:nvSpPr>
        <p:spPr>
          <a:xfrm>
            <a:off x="3877056" y="5495544"/>
            <a:ext cx="753465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1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拒绝共享，也不影响这条私人记录的保存。</a:t>
            </a:r>
            <a:endParaRPr lang="zh-CN" sz="161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"/>
          <p:cNvSpPr txBox="1"/>
          <p:nvPr/>
        </p:nvSpPr>
        <p:spPr>
          <a:xfrm>
            <a:off x="594360" y="370332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产品演示  ／  S04 伴侣回应 · 截图预留</a:t>
            </a:r>
            <a:endParaRPr lang="zh-CN" sz="1070"/>
          </a:p>
        </p:txBody>
      </p:sp>
      <p:sp>
        <p:nvSpPr>
          <p:cNvPr id="3" name="!!chapterTitle0"/>
          <p:cNvSpPr txBox="1"/>
          <p:nvPr/>
        </p:nvSpPr>
        <p:spPr>
          <a:xfrm>
            <a:off x="7040880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问题界定</a:t>
            </a:r>
            <a:endParaRPr lang="zh-CN" sz="919"/>
          </a:p>
        </p:txBody>
      </p:sp>
      <p:sp>
        <p:nvSpPr>
          <p:cNvPr id="4" name="!!chapterTitle1"/>
          <p:cNvSpPr txBox="1"/>
          <p:nvPr/>
        </p:nvSpPr>
        <p:spPr>
          <a:xfrm>
            <a:off x="8065008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产品演示</a:t>
            </a:r>
            <a:endParaRPr lang="zh-CN" sz="919"/>
          </a:p>
        </p:txBody>
      </p:sp>
      <p:cxnSp>
        <p:nvCxnSpPr>
          <p:cNvPr id="5" name="!!activeNavRule"/>
          <p:cNvCxnSpPr/>
          <p:nvPr/>
        </p:nvCxnSpPr>
        <p:spPr>
          <a:xfrm>
            <a:off x="8065008" y="701344"/>
            <a:ext cx="570585" cy="0"/>
          </a:xfrm>
          <a:prstGeom prst="line">
            <a:avLst/>
          </a:prstGeom>
          <a:ln w="10160">
            <a:solidFill>
              <a:srgbClr val="8C2D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!!chapterTitle2"/>
          <p:cNvSpPr txBox="1"/>
          <p:nvPr/>
        </p:nvSpPr>
        <p:spPr>
          <a:xfrm>
            <a:off x="9089136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用户范围</a:t>
            </a:r>
            <a:endParaRPr lang="zh-CN" sz="919"/>
          </a:p>
        </p:txBody>
      </p:sp>
      <p:sp>
        <p:nvSpPr>
          <p:cNvPr id="7" name="!!chapterTitle3"/>
          <p:cNvSpPr txBox="1"/>
          <p:nvPr/>
        </p:nvSpPr>
        <p:spPr>
          <a:xfrm>
            <a:off x="10113264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验证计划</a:t>
            </a:r>
            <a:endParaRPr lang="zh-CN" sz="919"/>
          </a:p>
        </p:txBody>
      </p:sp>
      <p:sp>
        <p:nvSpPr>
          <p:cNvPr id="8" name="页码"/>
          <p:cNvSpPr txBox="1"/>
          <p:nvPr/>
        </p:nvSpPr>
        <p:spPr>
          <a:xfrm>
            <a:off x="11247120" y="374904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10</a:t>
            </a:r>
            <a:endParaRPr lang="zh-CN" sz="1070"/>
          </a:p>
        </p:txBody>
      </p:sp>
      <p:sp>
        <p:nvSpPr>
          <p:cNvPr id="9" name="主标题"/>
          <p:cNvSpPr txBox="1"/>
          <p:nvPr/>
        </p:nvSpPr>
        <p:spPr>
          <a:xfrm>
            <a:off x="576072" y="932688"/>
            <a:ext cx="10972800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1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核对不是审批，分歧可以留下。</a:t>
            </a:r>
            <a:endParaRPr lang="zh-CN" sz="3100"/>
          </a:p>
        </p:txBody>
      </p:sp>
      <p:cxnSp>
        <p:nvCxnSpPr>
          <p:cNvPr id="10" name="分隔细线"/>
          <p:cNvCxnSpPr/>
          <p:nvPr/>
        </p:nvCxnSpPr>
        <p:spPr>
          <a:xfrm>
            <a:off x="585216" y="6451092"/>
            <a:ext cx="1100937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!!phonePaper"/>
          <p:cNvSpPr/>
          <p:nvPr/>
        </p:nvSpPr>
        <p:spPr>
          <a:xfrm>
            <a:off x="8732520" y="1755648"/>
            <a:ext cx="2157984" cy="4416552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54" name="图片占位符 53">
            <a:extLst>
              <a:ext uri="{FF2B5EF4-FFF2-40B4-BE49-F238E27FC236}">
                <a16:creationId xmlns:a16="http://schemas.microsoft.com/office/drawing/2014/main" id="{7489B32E-CFD9-67F5-9894-BC29806DB9F7}"/>
              </a:ext>
            </a:extLst>
          </p:cNvPr>
          <p:cNvPicPr>
            <a:picLocks noGrp="1" noChangeAspect="1"/>
          </p:cNvPicPr>
          <p:nvPr>
            <p:ph type="pic" idx="50"/>
          </p:nvPr>
        </p:nvPicPr>
        <p:blipFill>
          <a:blip r:embed="rId2"/>
          <a:srcRect t="512" b="512"/>
          <a:stretch/>
        </p:blipFill>
        <p:spPr>
          <a:prstGeom prst="rect">
            <a:avLst/>
          </a:prstGeom>
          <a:solidFill>
            <a:srgbClr val="F0EEE8"/>
          </a:solidFill>
          <a:ln w="7620" cap="flat" cmpd="sng" algn="ctr">
            <a:solidFill>
              <a:srgbClr val="E5E2D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pic>
      <p:sp>
        <p:nvSpPr>
          <p:cNvPr id="19" name="!!phoneCaption"/>
          <p:cNvSpPr txBox="1"/>
          <p:nvPr/>
        </p:nvSpPr>
        <p:spPr>
          <a:xfrm>
            <a:off x="8823960" y="1554480"/>
            <a:ext cx="1975104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20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S04  ／  核对与分歧</a:t>
            </a:r>
            <a:endParaRPr lang="zh-CN" sz="1120"/>
          </a:p>
        </p:txBody>
      </p:sp>
      <p:sp>
        <p:nvSpPr>
          <p:cNvPr id="20" name="!!stageBar0"/>
          <p:cNvSpPr/>
          <p:nvPr/>
        </p:nvSpPr>
        <p:spPr>
          <a:xfrm>
            <a:off x="5943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stageName0"/>
          <p:cNvSpPr txBox="1"/>
          <p:nvPr/>
        </p:nvSpPr>
        <p:spPr>
          <a:xfrm>
            <a:off x="5943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原话</a:t>
            </a:r>
            <a:endParaRPr lang="zh-CN" sz="840"/>
          </a:p>
        </p:txBody>
      </p:sp>
      <p:sp>
        <p:nvSpPr>
          <p:cNvPr id="22" name="!!stageBar1"/>
          <p:cNvSpPr/>
          <p:nvPr/>
        </p:nvSpPr>
        <p:spPr>
          <a:xfrm>
            <a:off x="15087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stageName1"/>
          <p:cNvSpPr txBox="1"/>
          <p:nvPr/>
        </p:nvSpPr>
        <p:spPr>
          <a:xfrm>
            <a:off x="15087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拆解</a:t>
            </a:r>
            <a:endParaRPr lang="zh-CN" sz="840"/>
          </a:p>
        </p:txBody>
      </p:sp>
      <p:sp>
        <p:nvSpPr>
          <p:cNvPr id="24" name="!!stageBar2"/>
          <p:cNvSpPr/>
          <p:nvPr/>
        </p:nvSpPr>
        <p:spPr>
          <a:xfrm>
            <a:off x="24231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stageName2"/>
          <p:cNvSpPr txBox="1"/>
          <p:nvPr/>
        </p:nvSpPr>
        <p:spPr>
          <a:xfrm>
            <a:off x="24231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私密</a:t>
            </a:r>
            <a:endParaRPr lang="zh-CN" sz="840"/>
          </a:p>
        </p:txBody>
      </p:sp>
      <p:sp>
        <p:nvSpPr>
          <p:cNvPr id="26" name="!!stageBar3"/>
          <p:cNvSpPr/>
          <p:nvPr/>
        </p:nvSpPr>
        <p:spPr>
          <a:xfrm>
            <a:off x="3337560" y="6190488"/>
            <a:ext cx="566928" cy="32004"/>
          </a:xfrm>
          <a:prstGeom prst="rect">
            <a:avLst/>
          </a:prstGeom>
          <a:solidFill>
            <a:srgbClr val="8C2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stageName3"/>
          <p:cNvSpPr txBox="1"/>
          <p:nvPr/>
        </p:nvSpPr>
        <p:spPr>
          <a:xfrm>
            <a:off x="33375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8C2D19"/>
                </a:solidFill>
                <a:latin typeface="Noto Sans SC"/>
                <a:ea typeface="Noto Sans SC"/>
                <a:cs typeface="Noto Sans SC"/>
              </a:rPr>
              <a:t>核对</a:t>
            </a:r>
            <a:endParaRPr lang="zh-CN" sz="840"/>
          </a:p>
        </p:txBody>
      </p:sp>
      <p:sp>
        <p:nvSpPr>
          <p:cNvPr id="28" name="!!stageBar4"/>
          <p:cNvSpPr/>
          <p:nvPr/>
        </p:nvSpPr>
        <p:spPr>
          <a:xfrm>
            <a:off x="42519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stageName4"/>
          <p:cNvSpPr txBox="1"/>
          <p:nvPr/>
        </p:nvSpPr>
        <p:spPr>
          <a:xfrm>
            <a:off x="42519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投入</a:t>
            </a:r>
            <a:endParaRPr lang="zh-CN" sz="840"/>
          </a:p>
        </p:txBody>
      </p:sp>
      <p:sp>
        <p:nvSpPr>
          <p:cNvPr id="30" name="!!stageBar5"/>
          <p:cNvSpPr/>
          <p:nvPr/>
        </p:nvSpPr>
        <p:spPr>
          <a:xfrm>
            <a:off x="51663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stageName5"/>
          <p:cNvSpPr txBox="1"/>
          <p:nvPr/>
        </p:nvSpPr>
        <p:spPr>
          <a:xfrm>
            <a:off x="51663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约定</a:t>
            </a:r>
            <a:endParaRPr lang="zh-CN" sz="840"/>
          </a:p>
        </p:txBody>
      </p:sp>
      <p:grpSp>
        <p:nvGrpSpPr>
          <p:cNvPr id="35" name="ANIM:receive"/>
          <p:cNvGrpSpPr/>
          <p:nvPr/>
        </p:nvGrpSpPr>
        <p:grpSpPr>
          <a:xfrm>
            <a:off x="594360" y="3429000"/>
            <a:ext cx="1975104" cy="1965960"/>
            <a:chOff x="594360" y="3429000"/>
            <a:chExt cx="1975104" cy="1965960"/>
          </a:xfrm>
        </p:grpSpPr>
        <p:sp>
          <p:nvSpPr>
            <p:cNvPr id="32" name="语义节点"/>
            <p:cNvSpPr/>
            <p:nvPr/>
          </p:nvSpPr>
          <p:spPr>
            <a:xfrm>
              <a:off x="685800" y="3429000"/>
              <a:ext cx="1033271" cy="1033271"/>
            </a:xfrm>
            <a:prstGeom prst="ellipse">
              <a:avLst/>
            </a:prstGeom>
            <a:solidFill>
              <a:srgbClr val="FCFBF8"/>
            </a:solidFill>
            <a:ln w="11430">
              <a:solidFill>
                <a:srgbClr val="2424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文本_收到"/>
            <p:cNvSpPr txBox="1"/>
            <p:nvPr/>
          </p:nvSpPr>
          <p:spPr>
            <a:xfrm>
              <a:off x="685800" y="3758184"/>
              <a:ext cx="1033271" cy="3383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22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收到</a:t>
              </a:r>
              <a:endParaRPr lang="zh-CN" sz="1600"/>
            </a:p>
          </p:txBody>
        </p:sp>
        <p:sp>
          <p:nvSpPr>
            <p:cNvPr id="34" name="文本_共享记录_“想好菜单”"/>
            <p:cNvSpPr txBox="1"/>
            <p:nvPr/>
          </p:nvSpPr>
          <p:spPr>
            <a:xfrm>
              <a:off x="594360" y="4791456"/>
              <a:ext cx="1975104" cy="6035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97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8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共享记录</a:t>
              </a:r>
              <a:endParaRPr lang="zh-CN" sz="1380"/>
            </a:p>
            <a:p>
              <a:pPr algn="l">
                <a:lnSpc>
                  <a:spcPts val="197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8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“想好菜单”</a:t>
              </a:r>
              <a:endParaRPr lang="zh-CN" sz="1380"/>
            </a:p>
          </p:txBody>
        </p:sp>
      </p:grpSp>
      <p:grpSp>
        <p:nvGrpSpPr>
          <p:cNvPr id="40" name="ANIM:reply0"/>
          <p:cNvGrpSpPr/>
          <p:nvPr/>
        </p:nvGrpSpPr>
        <p:grpSpPr>
          <a:xfrm>
            <a:off x="1947672" y="2331720"/>
            <a:ext cx="5678424" cy="1609343"/>
            <a:chOff x="1947672" y="2331720"/>
            <a:chExt cx="5678424" cy="1609343"/>
          </a:xfrm>
        </p:grpSpPr>
        <p:sp>
          <p:nvSpPr>
            <p:cNvPr id="36" name="原生矢量路径"/>
            <p:cNvSpPr/>
            <p:nvPr/>
          </p:nvSpPr>
          <p:spPr>
            <a:xfrm>
              <a:off x="1947672" y="2624328"/>
              <a:ext cx="1188720" cy="1316735"/>
            </a:xfrm>
            <a:custGeom>
              <a:avLst/>
              <a:gdLst/>
              <a:ahLst/>
              <a:cxnLst/>
              <a:rect l="l" t="t" r="r" b="b"/>
              <a:pathLst>
                <a:path w="1188720" h="1316735">
                  <a:moveTo>
                    <a:pt x="0" y="1316735"/>
                  </a:moveTo>
                  <a:lnTo>
                    <a:pt x="585216" y="1316735"/>
                  </a:lnTo>
                  <a:lnTo>
                    <a:pt x="585216" y="0"/>
                  </a:lnTo>
                  <a:lnTo>
                    <a:pt x="1188720" y="0"/>
                  </a:lnTo>
                </a:path>
              </a:pathLst>
            </a:custGeom>
            <a:noFill/>
            <a:ln w="12700">
              <a:solidFill>
                <a:srgbClr val="6E6D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语义节点"/>
            <p:cNvSpPr/>
            <p:nvPr/>
          </p:nvSpPr>
          <p:spPr>
            <a:xfrm>
              <a:off x="3118104" y="2569464"/>
              <a:ext cx="91440" cy="91440"/>
            </a:xfrm>
            <a:prstGeom prst="ellipse">
              <a:avLst/>
            </a:prstGeom>
            <a:solidFill>
              <a:srgbClr val="6E6D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文本_确认同意"/>
            <p:cNvSpPr txBox="1"/>
            <p:nvPr/>
          </p:nvSpPr>
          <p:spPr>
            <a:xfrm>
              <a:off x="3465576" y="2331720"/>
              <a:ext cx="4160520" cy="40233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71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90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确认同意</a:t>
              </a:r>
              <a:endParaRPr lang="zh-CN" sz="1900"/>
            </a:p>
          </p:txBody>
        </p:sp>
        <p:sp>
          <p:nvSpPr>
            <p:cNvPr id="39" name="文本_只表示此项双方认可。"/>
            <p:cNvSpPr txBox="1"/>
            <p:nvPr/>
          </p:nvSpPr>
          <p:spPr>
            <a:xfrm>
              <a:off x="3465576" y="2862072"/>
              <a:ext cx="4160520" cy="3931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1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只表示此项双方认可。</a:t>
              </a:r>
              <a:endParaRPr lang="zh-CN" sz="1410"/>
            </a:p>
          </p:txBody>
        </p:sp>
      </p:grpSp>
      <p:grpSp>
        <p:nvGrpSpPr>
          <p:cNvPr id="45" name="ANIM:reply1"/>
          <p:cNvGrpSpPr/>
          <p:nvPr/>
        </p:nvGrpSpPr>
        <p:grpSpPr>
          <a:xfrm>
            <a:off x="1947672" y="3429000"/>
            <a:ext cx="5678424" cy="923544"/>
            <a:chOff x="1947672" y="3429000"/>
            <a:chExt cx="5678424" cy="923544"/>
          </a:xfrm>
        </p:grpSpPr>
        <p:sp>
          <p:nvSpPr>
            <p:cNvPr id="41" name="原生矢量路径"/>
            <p:cNvSpPr/>
            <p:nvPr/>
          </p:nvSpPr>
          <p:spPr>
            <a:xfrm>
              <a:off x="1947672" y="3721608"/>
              <a:ext cx="1188720" cy="219455"/>
            </a:xfrm>
            <a:custGeom>
              <a:avLst/>
              <a:gdLst/>
              <a:ahLst/>
              <a:cxnLst/>
              <a:rect l="l" t="t" r="r" b="b"/>
              <a:pathLst>
                <a:path w="1188720" h="219455">
                  <a:moveTo>
                    <a:pt x="0" y="219455"/>
                  </a:moveTo>
                  <a:lnTo>
                    <a:pt x="585216" y="219455"/>
                  </a:lnTo>
                  <a:lnTo>
                    <a:pt x="585216" y="0"/>
                  </a:lnTo>
                  <a:lnTo>
                    <a:pt x="1188720" y="0"/>
                  </a:lnTo>
                </a:path>
              </a:pathLst>
            </a:custGeom>
            <a:noFill/>
            <a:ln w="12700">
              <a:solidFill>
                <a:srgbClr val="6E6D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语义节点"/>
            <p:cNvSpPr/>
            <p:nvPr/>
          </p:nvSpPr>
          <p:spPr>
            <a:xfrm>
              <a:off x="3118104" y="3666744"/>
              <a:ext cx="91440" cy="91440"/>
            </a:xfrm>
            <a:prstGeom prst="ellipse">
              <a:avLst/>
            </a:prstGeom>
            <a:solidFill>
              <a:srgbClr val="6E6D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文本_提出修改"/>
            <p:cNvSpPr txBox="1"/>
            <p:nvPr/>
          </p:nvSpPr>
          <p:spPr>
            <a:xfrm>
              <a:off x="3465576" y="3429000"/>
              <a:ext cx="4160520" cy="40233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71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90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提出修改</a:t>
              </a:r>
              <a:endParaRPr lang="zh-CN" sz="1900"/>
            </a:p>
          </p:txBody>
        </p:sp>
        <p:sp>
          <p:nvSpPr>
            <p:cNvPr id="44" name="文本_按本人理解补充或修正。"/>
            <p:cNvSpPr txBox="1"/>
            <p:nvPr/>
          </p:nvSpPr>
          <p:spPr>
            <a:xfrm>
              <a:off x="3465576" y="3959352"/>
              <a:ext cx="4160520" cy="3931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1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按本人理解补充或修正。</a:t>
              </a:r>
              <a:endParaRPr lang="zh-CN" sz="1410"/>
            </a:p>
          </p:txBody>
        </p:sp>
      </p:grpSp>
      <p:grpSp>
        <p:nvGrpSpPr>
          <p:cNvPr id="50" name="ANIM:reply2"/>
          <p:cNvGrpSpPr/>
          <p:nvPr/>
        </p:nvGrpSpPr>
        <p:grpSpPr>
          <a:xfrm>
            <a:off x="1947672" y="3941063"/>
            <a:ext cx="5678424" cy="1508760"/>
            <a:chOff x="1947672" y="3941063"/>
            <a:chExt cx="5678424" cy="1508760"/>
          </a:xfrm>
        </p:grpSpPr>
        <p:sp>
          <p:nvSpPr>
            <p:cNvPr id="46" name="原生矢量路径"/>
            <p:cNvSpPr/>
            <p:nvPr/>
          </p:nvSpPr>
          <p:spPr>
            <a:xfrm>
              <a:off x="1947672" y="3941063"/>
              <a:ext cx="1188720" cy="877825"/>
            </a:xfrm>
            <a:custGeom>
              <a:avLst/>
              <a:gdLst/>
              <a:ahLst/>
              <a:cxnLst/>
              <a:rect l="l" t="t" r="r" b="b"/>
              <a:pathLst>
                <a:path w="1188720" h="877825">
                  <a:moveTo>
                    <a:pt x="0" y="0"/>
                  </a:moveTo>
                  <a:lnTo>
                    <a:pt x="585216" y="0"/>
                  </a:lnTo>
                  <a:lnTo>
                    <a:pt x="585216" y="877825"/>
                  </a:lnTo>
                  <a:lnTo>
                    <a:pt x="1188720" y="877825"/>
                  </a:lnTo>
                </a:path>
              </a:pathLst>
            </a:custGeom>
            <a:noFill/>
            <a:ln w="12700">
              <a:solidFill>
                <a:srgbClr val="8C2D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语义节点"/>
            <p:cNvSpPr/>
            <p:nvPr/>
          </p:nvSpPr>
          <p:spPr>
            <a:xfrm>
              <a:off x="3118104" y="4764023"/>
              <a:ext cx="91440" cy="91440"/>
            </a:xfrm>
            <a:prstGeom prst="ellipse">
              <a:avLst/>
            </a:prstGeom>
            <a:solidFill>
              <a:srgbClr val="8C2D1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文本_保留分歧"/>
            <p:cNvSpPr txBox="1"/>
            <p:nvPr/>
          </p:nvSpPr>
          <p:spPr>
            <a:xfrm>
              <a:off x="3465576" y="4526279"/>
              <a:ext cx="4160520" cy="40233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71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900" b="0">
                  <a:solidFill>
                    <a:srgbClr val="8C2D19"/>
                  </a:solidFill>
                  <a:latin typeface="Noto Sans SC Medium"/>
                  <a:ea typeface="Noto Sans SC Medium"/>
                  <a:cs typeface="Noto Sans SC Medium"/>
                </a:rPr>
                <a:t>保留分歧</a:t>
              </a:r>
              <a:endParaRPr lang="zh-CN" sz="1900"/>
            </a:p>
          </p:txBody>
        </p:sp>
        <p:sp>
          <p:nvSpPr>
            <p:cNvPr id="49" name="文本_可以不回应，不强迫讨论。"/>
            <p:cNvSpPr txBox="1"/>
            <p:nvPr/>
          </p:nvSpPr>
          <p:spPr>
            <a:xfrm>
              <a:off x="3465576" y="5056631"/>
              <a:ext cx="4160520" cy="3931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1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可以不回应，不强迫讨论。</a:t>
              </a:r>
              <a:endParaRPr lang="zh-CN" sz="1410"/>
            </a:p>
          </p:txBody>
        </p:sp>
      </p:grpSp>
      <p:cxnSp>
        <p:nvCxnSpPr>
          <p:cNvPr id="51" name="分隔细线"/>
          <p:cNvCxnSpPr/>
          <p:nvPr/>
        </p:nvCxnSpPr>
        <p:spPr>
          <a:xfrm>
            <a:off x="594360" y="5687568"/>
            <a:ext cx="7114032" cy="0"/>
          </a:xfrm>
          <a:prstGeom prst="line">
            <a:avLst/>
          </a:prstGeom>
          <a:ln w="698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_未确认 ≠ 没有付出；不会因此删掉本人记录。"/>
          <p:cNvSpPr txBox="1"/>
          <p:nvPr/>
        </p:nvSpPr>
        <p:spPr>
          <a:xfrm>
            <a:off x="594360" y="5879592"/>
            <a:ext cx="7114032" cy="2834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未确认 ≠ 没有付出；不会因此删掉本人记录。</a:t>
            </a:r>
            <a:endParaRPr lang="zh-CN" sz="13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4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4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4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4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"/>
          <p:cNvSpPr txBox="1"/>
          <p:nvPr/>
        </p:nvSpPr>
        <p:spPr>
          <a:xfrm>
            <a:off x="594360" y="370332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产品演示  ／  S05 独立投入表达 · 截图预留</a:t>
            </a:r>
            <a:endParaRPr lang="zh-CN" sz="1070"/>
          </a:p>
        </p:txBody>
      </p:sp>
      <p:sp>
        <p:nvSpPr>
          <p:cNvPr id="3" name="!!chapterTitle0"/>
          <p:cNvSpPr txBox="1"/>
          <p:nvPr/>
        </p:nvSpPr>
        <p:spPr>
          <a:xfrm>
            <a:off x="7040880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问题界定</a:t>
            </a:r>
            <a:endParaRPr lang="zh-CN" sz="919"/>
          </a:p>
        </p:txBody>
      </p:sp>
      <p:sp>
        <p:nvSpPr>
          <p:cNvPr id="4" name="!!chapterTitle1"/>
          <p:cNvSpPr txBox="1"/>
          <p:nvPr/>
        </p:nvSpPr>
        <p:spPr>
          <a:xfrm>
            <a:off x="8065008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产品演示</a:t>
            </a:r>
            <a:endParaRPr lang="zh-CN" sz="919"/>
          </a:p>
        </p:txBody>
      </p:sp>
      <p:cxnSp>
        <p:nvCxnSpPr>
          <p:cNvPr id="5" name="!!activeNavRule"/>
          <p:cNvCxnSpPr/>
          <p:nvPr/>
        </p:nvCxnSpPr>
        <p:spPr>
          <a:xfrm>
            <a:off x="8065008" y="701344"/>
            <a:ext cx="570585" cy="0"/>
          </a:xfrm>
          <a:prstGeom prst="line">
            <a:avLst/>
          </a:prstGeom>
          <a:ln w="10160">
            <a:solidFill>
              <a:srgbClr val="8C2D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!!chapterTitle2"/>
          <p:cNvSpPr txBox="1"/>
          <p:nvPr/>
        </p:nvSpPr>
        <p:spPr>
          <a:xfrm>
            <a:off x="9089136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用户范围</a:t>
            </a:r>
            <a:endParaRPr lang="zh-CN" sz="919"/>
          </a:p>
        </p:txBody>
      </p:sp>
      <p:sp>
        <p:nvSpPr>
          <p:cNvPr id="7" name="!!chapterTitle3"/>
          <p:cNvSpPr txBox="1"/>
          <p:nvPr/>
        </p:nvSpPr>
        <p:spPr>
          <a:xfrm>
            <a:off x="10113264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验证计划</a:t>
            </a:r>
            <a:endParaRPr lang="zh-CN" sz="919"/>
          </a:p>
        </p:txBody>
      </p:sp>
      <p:sp>
        <p:nvSpPr>
          <p:cNvPr id="8" name="页码"/>
          <p:cNvSpPr txBox="1"/>
          <p:nvPr/>
        </p:nvSpPr>
        <p:spPr>
          <a:xfrm>
            <a:off x="11247120" y="374904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11</a:t>
            </a:r>
            <a:endParaRPr lang="zh-CN" sz="1070"/>
          </a:p>
        </p:txBody>
      </p:sp>
      <p:sp>
        <p:nvSpPr>
          <p:cNvPr id="9" name="主标题"/>
          <p:cNvSpPr txBox="1"/>
          <p:nvPr/>
        </p:nvSpPr>
        <p:spPr>
          <a:xfrm>
            <a:off x="576072" y="932688"/>
            <a:ext cx="10972800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100" b="0" dirty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投入由本人表达，三个字段互不折算。</a:t>
            </a:r>
            <a:endParaRPr lang="zh-CN" sz="3100" dirty="0"/>
          </a:p>
        </p:txBody>
      </p:sp>
      <p:cxnSp>
        <p:nvCxnSpPr>
          <p:cNvPr id="10" name="分隔细线"/>
          <p:cNvCxnSpPr/>
          <p:nvPr/>
        </p:nvCxnSpPr>
        <p:spPr>
          <a:xfrm>
            <a:off x="585216" y="6451092"/>
            <a:ext cx="1100937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!!phonePaper"/>
          <p:cNvSpPr/>
          <p:nvPr/>
        </p:nvSpPr>
        <p:spPr>
          <a:xfrm>
            <a:off x="850392" y="1755648"/>
            <a:ext cx="2157984" cy="4416552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62" name="图片占位符 61">
            <a:extLst>
              <a:ext uri="{FF2B5EF4-FFF2-40B4-BE49-F238E27FC236}">
                <a16:creationId xmlns:a16="http://schemas.microsoft.com/office/drawing/2014/main" id="{8124B7C0-1B94-257A-2DD4-985690D64A17}"/>
              </a:ext>
            </a:extLst>
          </p:cNvPr>
          <p:cNvPicPr>
            <a:picLocks noGrp="1" noChangeAspect="1"/>
          </p:cNvPicPr>
          <p:nvPr>
            <p:ph type="pic" idx="50"/>
          </p:nvPr>
        </p:nvPicPr>
        <p:blipFill>
          <a:blip r:embed="rId2"/>
          <a:srcRect t="504" b="504"/>
          <a:stretch>
            <a:fillRect/>
          </a:stretch>
        </p:blipFill>
        <p:spPr>
          <a:prstGeom prst="rect">
            <a:avLst/>
          </a:prstGeom>
          <a:solidFill>
            <a:srgbClr val="F0EEE8"/>
          </a:solidFill>
          <a:ln w="7620" cap="flat" cmpd="sng" algn="ctr">
            <a:solidFill>
              <a:srgbClr val="E5E2D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pic>
      <p:sp>
        <p:nvSpPr>
          <p:cNvPr id="19" name="!!phoneCaption"/>
          <p:cNvSpPr txBox="1"/>
          <p:nvPr/>
        </p:nvSpPr>
        <p:spPr>
          <a:xfrm>
            <a:off x="941832" y="1554480"/>
            <a:ext cx="1975104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20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S05  ／  耗时与心力</a:t>
            </a:r>
            <a:endParaRPr lang="zh-CN" sz="1120"/>
          </a:p>
        </p:txBody>
      </p:sp>
      <p:sp>
        <p:nvSpPr>
          <p:cNvPr id="20" name="!!stageBar0"/>
          <p:cNvSpPr/>
          <p:nvPr/>
        </p:nvSpPr>
        <p:spPr>
          <a:xfrm>
            <a:off x="5943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stageName0"/>
          <p:cNvSpPr txBox="1"/>
          <p:nvPr/>
        </p:nvSpPr>
        <p:spPr>
          <a:xfrm>
            <a:off x="5943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原话</a:t>
            </a:r>
            <a:endParaRPr lang="zh-CN" sz="840"/>
          </a:p>
        </p:txBody>
      </p:sp>
      <p:sp>
        <p:nvSpPr>
          <p:cNvPr id="22" name="!!stageBar1"/>
          <p:cNvSpPr/>
          <p:nvPr/>
        </p:nvSpPr>
        <p:spPr>
          <a:xfrm>
            <a:off x="15087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stageName1"/>
          <p:cNvSpPr txBox="1"/>
          <p:nvPr/>
        </p:nvSpPr>
        <p:spPr>
          <a:xfrm>
            <a:off x="15087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拆解</a:t>
            </a:r>
            <a:endParaRPr lang="zh-CN" sz="840"/>
          </a:p>
        </p:txBody>
      </p:sp>
      <p:sp>
        <p:nvSpPr>
          <p:cNvPr id="24" name="!!stageBar2"/>
          <p:cNvSpPr/>
          <p:nvPr/>
        </p:nvSpPr>
        <p:spPr>
          <a:xfrm>
            <a:off x="24231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stageName2"/>
          <p:cNvSpPr txBox="1"/>
          <p:nvPr/>
        </p:nvSpPr>
        <p:spPr>
          <a:xfrm>
            <a:off x="24231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私密</a:t>
            </a:r>
            <a:endParaRPr lang="zh-CN" sz="840"/>
          </a:p>
        </p:txBody>
      </p:sp>
      <p:sp>
        <p:nvSpPr>
          <p:cNvPr id="26" name="!!stageBar3"/>
          <p:cNvSpPr/>
          <p:nvPr/>
        </p:nvSpPr>
        <p:spPr>
          <a:xfrm>
            <a:off x="33375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stageName3"/>
          <p:cNvSpPr txBox="1"/>
          <p:nvPr/>
        </p:nvSpPr>
        <p:spPr>
          <a:xfrm>
            <a:off x="33375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核对</a:t>
            </a:r>
            <a:endParaRPr lang="zh-CN" sz="840"/>
          </a:p>
        </p:txBody>
      </p:sp>
      <p:sp>
        <p:nvSpPr>
          <p:cNvPr id="28" name="!!stageBar4"/>
          <p:cNvSpPr/>
          <p:nvPr/>
        </p:nvSpPr>
        <p:spPr>
          <a:xfrm>
            <a:off x="4251960" y="6190488"/>
            <a:ext cx="566928" cy="32004"/>
          </a:xfrm>
          <a:prstGeom prst="rect">
            <a:avLst/>
          </a:prstGeom>
          <a:solidFill>
            <a:srgbClr val="8C2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stageName4"/>
          <p:cNvSpPr txBox="1"/>
          <p:nvPr/>
        </p:nvSpPr>
        <p:spPr>
          <a:xfrm>
            <a:off x="42519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8C2D19"/>
                </a:solidFill>
                <a:latin typeface="Noto Sans SC"/>
                <a:ea typeface="Noto Sans SC"/>
                <a:cs typeface="Noto Sans SC"/>
              </a:rPr>
              <a:t>投入</a:t>
            </a:r>
            <a:endParaRPr lang="zh-CN" sz="840"/>
          </a:p>
        </p:txBody>
      </p:sp>
      <p:sp>
        <p:nvSpPr>
          <p:cNvPr id="30" name="!!stageBar5"/>
          <p:cNvSpPr/>
          <p:nvPr/>
        </p:nvSpPr>
        <p:spPr>
          <a:xfrm>
            <a:off x="51663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stageName5"/>
          <p:cNvSpPr txBox="1"/>
          <p:nvPr/>
        </p:nvSpPr>
        <p:spPr>
          <a:xfrm>
            <a:off x="51663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约定</a:t>
            </a:r>
            <a:endParaRPr lang="zh-CN" sz="840"/>
          </a:p>
        </p:txBody>
      </p:sp>
      <p:grpSp>
        <p:nvGrpSpPr>
          <p:cNvPr id="40" name="ANIM:estimate0"/>
          <p:cNvGrpSpPr/>
          <p:nvPr/>
        </p:nvGrpSpPr>
        <p:grpSpPr>
          <a:xfrm>
            <a:off x="3767328" y="2486802"/>
            <a:ext cx="2377440" cy="3264774"/>
            <a:chOff x="3767328" y="2486802"/>
            <a:chExt cx="2377440" cy="3264774"/>
          </a:xfrm>
        </p:grpSpPr>
        <p:grpSp>
          <p:nvGrpSpPr>
            <p:cNvPr id="35" name="图标_clock"/>
            <p:cNvGrpSpPr/>
            <p:nvPr/>
          </p:nvGrpSpPr>
          <p:grpSpPr>
            <a:xfrm>
              <a:off x="3940698" y="2486802"/>
              <a:ext cx="576803" cy="576803"/>
              <a:chOff x="3940698" y="2486802"/>
              <a:chExt cx="576803" cy="576803"/>
            </a:xfrm>
          </p:grpSpPr>
          <p:sp>
            <p:nvSpPr>
              <p:cNvPr id="32" name="语义节点"/>
              <p:cNvSpPr/>
              <p:nvPr/>
            </p:nvSpPr>
            <p:spPr>
              <a:xfrm>
                <a:off x="3940698" y="2486802"/>
                <a:ext cx="576803" cy="576803"/>
              </a:xfrm>
              <a:prstGeom prst="ellipse">
                <a:avLst/>
              </a:prstGeom>
              <a:noFill/>
              <a:ln w="889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3" name="图解线条"/>
              <p:cNvCxnSpPr/>
              <p:nvPr/>
            </p:nvCxnSpPr>
            <p:spPr>
              <a:xfrm>
                <a:off x="4229100" y="2593055"/>
                <a:ext cx="0" cy="189738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图解线条"/>
              <p:cNvCxnSpPr/>
              <p:nvPr/>
            </p:nvCxnSpPr>
            <p:spPr>
              <a:xfrm>
                <a:off x="4229100" y="2782793"/>
                <a:ext cx="144200" cy="83485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文本_单次耗时"/>
            <p:cNvSpPr txBox="1"/>
            <p:nvPr/>
          </p:nvSpPr>
          <p:spPr>
            <a:xfrm>
              <a:off x="3767328" y="3493008"/>
              <a:ext cx="2340864" cy="40233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67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7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单次耗时</a:t>
              </a:r>
              <a:endParaRPr lang="zh-CN" sz="1870"/>
            </a:p>
          </p:txBody>
        </p:sp>
        <p:cxnSp>
          <p:nvCxnSpPr>
            <p:cNvPr id="37" name="分隔细线"/>
            <p:cNvCxnSpPr/>
            <p:nvPr/>
          </p:nvCxnSpPr>
          <p:spPr>
            <a:xfrm>
              <a:off x="3767328" y="4032504"/>
              <a:ext cx="2267712" cy="0"/>
            </a:xfrm>
            <a:prstGeom prst="line">
              <a:avLst/>
            </a:prstGeom>
            <a:ln w="6985">
              <a:solidFill>
                <a:srgbClr val="D4D2C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_—  分钟"/>
            <p:cNvSpPr txBox="1"/>
            <p:nvPr/>
          </p:nvSpPr>
          <p:spPr>
            <a:xfrm>
              <a:off x="3767328" y="4306824"/>
              <a:ext cx="2340864" cy="3931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3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20" b="0">
                  <a:solidFill>
                    <a:srgbClr val="8C2D19"/>
                  </a:solidFill>
                  <a:latin typeface="Noto Sans SC Medium"/>
                  <a:ea typeface="Noto Sans SC Medium"/>
                  <a:cs typeface="Noto Sans SC Medium"/>
                </a:rPr>
                <a:t>—  分钟</a:t>
              </a:r>
              <a:endParaRPr lang="zh-CN" sz="1620"/>
            </a:p>
          </p:txBody>
        </p:sp>
        <p:sp>
          <p:nvSpPr>
            <p:cNvPr id="39" name="文本_按次记录，不把“想了三天”_折算成连续劳动三天。"/>
            <p:cNvSpPr txBox="1"/>
            <p:nvPr/>
          </p:nvSpPr>
          <p:spPr>
            <a:xfrm>
              <a:off x="3767328" y="4910328"/>
              <a:ext cx="2377440" cy="8412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2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按次记录，不把“想了三天”</a:t>
              </a:r>
              <a:endParaRPr lang="zh-CN" sz="1320"/>
            </a:p>
            <a:p>
              <a:pPr algn="l">
                <a:lnSpc>
                  <a:spcPts val="2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2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折算成连续劳动三天。</a:t>
              </a:r>
              <a:endParaRPr lang="zh-CN" sz="1320"/>
            </a:p>
          </p:txBody>
        </p:sp>
      </p:grpSp>
      <p:grpSp>
        <p:nvGrpSpPr>
          <p:cNvPr id="52" name="ANIM:estimate1"/>
          <p:cNvGrpSpPr/>
          <p:nvPr/>
        </p:nvGrpSpPr>
        <p:grpSpPr>
          <a:xfrm>
            <a:off x="6428232" y="2532339"/>
            <a:ext cx="2377440" cy="3219237"/>
            <a:chOff x="6428232" y="2532339"/>
            <a:chExt cx="2377440" cy="3219237"/>
          </a:xfrm>
        </p:grpSpPr>
        <p:grpSp>
          <p:nvGrpSpPr>
            <p:cNvPr id="47" name="图标_repeat"/>
            <p:cNvGrpSpPr/>
            <p:nvPr/>
          </p:nvGrpSpPr>
          <p:grpSpPr>
            <a:xfrm>
              <a:off x="6616781" y="2532339"/>
              <a:ext cx="546445" cy="485729"/>
              <a:chOff x="6616781" y="2532339"/>
              <a:chExt cx="546445" cy="485729"/>
            </a:xfrm>
          </p:grpSpPr>
          <p:sp>
            <p:nvSpPr>
              <p:cNvPr id="41" name="原生矢量路径"/>
              <p:cNvSpPr/>
              <p:nvPr/>
            </p:nvSpPr>
            <p:spPr>
              <a:xfrm>
                <a:off x="6662318" y="2547518"/>
                <a:ext cx="500908" cy="136611"/>
              </a:xfrm>
              <a:custGeom>
                <a:avLst/>
                <a:gdLst/>
                <a:ahLst/>
                <a:cxnLst/>
                <a:rect l="l" t="t" r="r" b="b"/>
                <a:pathLst>
                  <a:path w="500908" h="136611">
                    <a:moveTo>
                      <a:pt x="0" y="129022"/>
                    </a:moveTo>
                    <a:lnTo>
                      <a:pt x="151790" y="0"/>
                    </a:lnTo>
                    <a:lnTo>
                      <a:pt x="402244" y="0"/>
                    </a:lnTo>
                    <a:lnTo>
                      <a:pt x="500908" y="136611"/>
                    </a:lnTo>
                  </a:path>
                </a:pathLst>
              </a:custGeom>
              <a:noFill/>
              <a:ln w="1270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原生矢量路径"/>
              <p:cNvSpPr/>
              <p:nvPr/>
            </p:nvSpPr>
            <p:spPr>
              <a:xfrm>
                <a:off x="6616781" y="2866278"/>
                <a:ext cx="500908" cy="136611"/>
              </a:xfrm>
              <a:custGeom>
                <a:avLst/>
                <a:gdLst/>
                <a:ahLst/>
                <a:cxnLst/>
                <a:rect l="l" t="t" r="r" b="b"/>
                <a:pathLst>
                  <a:path w="500908" h="136611">
                    <a:moveTo>
                      <a:pt x="500908" y="7589"/>
                    </a:moveTo>
                    <a:lnTo>
                      <a:pt x="349118" y="136611"/>
                    </a:lnTo>
                    <a:lnTo>
                      <a:pt x="98664" y="136611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3" name="图解线条"/>
              <p:cNvCxnSpPr/>
              <p:nvPr/>
            </p:nvCxnSpPr>
            <p:spPr>
              <a:xfrm flipV="1">
                <a:off x="7163226" y="2532339"/>
                <a:ext cx="0" cy="15179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图解线条"/>
              <p:cNvCxnSpPr/>
              <p:nvPr/>
            </p:nvCxnSpPr>
            <p:spPr>
              <a:xfrm flipH="1" flipV="1">
                <a:off x="7011436" y="2668950"/>
                <a:ext cx="151790" cy="15179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图解线条"/>
              <p:cNvCxnSpPr/>
              <p:nvPr/>
            </p:nvCxnSpPr>
            <p:spPr>
              <a:xfrm>
                <a:off x="6616781" y="2866278"/>
                <a:ext cx="0" cy="15179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图解线条"/>
              <p:cNvCxnSpPr/>
              <p:nvPr/>
            </p:nvCxnSpPr>
            <p:spPr>
              <a:xfrm>
                <a:off x="6616781" y="2866278"/>
                <a:ext cx="151790" cy="15179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文本_发生频率"/>
            <p:cNvSpPr txBox="1"/>
            <p:nvPr/>
          </p:nvSpPr>
          <p:spPr>
            <a:xfrm>
              <a:off x="6428232" y="3493008"/>
              <a:ext cx="2340864" cy="40233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67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7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发生频率</a:t>
              </a:r>
              <a:endParaRPr lang="zh-CN" sz="1870"/>
            </a:p>
          </p:txBody>
        </p:sp>
        <p:cxnSp>
          <p:nvCxnSpPr>
            <p:cNvPr id="49" name="分隔细线"/>
            <p:cNvCxnSpPr/>
            <p:nvPr/>
          </p:nvCxnSpPr>
          <p:spPr>
            <a:xfrm>
              <a:off x="6428232" y="4032504"/>
              <a:ext cx="2267712" cy="0"/>
            </a:xfrm>
            <a:prstGeom prst="line">
              <a:avLst/>
            </a:prstGeom>
            <a:ln w="6985">
              <a:solidFill>
                <a:srgbClr val="D4D2C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本_—  次／周"/>
            <p:cNvSpPr txBox="1"/>
            <p:nvPr/>
          </p:nvSpPr>
          <p:spPr>
            <a:xfrm>
              <a:off x="6428232" y="4306824"/>
              <a:ext cx="2340864" cy="3931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3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20" b="0">
                  <a:solidFill>
                    <a:srgbClr val="8C2D19"/>
                  </a:solidFill>
                  <a:latin typeface="Noto Sans SC Medium"/>
                  <a:ea typeface="Noto Sans SC Medium"/>
                  <a:cs typeface="Noto Sans SC Medium"/>
                </a:rPr>
                <a:t>—  次／周</a:t>
              </a:r>
              <a:endParaRPr lang="zh-CN" sz="1620"/>
            </a:p>
          </p:txBody>
        </p:sp>
        <p:sp>
          <p:nvSpPr>
            <p:cNvPr id="51" name="文本_记录次数或周期；_未填写，不代表是零。"/>
            <p:cNvSpPr txBox="1"/>
            <p:nvPr/>
          </p:nvSpPr>
          <p:spPr>
            <a:xfrm>
              <a:off x="6428232" y="4910328"/>
              <a:ext cx="2377440" cy="8412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2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记录次数或周期；</a:t>
              </a:r>
              <a:endParaRPr lang="zh-CN" sz="1320"/>
            </a:p>
            <a:p>
              <a:pPr algn="l">
                <a:lnSpc>
                  <a:spcPts val="2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2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未填写，不代表是零。</a:t>
              </a:r>
              <a:endParaRPr lang="zh-CN" sz="1320"/>
            </a:p>
          </p:txBody>
        </p:sp>
      </p:grpSp>
      <p:grpSp>
        <p:nvGrpSpPr>
          <p:cNvPr id="59" name="ANIM:estimate2"/>
          <p:cNvGrpSpPr/>
          <p:nvPr/>
        </p:nvGrpSpPr>
        <p:grpSpPr>
          <a:xfrm>
            <a:off x="9089136" y="2524749"/>
            <a:ext cx="2377440" cy="3226827"/>
            <a:chOff x="9089136" y="2524749"/>
            <a:chExt cx="2377440" cy="3226827"/>
          </a:xfrm>
        </p:grpSpPr>
        <p:grpSp>
          <p:nvGrpSpPr>
            <p:cNvPr id="54" name="图标_heart"/>
            <p:cNvGrpSpPr/>
            <p:nvPr/>
          </p:nvGrpSpPr>
          <p:grpSpPr>
            <a:xfrm>
              <a:off x="9247327" y="2524749"/>
              <a:ext cx="607161" cy="523677"/>
              <a:chOff x="9247327" y="2524749"/>
              <a:chExt cx="607161" cy="523677"/>
            </a:xfrm>
          </p:grpSpPr>
          <p:sp>
            <p:nvSpPr>
              <p:cNvPr id="53" name="原生矢量路径"/>
              <p:cNvSpPr/>
              <p:nvPr/>
            </p:nvSpPr>
            <p:spPr>
              <a:xfrm>
                <a:off x="9247327" y="2524749"/>
                <a:ext cx="607161" cy="523677"/>
              </a:xfrm>
              <a:custGeom>
                <a:avLst/>
                <a:gdLst/>
                <a:ahLst/>
                <a:cxnLst/>
                <a:rect l="l" t="t" r="r" b="b"/>
                <a:pathLst>
                  <a:path w="607161" h="523677">
                    <a:moveTo>
                      <a:pt x="303581" y="523677"/>
                    </a:moveTo>
                    <a:lnTo>
                      <a:pt x="22768" y="242865"/>
                    </a:lnTo>
                    <a:lnTo>
                      <a:pt x="0" y="98664"/>
                    </a:lnTo>
                    <a:lnTo>
                      <a:pt x="91074" y="0"/>
                    </a:lnTo>
                    <a:lnTo>
                      <a:pt x="220096" y="7590"/>
                    </a:lnTo>
                    <a:lnTo>
                      <a:pt x="303581" y="113843"/>
                    </a:lnTo>
                    <a:lnTo>
                      <a:pt x="387065" y="7590"/>
                    </a:lnTo>
                    <a:lnTo>
                      <a:pt x="516087" y="0"/>
                    </a:lnTo>
                    <a:lnTo>
                      <a:pt x="607161" y="98664"/>
                    </a:lnTo>
                    <a:lnTo>
                      <a:pt x="584393" y="242865"/>
                    </a:lnTo>
                    <a:lnTo>
                      <a:pt x="303581" y="523677"/>
                    </a:lnTo>
                  </a:path>
                </a:pathLst>
              </a:custGeom>
              <a:noFill/>
              <a:ln w="1270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55" name="文本_主观心力"/>
            <p:cNvSpPr txBox="1"/>
            <p:nvPr/>
          </p:nvSpPr>
          <p:spPr>
            <a:xfrm>
              <a:off x="9089136" y="3493008"/>
              <a:ext cx="2340864" cy="40233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67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7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主观心力</a:t>
              </a:r>
              <a:endParaRPr lang="zh-CN" sz="1870"/>
            </a:p>
          </p:txBody>
        </p:sp>
        <p:cxnSp>
          <p:nvCxnSpPr>
            <p:cNvPr id="56" name="分隔细线"/>
            <p:cNvCxnSpPr/>
            <p:nvPr/>
          </p:nvCxnSpPr>
          <p:spPr>
            <a:xfrm>
              <a:off x="9089136" y="4032504"/>
              <a:ext cx="2267712" cy="0"/>
            </a:xfrm>
            <a:prstGeom prst="line">
              <a:avLst/>
            </a:prstGeom>
            <a:ln w="6985">
              <a:solidFill>
                <a:srgbClr val="D4D2C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本_本人选择"/>
            <p:cNvSpPr txBox="1"/>
            <p:nvPr/>
          </p:nvSpPr>
          <p:spPr>
            <a:xfrm>
              <a:off x="9089136" y="4306824"/>
              <a:ext cx="2340864" cy="3931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3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20" b="0">
                  <a:solidFill>
                    <a:srgbClr val="8C2D19"/>
                  </a:solidFill>
                  <a:latin typeface="Noto Sans SC Medium"/>
                  <a:ea typeface="Noto Sans SC Medium"/>
                  <a:cs typeface="Noto Sans SC Medium"/>
                </a:rPr>
                <a:t>本人选择</a:t>
              </a:r>
              <a:endParaRPr lang="zh-CN" sz="1620"/>
            </a:p>
          </p:txBody>
        </p:sp>
        <p:sp>
          <p:nvSpPr>
            <p:cNvPr id="58" name="文本_本人选择，可跳过；_不是客观心理测量。"/>
            <p:cNvSpPr txBox="1"/>
            <p:nvPr/>
          </p:nvSpPr>
          <p:spPr>
            <a:xfrm>
              <a:off x="9089136" y="4910328"/>
              <a:ext cx="2377440" cy="8412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2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本人选择，可跳过；</a:t>
              </a:r>
              <a:endParaRPr lang="zh-CN" sz="1320"/>
            </a:p>
            <a:p>
              <a:pPr algn="l">
                <a:lnSpc>
                  <a:spcPts val="2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2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不是客观心理测量。</a:t>
              </a:r>
              <a:endParaRPr lang="zh-CN" sz="1320"/>
            </a:p>
          </p:txBody>
        </p:sp>
      </p:grpSp>
      <p:sp>
        <p:nvSpPr>
          <p:cNvPr id="60" name="文本_不必等对方确认；不加权成总分，也不做个人排名。"/>
          <p:cNvSpPr txBox="1"/>
          <p:nvPr/>
        </p:nvSpPr>
        <p:spPr>
          <a:xfrm>
            <a:off x="3767328" y="5925312"/>
            <a:ext cx="7735824" cy="2834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96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6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不必等对方确认；不加权成总分，也不做个人排名。</a:t>
            </a:r>
            <a:endParaRPr lang="zh-CN" sz="136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"/>
          <p:cNvSpPr txBox="1"/>
          <p:nvPr/>
        </p:nvSpPr>
        <p:spPr>
          <a:xfrm>
            <a:off x="594360" y="370332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产品演示  ／  S06 共同约定 · 截图预留</a:t>
            </a:r>
            <a:endParaRPr lang="zh-CN" sz="1070"/>
          </a:p>
        </p:txBody>
      </p:sp>
      <p:sp>
        <p:nvSpPr>
          <p:cNvPr id="3" name="!!chapterTitle0"/>
          <p:cNvSpPr txBox="1"/>
          <p:nvPr/>
        </p:nvSpPr>
        <p:spPr>
          <a:xfrm>
            <a:off x="7040880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问题界定</a:t>
            </a:r>
            <a:endParaRPr lang="zh-CN" sz="919"/>
          </a:p>
        </p:txBody>
      </p:sp>
      <p:sp>
        <p:nvSpPr>
          <p:cNvPr id="4" name="!!chapterTitle1"/>
          <p:cNvSpPr txBox="1"/>
          <p:nvPr/>
        </p:nvSpPr>
        <p:spPr>
          <a:xfrm>
            <a:off x="8065008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产品演示</a:t>
            </a:r>
            <a:endParaRPr lang="zh-CN" sz="919"/>
          </a:p>
        </p:txBody>
      </p:sp>
      <p:cxnSp>
        <p:nvCxnSpPr>
          <p:cNvPr id="5" name="!!activeNavRule"/>
          <p:cNvCxnSpPr/>
          <p:nvPr/>
        </p:nvCxnSpPr>
        <p:spPr>
          <a:xfrm>
            <a:off x="8065008" y="701344"/>
            <a:ext cx="570585" cy="0"/>
          </a:xfrm>
          <a:prstGeom prst="line">
            <a:avLst/>
          </a:prstGeom>
          <a:ln w="10160">
            <a:solidFill>
              <a:srgbClr val="8C2D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!!chapterTitle2"/>
          <p:cNvSpPr txBox="1"/>
          <p:nvPr/>
        </p:nvSpPr>
        <p:spPr>
          <a:xfrm>
            <a:off x="9089136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用户范围</a:t>
            </a:r>
            <a:endParaRPr lang="zh-CN" sz="919"/>
          </a:p>
        </p:txBody>
      </p:sp>
      <p:sp>
        <p:nvSpPr>
          <p:cNvPr id="7" name="!!chapterTitle3"/>
          <p:cNvSpPr txBox="1"/>
          <p:nvPr/>
        </p:nvSpPr>
        <p:spPr>
          <a:xfrm>
            <a:off x="10113264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验证计划</a:t>
            </a:r>
            <a:endParaRPr lang="zh-CN" sz="919"/>
          </a:p>
        </p:txBody>
      </p:sp>
      <p:sp>
        <p:nvSpPr>
          <p:cNvPr id="8" name="页码"/>
          <p:cNvSpPr txBox="1"/>
          <p:nvPr/>
        </p:nvSpPr>
        <p:spPr>
          <a:xfrm>
            <a:off x="11247120" y="374904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12</a:t>
            </a:r>
            <a:endParaRPr lang="zh-CN" sz="1070"/>
          </a:p>
        </p:txBody>
      </p:sp>
      <p:sp>
        <p:nvSpPr>
          <p:cNvPr id="9" name="主标题"/>
          <p:cNvSpPr txBox="1"/>
          <p:nvPr/>
        </p:nvSpPr>
        <p:spPr>
          <a:xfrm>
            <a:off x="576072" y="932688"/>
            <a:ext cx="10972800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1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不必先消除分歧，也能约定下一步。</a:t>
            </a:r>
            <a:endParaRPr lang="zh-CN" sz="3100"/>
          </a:p>
        </p:txBody>
      </p:sp>
      <p:cxnSp>
        <p:nvCxnSpPr>
          <p:cNvPr id="10" name="分隔细线"/>
          <p:cNvCxnSpPr/>
          <p:nvPr/>
        </p:nvCxnSpPr>
        <p:spPr>
          <a:xfrm>
            <a:off x="585216" y="6451092"/>
            <a:ext cx="1100937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!!phonePaper"/>
          <p:cNvSpPr/>
          <p:nvPr/>
        </p:nvSpPr>
        <p:spPr>
          <a:xfrm>
            <a:off x="8732520" y="1755648"/>
            <a:ext cx="2157984" cy="4416552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49" name="图片占位符 48">
            <a:extLst>
              <a:ext uri="{FF2B5EF4-FFF2-40B4-BE49-F238E27FC236}">
                <a16:creationId xmlns:a16="http://schemas.microsoft.com/office/drawing/2014/main" id="{9AD6807B-7BA6-86B0-F063-1B17E262EACD}"/>
              </a:ext>
            </a:extLst>
          </p:cNvPr>
          <p:cNvPicPr>
            <a:picLocks noGrp="1" noChangeAspect="1"/>
          </p:cNvPicPr>
          <p:nvPr>
            <p:ph type="pic" idx="50"/>
          </p:nvPr>
        </p:nvPicPr>
        <p:blipFill>
          <a:blip r:embed="rId2"/>
          <a:srcRect t="504" b="504"/>
          <a:stretch>
            <a:fillRect/>
          </a:stretch>
        </p:blipFill>
        <p:spPr>
          <a:prstGeom prst="rect">
            <a:avLst/>
          </a:prstGeom>
          <a:solidFill>
            <a:srgbClr val="F0EEE8"/>
          </a:solidFill>
          <a:ln w="7620" cap="flat" cmpd="sng" algn="ctr">
            <a:solidFill>
              <a:srgbClr val="E5E2D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pic>
      <p:sp>
        <p:nvSpPr>
          <p:cNvPr id="19" name="!!phoneCaption"/>
          <p:cNvSpPr txBox="1"/>
          <p:nvPr/>
        </p:nvSpPr>
        <p:spPr>
          <a:xfrm>
            <a:off x="8823960" y="1554480"/>
            <a:ext cx="1975104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20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S06  ／  共同约定</a:t>
            </a:r>
            <a:endParaRPr lang="zh-CN" sz="1120"/>
          </a:p>
        </p:txBody>
      </p:sp>
      <p:sp>
        <p:nvSpPr>
          <p:cNvPr id="20" name="!!stageBar0"/>
          <p:cNvSpPr/>
          <p:nvPr/>
        </p:nvSpPr>
        <p:spPr>
          <a:xfrm>
            <a:off x="5943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stageName0"/>
          <p:cNvSpPr txBox="1"/>
          <p:nvPr/>
        </p:nvSpPr>
        <p:spPr>
          <a:xfrm>
            <a:off x="5943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原话</a:t>
            </a:r>
            <a:endParaRPr lang="zh-CN" sz="840"/>
          </a:p>
        </p:txBody>
      </p:sp>
      <p:sp>
        <p:nvSpPr>
          <p:cNvPr id="22" name="!!stageBar1"/>
          <p:cNvSpPr/>
          <p:nvPr/>
        </p:nvSpPr>
        <p:spPr>
          <a:xfrm>
            <a:off x="15087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stageName1"/>
          <p:cNvSpPr txBox="1"/>
          <p:nvPr/>
        </p:nvSpPr>
        <p:spPr>
          <a:xfrm>
            <a:off x="15087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拆解</a:t>
            </a:r>
            <a:endParaRPr lang="zh-CN" sz="840"/>
          </a:p>
        </p:txBody>
      </p:sp>
      <p:sp>
        <p:nvSpPr>
          <p:cNvPr id="24" name="!!stageBar2"/>
          <p:cNvSpPr/>
          <p:nvPr/>
        </p:nvSpPr>
        <p:spPr>
          <a:xfrm>
            <a:off x="24231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stageName2"/>
          <p:cNvSpPr txBox="1"/>
          <p:nvPr/>
        </p:nvSpPr>
        <p:spPr>
          <a:xfrm>
            <a:off x="24231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私密</a:t>
            </a:r>
            <a:endParaRPr lang="zh-CN" sz="840"/>
          </a:p>
        </p:txBody>
      </p:sp>
      <p:sp>
        <p:nvSpPr>
          <p:cNvPr id="26" name="!!stageBar3"/>
          <p:cNvSpPr/>
          <p:nvPr/>
        </p:nvSpPr>
        <p:spPr>
          <a:xfrm>
            <a:off x="33375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stageName3"/>
          <p:cNvSpPr txBox="1"/>
          <p:nvPr/>
        </p:nvSpPr>
        <p:spPr>
          <a:xfrm>
            <a:off x="33375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核对</a:t>
            </a:r>
            <a:endParaRPr lang="zh-CN" sz="840"/>
          </a:p>
        </p:txBody>
      </p:sp>
      <p:sp>
        <p:nvSpPr>
          <p:cNvPr id="28" name="!!stageBar4"/>
          <p:cNvSpPr/>
          <p:nvPr/>
        </p:nvSpPr>
        <p:spPr>
          <a:xfrm>
            <a:off x="4251960" y="6190488"/>
            <a:ext cx="566928" cy="32004"/>
          </a:xfrm>
          <a:prstGeom prst="rect">
            <a:avLst/>
          </a:prstGeom>
          <a:solidFill>
            <a:srgbClr val="D4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stageName4"/>
          <p:cNvSpPr txBox="1"/>
          <p:nvPr/>
        </p:nvSpPr>
        <p:spPr>
          <a:xfrm>
            <a:off x="42519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投入</a:t>
            </a:r>
            <a:endParaRPr lang="zh-CN" sz="840"/>
          </a:p>
        </p:txBody>
      </p:sp>
      <p:sp>
        <p:nvSpPr>
          <p:cNvPr id="30" name="!!stageBar5"/>
          <p:cNvSpPr/>
          <p:nvPr/>
        </p:nvSpPr>
        <p:spPr>
          <a:xfrm>
            <a:off x="5166360" y="6190488"/>
            <a:ext cx="566928" cy="32004"/>
          </a:xfrm>
          <a:prstGeom prst="rect">
            <a:avLst/>
          </a:prstGeom>
          <a:solidFill>
            <a:srgbClr val="8C2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stageName5"/>
          <p:cNvSpPr txBox="1"/>
          <p:nvPr/>
        </p:nvSpPr>
        <p:spPr>
          <a:xfrm>
            <a:off x="5166360" y="6291072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40" b="0">
                <a:solidFill>
                  <a:srgbClr val="8C2D19"/>
                </a:solidFill>
                <a:latin typeface="Noto Sans SC"/>
                <a:ea typeface="Noto Sans SC"/>
                <a:cs typeface="Noto Sans SC"/>
              </a:rPr>
              <a:t>约定</a:t>
            </a:r>
            <a:endParaRPr lang="zh-CN" sz="840"/>
          </a:p>
        </p:txBody>
      </p:sp>
      <p:sp>
        <p:nvSpPr>
          <p:cNvPr id="32" name="!!agreementPaper"/>
          <p:cNvSpPr/>
          <p:nvPr/>
        </p:nvSpPr>
        <p:spPr>
          <a:xfrm>
            <a:off x="594360" y="1993392"/>
            <a:ext cx="7114032" cy="3749039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3" name="文本_共同约定  ／  双方同意后保存"/>
          <p:cNvSpPr txBox="1"/>
          <p:nvPr/>
        </p:nvSpPr>
        <p:spPr>
          <a:xfrm>
            <a:off x="877824" y="2276856"/>
            <a:ext cx="65471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40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共同约定  ／  双方同意后保存</a:t>
            </a:r>
            <a:endParaRPr lang="zh-CN" sz="1140"/>
          </a:p>
        </p:txBody>
      </p:sp>
      <p:sp>
        <p:nvSpPr>
          <p:cNvPr id="34" name="!!agreementTitle"/>
          <p:cNvSpPr txBox="1"/>
          <p:nvPr/>
        </p:nvSpPr>
        <p:spPr>
          <a:xfrm>
            <a:off x="868680" y="2798064"/>
            <a:ext cx="6556248" cy="6675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433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1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下周二晚饭</a:t>
            </a:r>
            <a:endParaRPr lang="zh-CN" sz="3100"/>
          </a:p>
        </p:txBody>
      </p:sp>
      <p:cxnSp>
        <p:nvCxnSpPr>
          <p:cNvPr id="35" name="分隔细线"/>
          <p:cNvCxnSpPr/>
          <p:nvPr/>
        </p:nvCxnSpPr>
        <p:spPr>
          <a:xfrm>
            <a:off x="877824" y="3703320"/>
            <a:ext cx="6547104" cy="0"/>
          </a:xfrm>
          <a:prstGeom prst="line">
            <a:avLst/>
          </a:prstGeom>
          <a:ln w="698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ANIM:agreement0"/>
          <p:cNvGrpSpPr/>
          <p:nvPr/>
        </p:nvGrpSpPr>
        <p:grpSpPr>
          <a:xfrm>
            <a:off x="896112" y="3986784"/>
            <a:ext cx="6172200" cy="530352"/>
            <a:chOff x="896112" y="3986784"/>
            <a:chExt cx="6172200" cy="530352"/>
          </a:xfrm>
        </p:grpSpPr>
        <p:grpSp>
          <p:nvGrpSpPr>
            <p:cNvPr id="38" name="角色_甲"/>
            <p:cNvGrpSpPr/>
            <p:nvPr/>
          </p:nvGrpSpPr>
          <p:grpSpPr>
            <a:xfrm>
              <a:off x="896112" y="3986784"/>
              <a:ext cx="530352" cy="530352"/>
              <a:chOff x="896112" y="3986784"/>
              <a:chExt cx="530352" cy="530352"/>
            </a:xfrm>
          </p:grpSpPr>
          <p:sp>
            <p:nvSpPr>
              <p:cNvPr id="36" name="语义节点"/>
              <p:cNvSpPr/>
              <p:nvPr/>
            </p:nvSpPr>
            <p:spPr>
              <a:xfrm>
                <a:off x="896112" y="3986784"/>
                <a:ext cx="530352" cy="530352"/>
              </a:xfrm>
              <a:prstGeom prst="ellipse">
                <a:avLst/>
              </a:prstGeom>
              <a:solidFill>
                <a:srgbClr val="FCFBF8"/>
              </a:solidFill>
              <a:ln w="10160">
                <a:solidFill>
                  <a:srgbClr val="24241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文本_甲"/>
              <p:cNvSpPr txBox="1"/>
              <p:nvPr/>
            </p:nvSpPr>
            <p:spPr>
              <a:xfrm>
                <a:off x="896112" y="4078224"/>
                <a:ext cx="530352" cy="30175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ts val="154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b="0">
                    <a:solidFill>
                      <a:srgbClr val="24241F"/>
                    </a:solidFill>
                    <a:latin typeface="Noto Sans SC Medium"/>
                    <a:ea typeface="Noto Sans SC Medium"/>
                    <a:cs typeface="Noto Sans SC Medium"/>
                  </a:rPr>
                  <a:t>甲</a:t>
                </a:r>
                <a:endParaRPr lang="zh-CN" sz="1400"/>
              </a:p>
            </p:txBody>
          </p:sp>
        </p:grpSp>
        <p:sp>
          <p:nvSpPr>
            <p:cNvPr id="39" name="文本_提前一天在群里确认菜单"/>
            <p:cNvSpPr txBox="1"/>
            <p:nvPr/>
          </p:nvSpPr>
          <p:spPr>
            <a:xfrm>
              <a:off x="1709928" y="4059935"/>
              <a:ext cx="5358384" cy="4297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5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6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提前一天在群里确认菜单</a:t>
              </a:r>
              <a:endParaRPr lang="zh-CN" sz="1760"/>
            </a:p>
          </p:txBody>
        </p:sp>
      </p:grpSp>
      <p:grpSp>
        <p:nvGrpSpPr>
          <p:cNvPr id="45" name="ANIM:agreement1"/>
          <p:cNvGrpSpPr/>
          <p:nvPr/>
        </p:nvGrpSpPr>
        <p:grpSpPr>
          <a:xfrm>
            <a:off x="896112" y="4727448"/>
            <a:ext cx="6172200" cy="530352"/>
            <a:chOff x="896112" y="4727448"/>
            <a:chExt cx="6172200" cy="530352"/>
          </a:xfrm>
        </p:grpSpPr>
        <p:grpSp>
          <p:nvGrpSpPr>
            <p:cNvPr id="43" name="角色_乙"/>
            <p:cNvGrpSpPr/>
            <p:nvPr/>
          </p:nvGrpSpPr>
          <p:grpSpPr>
            <a:xfrm>
              <a:off x="896112" y="4727448"/>
              <a:ext cx="530352" cy="530352"/>
              <a:chOff x="896112" y="4727448"/>
              <a:chExt cx="530352" cy="530352"/>
            </a:xfrm>
          </p:grpSpPr>
          <p:sp>
            <p:nvSpPr>
              <p:cNvPr id="41" name="语义节点"/>
              <p:cNvSpPr/>
              <p:nvPr/>
            </p:nvSpPr>
            <p:spPr>
              <a:xfrm>
                <a:off x="896112" y="4727448"/>
                <a:ext cx="530352" cy="530352"/>
              </a:xfrm>
              <a:prstGeom prst="ellipse">
                <a:avLst/>
              </a:prstGeom>
              <a:solidFill>
                <a:srgbClr val="FCFBF8"/>
              </a:solidFill>
              <a:ln w="10160">
                <a:solidFill>
                  <a:srgbClr val="24241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文本_乙"/>
              <p:cNvSpPr txBox="1"/>
              <p:nvPr/>
            </p:nvSpPr>
            <p:spPr>
              <a:xfrm>
                <a:off x="896112" y="4818888"/>
                <a:ext cx="530352" cy="30175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ts val="154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b="0">
                    <a:solidFill>
                      <a:srgbClr val="24241F"/>
                    </a:solidFill>
                    <a:latin typeface="Noto Sans SC Medium"/>
                    <a:ea typeface="Noto Sans SC Medium"/>
                    <a:cs typeface="Noto Sans SC Medium"/>
                  </a:rPr>
                  <a:t>乙</a:t>
                </a:r>
                <a:endParaRPr lang="zh-CN" sz="1400"/>
              </a:p>
            </p:txBody>
          </p:sp>
        </p:grpSp>
        <p:sp>
          <p:nvSpPr>
            <p:cNvPr id="44" name="文本_接手买菜"/>
            <p:cNvSpPr txBox="1"/>
            <p:nvPr/>
          </p:nvSpPr>
          <p:spPr>
            <a:xfrm>
              <a:off x="1709928" y="4800599"/>
              <a:ext cx="5358384" cy="4297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5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6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接手买菜</a:t>
              </a:r>
              <a:endParaRPr lang="zh-CN" sz="1760"/>
            </a:p>
          </p:txBody>
        </p:sp>
      </p:grpSp>
      <p:sp>
        <p:nvSpPr>
          <p:cNvPr id="46" name="文本_谁来做  ·  何时做  ·  怎样交接"/>
          <p:cNvSpPr txBox="1"/>
          <p:nvPr/>
        </p:nvSpPr>
        <p:spPr>
          <a:xfrm>
            <a:off x="877824" y="5449824"/>
            <a:ext cx="654710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6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谁来做  ·  何时做  ·  怎样交接</a:t>
            </a:r>
            <a:endParaRPr lang="zh-CN" sz="1260"/>
          </a:p>
        </p:txBody>
      </p:sp>
      <p:sp>
        <p:nvSpPr>
          <p:cNvPr id="47" name="文本_只对下一步自愿达成一致；也可以暂不约定。"/>
          <p:cNvSpPr txBox="1"/>
          <p:nvPr/>
        </p:nvSpPr>
        <p:spPr>
          <a:xfrm>
            <a:off x="594360" y="5879592"/>
            <a:ext cx="7114032" cy="2834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只对下一步自愿达成一致；也可以暂不约定。</a:t>
            </a:r>
            <a:endParaRPr lang="zh-CN" sz="13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"/>
          <p:cNvSpPr txBox="1"/>
          <p:nvPr/>
        </p:nvSpPr>
        <p:spPr>
          <a:xfrm>
            <a:off x="594360" y="370332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原型演示路线  ／  同一句原话，四个关键动作</a:t>
            </a:r>
            <a:endParaRPr lang="zh-CN" sz="1070"/>
          </a:p>
        </p:txBody>
      </p:sp>
      <p:sp>
        <p:nvSpPr>
          <p:cNvPr id="3" name="!!chapterTitle0"/>
          <p:cNvSpPr txBox="1"/>
          <p:nvPr/>
        </p:nvSpPr>
        <p:spPr>
          <a:xfrm>
            <a:off x="7040880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问题界定</a:t>
            </a:r>
            <a:endParaRPr lang="zh-CN" sz="919"/>
          </a:p>
        </p:txBody>
      </p:sp>
      <p:sp>
        <p:nvSpPr>
          <p:cNvPr id="4" name="!!chapterTitle1"/>
          <p:cNvSpPr txBox="1"/>
          <p:nvPr/>
        </p:nvSpPr>
        <p:spPr>
          <a:xfrm>
            <a:off x="8065008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产品演示</a:t>
            </a:r>
            <a:endParaRPr lang="zh-CN" sz="919"/>
          </a:p>
        </p:txBody>
      </p:sp>
      <p:cxnSp>
        <p:nvCxnSpPr>
          <p:cNvPr id="5" name="!!activeNavRule"/>
          <p:cNvCxnSpPr/>
          <p:nvPr/>
        </p:nvCxnSpPr>
        <p:spPr>
          <a:xfrm>
            <a:off x="8065008" y="701344"/>
            <a:ext cx="570585" cy="0"/>
          </a:xfrm>
          <a:prstGeom prst="line">
            <a:avLst/>
          </a:prstGeom>
          <a:ln w="10160">
            <a:solidFill>
              <a:srgbClr val="8C2D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!!chapterTitle2"/>
          <p:cNvSpPr txBox="1"/>
          <p:nvPr/>
        </p:nvSpPr>
        <p:spPr>
          <a:xfrm>
            <a:off x="9089136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用户范围</a:t>
            </a:r>
            <a:endParaRPr lang="zh-CN" sz="919"/>
          </a:p>
        </p:txBody>
      </p:sp>
      <p:sp>
        <p:nvSpPr>
          <p:cNvPr id="7" name="!!chapterTitle3"/>
          <p:cNvSpPr txBox="1"/>
          <p:nvPr/>
        </p:nvSpPr>
        <p:spPr>
          <a:xfrm>
            <a:off x="10113264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验证计划</a:t>
            </a:r>
            <a:endParaRPr lang="zh-CN" sz="919"/>
          </a:p>
        </p:txBody>
      </p:sp>
      <p:sp>
        <p:nvSpPr>
          <p:cNvPr id="8" name="页码"/>
          <p:cNvSpPr txBox="1"/>
          <p:nvPr/>
        </p:nvSpPr>
        <p:spPr>
          <a:xfrm>
            <a:off x="11247120" y="374904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13</a:t>
            </a:r>
            <a:endParaRPr lang="zh-CN" sz="1070"/>
          </a:p>
        </p:txBody>
      </p:sp>
      <p:sp>
        <p:nvSpPr>
          <p:cNvPr id="9" name="主标题"/>
          <p:cNvSpPr txBox="1"/>
          <p:nvPr/>
        </p:nvSpPr>
        <p:spPr>
          <a:xfrm>
            <a:off x="576072" y="932688"/>
            <a:ext cx="10972800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1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现在拿起手机，把这件家务走一遍。</a:t>
            </a:r>
            <a:endParaRPr lang="zh-CN" sz="3100"/>
          </a:p>
        </p:txBody>
      </p:sp>
      <p:cxnSp>
        <p:nvCxnSpPr>
          <p:cNvPr id="10" name="分隔细线"/>
          <p:cNvCxnSpPr/>
          <p:nvPr/>
        </p:nvCxnSpPr>
        <p:spPr>
          <a:xfrm>
            <a:off x="585216" y="6451092"/>
            <a:ext cx="1100937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_按当前版本演示；实机截图待补入，已实现步骤待逐项确认。"/>
          <p:cNvSpPr txBox="1"/>
          <p:nvPr/>
        </p:nvSpPr>
        <p:spPr>
          <a:xfrm>
            <a:off x="594360" y="195681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73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2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按当前版本演示；实机截图待补入，已实现步骤待逐项确认。</a:t>
            </a:r>
            <a:endParaRPr lang="zh-CN" sz="1520"/>
          </a:p>
        </p:txBody>
      </p:sp>
      <p:grpSp>
        <p:nvGrpSpPr>
          <p:cNvPr id="18" name="ANIM:live0"/>
          <p:cNvGrpSpPr/>
          <p:nvPr/>
        </p:nvGrpSpPr>
        <p:grpSpPr>
          <a:xfrm>
            <a:off x="594360" y="2885206"/>
            <a:ext cx="2468880" cy="1878818"/>
            <a:chOff x="594360" y="2885206"/>
            <a:chExt cx="2468880" cy="1878818"/>
          </a:xfrm>
        </p:grpSpPr>
        <p:grpSp>
          <p:nvGrpSpPr>
            <p:cNvPr id="15" name="图标_talk"/>
            <p:cNvGrpSpPr/>
            <p:nvPr/>
          </p:nvGrpSpPr>
          <p:grpSpPr>
            <a:xfrm>
              <a:off x="717255" y="2885206"/>
              <a:ext cx="604601" cy="540959"/>
              <a:chOff x="717255" y="2885206"/>
              <a:chExt cx="604601" cy="540959"/>
            </a:xfrm>
          </p:grpSpPr>
          <p:sp>
            <p:nvSpPr>
              <p:cNvPr id="12" name="原生矢量路径"/>
              <p:cNvSpPr/>
              <p:nvPr/>
            </p:nvSpPr>
            <p:spPr>
              <a:xfrm>
                <a:off x="717255" y="2885206"/>
                <a:ext cx="604601" cy="540959"/>
              </a:xfrm>
              <a:custGeom>
                <a:avLst/>
                <a:gdLst/>
                <a:ahLst/>
                <a:cxnLst/>
                <a:rect l="l" t="t" r="r" b="b"/>
                <a:pathLst>
                  <a:path w="604601" h="540959">
                    <a:moveTo>
                      <a:pt x="0" y="0"/>
                    </a:moveTo>
                    <a:lnTo>
                      <a:pt x="604601" y="0"/>
                    </a:lnTo>
                    <a:lnTo>
                      <a:pt x="604601" y="405719"/>
                    </a:lnTo>
                    <a:lnTo>
                      <a:pt x="246614" y="405719"/>
                    </a:lnTo>
                    <a:lnTo>
                      <a:pt x="87508" y="540959"/>
                    </a:lnTo>
                    <a:lnTo>
                      <a:pt x="95463" y="405719"/>
                    </a:lnTo>
                    <a:lnTo>
                      <a:pt x="0" y="405719"/>
                    </a:lnTo>
                    <a:lnTo>
                      <a:pt x="0" y="0"/>
                    </a:lnTo>
                  </a:path>
                </a:pathLst>
              </a:custGeom>
              <a:noFill/>
              <a:ln w="12065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3" name="图解线条"/>
              <p:cNvCxnSpPr/>
              <p:nvPr/>
            </p:nvCxnSpPr>
            <p:spPr>
              <a:xfrm>
                <a:off x="836584" y="3028401"/>
                <a:ext cx="357988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图解线条"/>
              <p:cNvCxnSpPr/>
              <p:nvPr/>
            </p:nvCxnSpPr>
            <p:spPr>
              <a:xfrm>
                <a:off x="836584" y="3147730"/>
                <a:ext cx="238658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文本_文字录入"/>
            <p:cNvSpPr txBox="1"/>
            <p:nvPr/>
          </p:nvSpPr>
          <p:spPr>
            <a:xfrm>
              <a:off x="594360" y="3794760"/>
              <a:ext cx="2468880" cy="411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8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文字录入</a:t>
              </a:r>
              <a:endParaRPr lang="zh-CN" sz="2000"/>
            </a:p>
          </p:txBody>
        </p:sp>
        <p:sp>
          <p:nvSpPr>
            <p:cNvPr id="17" name="文本_保留原话"/>
            <p:cNvSpPr txBox="1"/>
            <p:nvPr/>
          </p:nvSpPr>
          <p:spPr>
            <a:xfrm>
              <a:off x="594360" y="4398264"/>
              <a:ext cx="246888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0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3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保留原话</a:t>
              </a:r>
              <a:endParaRPr lang="zh-CN" sz="1430"/>
            </a:p>
          </p:txBody>
        </p:sp>
      </p:grpSp>
      <p:cxnSp>
        <p:nvCxnSpPr>
          <p:cNvPr id="19" name="流程连线"/>
          <p:cNvCxnSpPr/>
          <p:nvPr/>
        </p:nvCxnSpPr>
        <p:spPr>
          <a:xfrm>
            <a:off x="1984248" y="3136392"/>
            <a:ext cx="1088136" cy="0"/>
          </a:xfrm>
          <a:prstGeom prst="line">
            <a:avLst/>
          </a:prstGeom>
          <a:ln w="13335">
            <a:solidFill>
              <a:srgbClr val="6E6D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原生矢量路径"/>
          <p:cNvSpPr/>
          <p:nvPr/>
        </p:nvSpPr>
        <p:spPr>
          <a:xfrm>
            <a:off x="2994429" y="3088597"/>
            <a:ext cx="77955" cy="95589"/>
          </a:xfrm>
          <a:custGeom>
            <a:avLst/>
            <a:gdLst/>
            <a:ahLst/>
            <a:cxnLst/>
            <a:rect l="l" t="t" r="r" b="b"/>
            <a:pathLst>
              <a:path w="77955" h="95589">
                <a:moveTo>
                  <a:pt x="0" y="95589"/>
                </a:moveTo>
                <a:lnTo>
                  <a:pt x="77955" y="47795"/>
                </a:lnTo>
                <a:lnTo>
                  <a:pt x="0" y="0"/>
                </a:lnTo>
              </a:path>
            </a:pathLst>
          </a:custGeom>
          <a:noFill/>
          <a:ln w="13335">
            <a:solidFill>
              <a:srgbClr val="6E6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6" name="ANIM:live1"/>
          <p:cNvGrpSpPr/>
          <p:nvPr/>
        </p:nvGrpSpPr>
        <p:grpSpPr>
          <a:xfrm>
            <a:off x="3401568" y="2893161"/>
            <a:ext cx="2468880" cy="1870863"/>
            <a:chOff x="3401568" y="2893161"/>
            <a:chExt cx="2468880" cy="1870863"/>
          </a:xfrm>
        </p:grpSpPr>
        <p:grpSp>
          <p:nvGrpSpPr>
            <p:cNvPr id="23" name="图标_execute"/>
            <p:cNvGrpSpPr/>
            <p:nvPr/>
          </p:nvGrpSpPr>
          <p:grpSpPr>
            <a:xfrm>
              <a:off x="3556284" y="2893161"/>
              <a:ext cx="564825" cy="556870"/>
              <a:chOff x="3556284" y="2893161"/>
              <a:chExt cx="564825" cy="556870"/>
            </a:xfrm>
          </p:grpSpPr>
          <p:sp>
            <p:nvSpPr>
              <p:cNvPr id="21" name="原生矢量路径"/>
              <p:cNvSpPr/>
              <p:nvPr/>
            </p:nvSpPr>
            <p:spPr>
              <a:xfrm>
                <a:off x="3572195" y="2893161"/>
                <a:ext cx="533003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533003" h="397764">
                    <a:moveTo>
                      <a:pt x="0" y="198882"/>
                    </a:moveTo>
                    <a:lnTo>
                      <a:pt x="175016" y="397764"/>
                    </a:lnTo>
                    <a:lnTo>
                      <a:pt x="533003" y="0"/>
                    </a:lnTo>
                  </a:path>
                </a:pathLst>
              </a:custGeom>
              <a:noFill/>
              <a:ln w="1905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2" name="图解线条"/>
              <p:cNvCxnSpPr/>
              <p:nvPr/>
            </p:nvCxnSpPr>
            <p:spPr>
              <a:xfrm>
                <a:off x="3556284" y="3450031"/>
                <a:ext cx="564825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文本_本人确认"/>
            <p:cNvSpPr txBox="1"/>
            <p:nvPr/>
          </p:nvSpPr>
          <p:spPr>
            <a:xfrm>
              <a:off x="3401568" y="3794760"/>
              <a:ext cx="2468880" cy="411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8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本人确认</a:t>
              </a:r>
              <a:endParaRPr lang="zh-CN" sz="2000"/>
            </a:p>
          </p:txBody>
        </p:sp>
        <p:sp>
          <p:nvSpPr>
            <p:cNvPr id="25" name="文本_修改候选"/>
            <p:cNvSpPr txBox="1"/>
            <p:nvPr/>
          </p:nvSpPr>
          <p:spPr>
            <a:xfrm>
              <a:off x="3401568" y="4398264"/>
              <a:ext cx="246888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0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3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修改候选</a:t>
              </a:r>
              <a:endParaRPr lang="zh-CN" sz="1430"/>
            </a:p>
          </p:txBody>
        </p:sp>
      </p:grpSp>
      <p:cxnSp>
        <p:nvCxnSpPr>
          <p:cNvPr id="27" name="流程连线"/>
          <p:cNvCxnSpPr/>
          <p:nvPr/>
        </p:nvCxnSpPr>
        <p:spPr>
          <a:xfrm>
            <a:off x="4791456" y="3136392"/>
            <a:ext cx="1088136" cy="0"/>
          </a:xfrm>
          <a:prstGeom prst="line">
            <a:avLst/>
          </a:prstGeom>
          <a:ln w="13335">
            <a:solidFill>
              <a:srgbClr val="6E6D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原生矢量路径"/>
          <p:cNvSpPr/>
          <p:nvPr/>
        </p:nvSpPr>
        <p:spPr>
          <a:xfrm>
            <a:off x="5801637" y="3088597"/>
            <a:ext cx="77955" cy="95589"/>
          </a:xfrm>
          <a:custGeom>
            <a:avLst/>
            <a:gdLst/>
            <a:ahLst/>
            <a:cxnLst/>
            <a:rect l="l" t="t" r="r" b="b"/>
            <a:pathLst>
              <a:path w="77955" h="95589">
                <a:moveTo>
                  <a:pt x="0" y="95589"/>
                </a:moveTo>
                <a:lnTo>
                  <a:pt x="77955" y="47795"/>
                </a:lnTo>
                <a:lnTo>
                  <a:pt x="0" y="0"/>
                </a:lnTo>
              </a:path>
            </a:pathLst>
          </a:custGeom>
          <a:noFill/>
          <a:ln w="13335">
            <a:solidFill>
              <a:srgbClr val="6E6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7" name="ANIM:live2"/>
          <p:cNvGrpSpPr/>
          <p:nvPr/>
        </p:nvGrpSpPr>
        <p:grpSpPr>
          <a:xfrm>
            <a:off x="6208776" y="2829519"/>
            <a:ext cx="2468880" cy="1934505"/>
            <a:chOff x="6208776" y="2829519"/>
            <a:chExt cx="2468880" cy="1934505"/>
          </a:xfrm>
        </p:grpSpPr>
        <p:grpSp>
          <p:nvGrpSpPr>
            <p:cNvPr id="34" name="图标_share"/>
            <p:cNvGrpSpPr/>
            <p:nvPr/>
          </p:nvGrpSpPr>
          <p:grpSpPr>
            <a:xfrm>
              <a:off x="6331671" y="2829519"/>
              <a:ext cx="596646" cy="588691"/>
              <a:chOff x="6331671" y="2829519"/>
              <a:chExt cx="596646" cy="588691"/>
            </a:xfrm>
          </p:grpSpPr>
          <p:sp>
            <p:nvSpPr>
              <p:cNvPr id="29" name="语义节点"/>
              <p:cNvSpPr/>
              <p:nvPr/>
            </p:nvSpPr>
            <p:spPr>
              <a:xfrm>
                <a:off x="6331671" y="3044311"/>
                <a:ext cx="143195" cy="143195"/>
              </a:xfrm>
              <a:prstGeom prst="ellipse">
                <a:avLst/>
              </a:prstGeom>
              <a:noFill/>
              <a:ln w="889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语义节点"/>
              <p:cNvSpPr/>
              <p:nvPr/>
            </p:nvSpPr>
            <p:spPr>
              <a:xfrm>
                <a:off x="6785122" y="2829519"/>
                <a:ext cx="143195" cy="143195"/>
              </a:xfrm>
              <a:prstGeom prst="ellipse">
                <a:avLst/>
              </a:prstGeom>
              <a:noFill/>
              <a:ln w="889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语义节点"/>
              <p:cNvSpPr/>
              <p:nvPr/>
            </p:nvSpPr>
            <p:spPr>
              <a:xfrm>
                <a:off x="6785122" y="3275015"/>
                <a:ext cx="143195" cy="143195"/>
              </a:xfrm>
              <a:prstGeom prst="ellipse">
                <a:avLst/>
              </a:prstGeom>
              <a:noFill/>
              <a:ln w="889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2" name="图解线条"/>
              <p:cNvCxnSpPr/>
              <p:nvPr/>
            </p:nvCxnSpPr>
            <p:spPr>
              <a:xfrm flipV="1">
                <a:off x="6474866" y="2909072"/>
                <a:ext cx="310256" cy="190926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图解线条"/>
              <p:cNvCxnSpPr/>
              <p:nvPr/>
            </p:nvCxnSpPr>
            <p:spPr>
              <a:xfrm>
                <a:off x="6474866" y="3147730"/>
                <a:ext cx="310256" cy="190927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文本_主动共享"/>
            <p:cNvSpPr txBox="1"/>
            <p:nvPr/>
          </p:nvSpPr>
          <p:spPr>
            <a:xfrm>
              <a:off x="6208776" y="3794760"/>
              <a:ext cx="2468880" cy="411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8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主动共享</a:t>
              </a:r>
              <a:endParaRPr lang="zh-CN" sz="2000"/>
            </a:p>
          </p:txBody>
        </p:sp>
        <p:sp>
          <p:nvSpPr>
            <p:cNvPr id="36" name="文本_允许不回应"/>
            <p:cNvSpPr txBox="1"/>
            <p:nvPr/>
          </p:nvSpPr>
          <p:spPr>
            <a:xfrm>
              <a:off x="6208776" y="4398264"/>
              <a:ext cx="246888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0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3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允许不回应</a:t>
              </a:r>
              <a:endParaRPr lang="zh-CN" sz="1430"/>
            </a:p>
          </p:txBody>
        </p:sp>
      </p:grpSp>
      <p:cxnSp>
        <p:nvCxnSpPr>
          <p:cNvPr id="38" name="流程连线"/>
          <p:cNvCxnSpPr/>
          <p:nvPr/>
        </p:nvCxnSpPr>
        <p:spPr>
          <a:xfrm>
            <a:off x="7598664" y="3136392"/>
            <a:ext cx="1088136" cy="0"/>
          </a:xfrm>
          <a:prstGeom prst="line">
            <a:avLst/>
          </a:prstGeom>
          <a:ln w="13335">
            <a:solidFill>
              <a:srgbClr val="6E6D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原生矢量路径"/>
          <p:cNvSpPr/>
          <p:nvPr/>
        </p:nvSpPr>
        <p:spPr>
          <a:xfrm>
            <a:off x="8608845" y="3088597"/>
            <a:ext cx="77955" cy="95589"/>
          </a:xfrm>
          <a:custGeom>
            <a:avLst/>
            <a:gdLst/>
            <a:ahLst/>
            <a:cxnLst/>
            <a:rect l="l" t="t" r="r" b="b"/>
            <a:pathLst>
              <a:path w="77955" h="95589">
                <a:moveTo>
                  <a:pt x="0" y="95589"/>
                </a:moveTo>
                <a:lnTo>
                  <a:pt x="77955" y="47795"/>
                </a:lnTo>
                <a:lnTo>
                  <a:pt x="0" y="0"/>
                </a:lnTo>
              </a:path>
            </a:pathLst>
          </a:custGeom>
          <a:noFill/>
          <a:ln w="13335">
            <a:solidFill>
              <a:srgbClr val="6E6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1" name="ANIM:live3"/>
          <p:cNvGrpSpPr/>
          <p:nvPr/>
        </p:nvGrpSpPr>
        <p:grpSpPr>
          <a:xfrm>
            <a:off x="9015984" y="2805653"/>
            <a:ext cx="2468880" cy="1958371"/>
            <a:chOff x="9015984" y="2805653"/>
            <a:chExt cx="2468880" cy="1958371"/>
          </a:xfrm>
        </p:grpSpPr>
        <p:grpSp>
          <p:nvGrpSpPr>
            <p:cNvPr id="48" name="图标_planning"/>
            <p:cNvGrpSpPr/>
            <p:nvPr/>
          </p:nvGrpSpPr>
          <p:grpSpPr>
            <a:xfrm>
              <a:off x="9154789" y="2805653"/>
              <a:ext cx="580736" cy="620512"/>
              <a:chOff x="9154789" y="2805653"/>
              <a:chExt cx="580736" cy="620512"/>
            </a:xfrm>
          </p:grpSpPr>
          <p:sp>
            <p:nvSpPr>
              <p:cNvPr id="40" name="直角形状"/>
              <p:cNvSpPr/>
              <p:nvPr/>
            </p:nvSpPr>
            <p:spPr>
              <a:xfrm>
                <a:off x="9154789" y="2877251"/>
                <a:ext cx="580735" cy="548914"/>
              </a:xfrm>
              <a:prstGeom prst="rect">
                <a:avLst/>
              </a:prstGeom>
              <a:noFill/>
              <a:ln w="1016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1" name="图解线条"/>
              <p:cNvCxnSpPr/>
              <p:nvPr/>
            </p:nvCxnSpPr>
            <p:spPr>
              <a:xfrm>
                <a:off x="9154789" y="3044311"/>
                <a:ext cx="580736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图解线条"/>
              <p:cNvCxnSpPr/>
              <p:nvPr/>
            </p:nvCxnSpPr>
            <p:spPr>
              <a:xfrm>
                <a:off x="9313895" y="2805653"/>
                <a:ext cx="0" cy="159106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图解线条"/>
              <p:cNvCxnSpPr/>
              <p:nvPr/>
            </p:nvCxnSpPr>
            <p:spPr>
              <a:xfrm>
                <a:off x="9576419" y="2805653"/>
                <a:ext cx="0" cy="159106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语义节点"/>
              <p:cNvSpPr/>
              <p:nvPr/>
            </p:nvSpPr>
            <p:spPr>
              <a:xfrm>
                <a:off x="9313895" y="3155685"/>
                <a:ext cx="47731" cy="47731"/>
              </a:xfrm>
              <a:prstGeom prst="ellipse">
                <a:avLst/>
              </a:prstGeom>
              <a:solidFill>
                <a:srgbClr val="8C2D1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语义节点"/>
              <p:cNvSpPr/>
              <p:nvPr/>
            </p:nvSpPr>
            <p:spPr>
              <a:xfrm>
                <a:off x="9528688" y="3155685"/>
                <a:ext cx="47731" cy="47731"/>
              </a:xfrm>
              <a:prstGeom prst="ellipse">
                <a:avLst/>
              </a:prstGeom>
              <a:solidFill>
                <a:srgbClr val="8C2D1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语义节点"/>
              <p:cNvSpPr/>
              <p:nvPr/>
            </p:nvSpPr>
            <p:spPr>
              <a:xfrm>
                <a:off x="9313895" y="3306836"/>
                <a:ext cx="47731" cy="47731"/>
              </a:xfrm>
              <a:prstGeom prst="ellipse">
                <a:avLst/>
              </a:prstGeom>
              <a:solidFill>
                <a:srgbClr val="8C2D1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语义节点"/>
              <p:cNvSpPr/>
              <p:nvPr/>
            </p:nvSpPr>
            <p:spPr>
              <a:xfrm>
                <a:off x="9528688" y="3306836"/>
                <a:ext cx="47731" cy="47731"/>
              </a:xfrm>
              <a:prstGeom prst="ellipse">
                <a:avLst/>
              </a:prstGeom>
              <a:solidFill>
                <a:srgbClr val="8C2D1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49" name="文本_共同约定"/>
            <p:cNvSpPr txBox="1"/>
            <p:nvPr/>
          </p:nvSpPr>
          <p:spPr>
            <a:xfrm>
              <a:off x="9015984" y="3794760"/>
              <a:ext cx="2468880" cy="411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8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共同约定</a:t>
              </a:r>
              <a:endParaRPr lang="zh-CN" sz="2000"/>
            </a:p>
          </p:txBody>
        </p:sp>
        <p:sp>
          <p:nvSpPr>
            <p:cNvPr id="50" name="文本_保存下一步"/>
            <p:cNvSpPr txBox="1"/>
            <p:nvPr/>
          </p:nvSpPr>
          <p:spPr>
            <a:xfrm>
              <a:off x="9015984" y="4398264"/>
              <a:ext cx="246888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0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3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保存下一步</a:t>
              </a:r>
              <a:endParaRPr lang="zh-CN" sz="1430"/>
            </a:p>
          </p:txBody>
        </p:sp>
      </p:grpSp>
      <p:cxnSp>
        <p:nvCxnSpPr>
          <p:cNvPr id="52" name="分隔细线"/>
          <p:cNvCxnSpPr/>
          <p:nvPr/>
        </p:nvCxnSpPr>
        <p:spPr>
          <a:xfrm>
            <a:off x="594360" y="5074920"/>
            <a:ext cx="11000232" cy="0"/>
          </a:xfrm>
          <a:prstGeom prst="line">
            <a:avLst/>
          </a:prstGeom>
          <a:ln w="698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_文字闭环优先"/>
          <p:cNvSpPr txBox="1"/>
          <p:nvPr/>
        </p:nvSpPr>
        <p:spPr>
          <a:xfrm>
            <a:off x="594360" y="5340096"/>
            <a:ext cx="2276856" cy="374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3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70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文字闭环优先</a:t>
            </a:r>
            <a:endParaRPr lang="zh-CN" sz="1700"/>
          </a:p>
        </p:txBody>
      </p:sp>
      <p:sp>
        <p:nvSpPr>
          <p:cNvPr id="54" name="文本_本地保存拟采用 Room；_不能代替协作后端。"/>
          <p:cNvSpPr txBox="1"/>
          <p:nvPr/>
        </p:nvSpPr>
        <p:spPr>
          <a:xfrm>
            <a:off x="3072384" y="5367528"/>
            <a:ext cx="3602736" cy="6126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2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本地保存拟采用 Room；</a:t>
            </a:r>
            <a:endParaRPr lang="zh-CN" sz="1320"/>
          </a:p>
          <a:p>
            <a:pPr algn="l">
              <a:lnSpc>
                <a:spcPts val="188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2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不能代替协作后端。</a:t>
            </a:r>
            <a:endParaRPr lang="zh-CN" sz="1320"/>
          </a:p>
        </p:txBody>
      </p:sp>
      <p:sp>
        <p:nvSpPr>
          <p:cNvPr id="55" name="文本_账号、权限、同步冲突、退出与删除_需由协作服务支持；语音"/>
          <p:cNvSpPr txBox="1"/>
          <p:nvPr/>
        </p:nvSpPr>
        <p:spPr>
          <a:xfrm>
            <a:off x="7104888" y="5367528"/>
            <a:ext cx="4425696" cy="630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8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2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账号、权限、同步冲突、退出与删除</a:t>
            </a:r>
            <a:endParaRPr lang="zh-CN" sz="1320"/>
          </a:p>
          <a:p>
            <a:pPr algn="l">
              <a:lnSpc>
                <a:spcPts val="188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2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需由协作服务支持；语音和周看板后置。</a:t>
            </a:r>
            <a:endParaRPr lang="zh-CN" sz="1320"/>
          </a:p>
        </p:txBody>
      </p:sp>
      <p:sp>
        <p:nvSpPr>
          <p:cNvPr id="56" name="文本_真实双机未跑通时，展示单机与双角色流程示意，不宣称实时协"/>
          <p:cNvSpPr txBox="1"/>
          <p:nvPr/>
        </p:nvSpPr>
        <p:spPr>
          <a:xfrm>
            <a:off x="594360" y="6153912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真实双机未跑通时，展示单机与双角色流程示意，不宣称实时协作已完成。</a:t>
            </a:r>
            <a:endParaRPr lang="zh-CN" sz="11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4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4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4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_成员C  ／  近竞品与用户范围"/>
          <p:cNvSpPr txBox="1"/>
          <p:nvPr/>
        </p:nvSpPr>
        <p:spPr>
          <a:xfrm>
            <a:off x="594360" y="370332"/>
            <a:ext cx="822960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成员C  ／  近竞品与用户范围</a:t>
            </a:r>
            <a:endParaRPr lang="zh-CN" sz="1070"/>
          </a:p>
        </p:txBody>
      </p:sp>
      <p:sp>
        <p:nvSpPr>
          <p:cNvPr id="3" name="文本_14"/>
          <p:cNvSpPr txBox="1"/>
          <p:nvPr/>
        </p:nvSpPr>
        <p:spPr>
          <a:xfrm>
            <a:off x="11247120" y="374904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1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14</a:t>
            </a:r>
            <a:endParaRPr lang="zh-CN" sz="1070"/>
          </a:p>
        </p:txBody>
      </p:sp>
      <p:sp>
        <p:nvSpPr>
          <p:cNvPr id="4" name="!!chapterNum2"/>
          <p:cNvSpPr txBox="1"/>
          <p:nvPr/>
        </p:nvSpPr>
        <p:spPr>
          <a:xfrm>
            <a:off x="9043416" y="1197864"/>
            <a:ext cx="2505456" cy="19751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8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800" b="0">
                <a:solidFill>
                  <a:srgbClr val="8C2D19"/>
                </a:solidFill>
                <a:latin typeface="Source Han Serif SC SemiBold"/>
                <a:ea typeface="Source Han Serif SC SemiBold"/>
                <a:cs typeface="Source Han Serif SC SemiBold"/>
              </a:rPr>
              <a:t>03</a:t>
            </a:r>
            <a:endParaRPr lang="zh-CN" sz="10800"/>
          </a:p>
        </p:txBody>
      </p:sp>
      <p:cxnSp>
        <p:nvCxnSpPr>
          <p:cNvPr id="5" name="分隔细线"/>
          <p:cNvCxnSpPr/>
          <p:nvPr/>
        </p:nvCxnSpPr>
        <p:spPr>
          <a:xfrm>
            <a:off x="594360" y="1344168"/>
            <a:ext cx="7205471" cy="0"/>
          </a:xfrm>
          <a:prstGeom prst="line">
            <a:avLst/>
          </a:prstGeom>
          <a:ln w="7620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!!chapterTitle2"/>
          <p:cNvSpPr txBox="1"/>
          <p:nvPr/>
        </p:nvSpPr>
        <p:spPr>
          <a:xfrm>
            <a:off x="576072" y="1856231"/>
            <a:ext cx="7434072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5375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3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用户范围</a:t>
            </a:r>
            <a:endParaRPr lang="zh-CN" sz="4300"/>
          </a:p>
        </p:txBody>
      </p:sp>
      <p:sp>
        <p:nvSpPr>
          <p:cNvPr id="7" name="文本_先找准操作边界，_再谈谁适合使用。"/>
          <p:cNvSpPr txBox="1"/>
          <p:nvPr/>
        </p:nvSpPr>
        <p:spPr>
          <a:xfrm>
            <a:off x="594360" y="3337560"/>
            <a:ext cx="7498079" cy="950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33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2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先找准操作边界，</a:t>
            </a:r>
            <a:endParaRPr lang="zh-CN" sz="2320"/>
          </a:p>
          <a:p>
            <a:pPr algn="l">
              <a:lnSpc>
                <a:spcPts val="3433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2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再谈谁适合使用。</a:t>
            </a:r>
            <a:endParaRPr lang="zh-CN" sz="2320"/>
          </a:p>
        </p:txBody>
      </p:sp>
      <p:sp>
        <p:nvSpPr>
          <p:cNvPr id="8" name="!!chapterTitle0"/>
          <p:cNvSpPr txBox="1"/>
          <p:nvPr/>
        </p:nvSpPr>
        <p:spPr>
          <a:xfrm>
            <a:off x="9034272" y="4791456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8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8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问题界定</a:t>
            </a:r>
            <a:endParaRPr lang="zh-CN" sz="1280"/>
          </a:p>
        </p:txBody>
      </p:sp>
      <p:sp>
        <p:nvSpPr>
          <p:cNvPr id="9" name="!!chapterTitle1"/>
          <p:cNvSpPr txBox="1"/>
          <p:nvPr/>
        </p:nvSpPr>
        <p:spPr>
          <a:xfrm>
            <a:off x="9034272" y="523036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8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8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产品演示</a:t>
            </a:r>
            <a:endParaRPr lang="zh-CN" sz="1280"/>
          </a:p>
        </p:txBody>
      </p:sp>
      <p:sp>
        <p:nvSpPr>
          <p:cNvPr id="10" name="!!chapterTitle3"/>
          <p:cNvSpPr txBox="1"/>
          <p:nvPr/>
        </p:nvSpPr>
        <p:spPr>
          <a:xfrm>
            <a:off x="9034272" y="566928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8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8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验证计划</a:t>
            </a:r>
            <a:endParaRPr lang="zh-CN" sz="1280"/>
          </a:p>
        </p:txBody>
      </p:sp>
      <p:sp>
        <p:nvSpPr>
          <p:cNvPr id="11" name="文本_近竞品与用户范围"/>
          <p:cNvSpPr txBox="1"/>
          <p:nvPr/>
        </p:nvSpPr>
        <p:spPr>
          <a:xfrm>
            <a:off x="594360" y="5897880"/>
            <a:ext cx="7498079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0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3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近竞品与用户范围</a:t>
            </a:r>
            <a:endParaRPr lang="zh-CN" sz="1330"/>
          </a:p>
        </p:txBody>
      </p:sp>
      <p:cxnSp>
        <p:nvCxnSpPr>
          <p:cNvPr id="12" name="分隔细线"/>
          <p:cNvCxnSpPr/>
          <p:nvPr/>
        </p:nvCxnSpPr>
        <p:spPr>
          <a:xfrm>
            <a:off x="585216" y="6451092"/>
            <a:ext cx="1100937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1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"/>
          <p:cNvSpPr txBox="1"/>
          <p:nvPr/>
        </p:nvSpPr>
        <p:spPr>
          <a:xfrm>
            <a:off x="594360" y="370332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近竞品与用户范围</a:t>
            </a:r>
            <a:endParaRPr lang="zh-CN" sz="1070"/>
          </a:p>
        </p:txBody>
      </p:sp>
      <p:sp>
        <p:nvSpPr>
          <p:cNvPr id="3" name="!!chapterTitle0"/>
          <p:cNvSpPr txBox="1"/>
          <p:nvPr/>
        </p:nvSpPr>
        <p:spPr>
          <a:xfrm>
            <a:off x="7040880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问题界定</a:t>
            </a:r>
            <a:endParaRPr lang="zh-CN" sz="919"/>
          </a:p>
        </p:txBody>
      </p:sp>
      <p:sp>
        <p:nvSpPr>
          <p:cNvPr id="4" name="!!chapterTitle1"/>
          <p:cNvSpPr txBox="1"/>
          <p:nvPr/>
        </p:nvSpPr>
        <p:spPr>
          <a:xfrm>
            <a:off x="8065008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产品演示</a:t>
            </a:r>
            <a:endParaRPr lang="zh-CN" sz="919"/>
          </a:p>
        </p:txBody>
      </p:sp>
      <p:sp>
        <p:nvSpPr>
          <p:cNvPr id="5" name="!!chapterTitle2"/>
          <p:cNvSpPr txBox="1"/>
          <p:nvPr/>
        </p:nvSpPr>
        <p:spPr>
          <a:xfrm>
            <a:off x="9089136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用户范围</a:t>
            </a:r>
            <a:endParaRPr lang="zh-CN" sz="919"/>
          </a:p>
        </p:txBody>
      </p:sp>
      <p:cxnSp>
        <p:nvCxnSpPr>
          <p:cNvPr id="6" name="!!activeNavRule"/>
          <p:cNvCxnSpPr/>
          <p:nvPr/>
        </p:nvCxnSpPr>
        <p:spPr>
          <a:xfrm>
            <a:off x="9089136" y="701344"/>
            <a:ext cx="570585" cy="0"/>
          </a:xfrm>
          <a:prstGeom prst="line">
            <a:avLst/>
          </a:prstGeom>
          <a:ln w="10160">
            <a:solidFill>
              <a:srgbClr val="8C2D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!!chapterTitle3"/>
          <p:cNvSpPr txBox="1"/>
          <p:nvPr/>
        </p:nvSpPr>
        <p:spPr>
          <a:xfrm>
            <a:off x="10113264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验证计划</a:t>
            </a:r>
            <a:endParaRPr lang="zh-CN" sz="919"/>
          </a:p>
        </p:txBody>
      </p:sp>
      <p:sp>
        <p:nvSpPr>
          <p:cNvPr id="8" name="页码"/>
          <p:cNvSpPr txBox="1"/>
          <p:nvPr/>
        </p:nvSpPr>
        <p:spPr>
          <a:xfrm>
            <a:off x="11247120" y="374904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15</a:t>
            </a:r>
            <a:endParaRPr lang="zh-CN" sz="1070"/>
          </a:p>
        </p:txBody>
      </p:sp>
      <p:sp>
        <p:nvSpPr>
          <p:cNvPr id="9" name="主标题"/>
          <p:cNvSpPr txBox="1"/>
          <p:nvPr/>
        </p:nvSpPr>
        <p:spPr>
          <a:xfrm>
            <a:off x="576072" y="932688"/>
            <a:ext cx="10972800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1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差异在操作，不在“市场空白”。</a:t>
            </a:r>
            <a:endParaRPr lang="zh-CN" sz="3100"/>
          </a:p>
        </p:txBody>
      </p:sp>
      <p:cxnSp>
        <p:nvCxnSpPr>
          <p:cNvPr id="10" name="分隔细线"/>
          <p:cNvCxnSpPr/>
          <p:nvPr/>
        </p:nvCxnSpPr>
        <p:spPr>
          <a:xfrm>
            <a:off x="585216" y="6451092"/>
            <a:ext cx="1100937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_普通文本无链接"/>
          <p:cNvSpPr txBox="1"/>
          <p:nvPr/>
        </p:nvSpPr>
        <p:spPr>
          <a:xfrm>
            <a:off x="594360" y="6528816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46"/>
              </a:lnSpc>
              <a:spcBef>
                <a:spcPts val="0"/>
              </a:spcBef>
              <a:spcAft>
                <a:spcPts val="0"/>
              </a:spcAft>
            </a:pPr>
            <a:endParaRPr lang="zh-CN" sz="910" dirty="0"/>
          </a:p>
        </p:txBody>
      </p:sp>
      <p:sp>
        <p:nvSpPr>
          <p:cNvPr id="12" name="近竞品纸页"/>
          <p:cNvSpPr/>
          <p:nvPr/>
        </p:nvSpPr>
        <p:spPr>
          <a:xfrm>
            <a:off x="594360" y="2048256"/>
            <a:ext cx="5376672" cy="4041648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3" name="文本_FairPlay: Chores for Couples"/>
          <p:cNvSpPr txBox="1"/>
          <p:nvPr/>
        </p:nvSpPr>
        <p:spPr>
          <a:xfrm>
            <a:off x="868680" y="2304288"/>
            <a:ext cx="482803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FairPlay: Chores for Couples</a:t>
            </a:r>
            <a:endParaRPr lang="zh-CN" sz="1800"/>
          </a:p>
        </p:txBody>
      </p:sp>
      <p:sp>
        <p:nvSpPr>
          <p:cNvPr id="14" name="近竞品纸页"/>
          <p:cNvSpPr/>
          <p:nvPr/>
        </p:nvSpPr>
        <p:spPr>
          <a:xfrm>
            <a:off x="6217920" y="2048256"/>
            <a:ext cx="5376672" cy="4041648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5" name="文本_隐形家务翻译器"/>
          <p:cNvSpPr txBox="1"/>
          <p:nvPr/>
        </p:nvSpPr>
        <p:spPr>
          <a:xfrm>
            <a:off x="6492240" y="2304288"/>
            <a:ext cx="482803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隐形家务翻译器</a:t>
            </a:r>
            <a:endParaRPr lang="zh-CN" sz="1800"/>
          </a:p>
        </p:txBody>
      </p:sp>
      <p:grpSp>
        <p:nvGrpSpPr>
          <p:cNvPr id="29" name="ANIM:competitor"/>
          <p:cNvGrpSpPr/>
          <p:nvPr/>
        </p:nvGrpSpPr>
        <p:grpSpPr>
          <a:xfrm>
            <a:off x="914400" y="3157423"/>
            <a:ext cx="4535424" cy="2649017"/>
            <a:chOff x="914400" y="3157423"/>
            <a:chExt cx="4535424" cy="2649017"/>
          </a:xfrm>
        </p:grpSpPr>
        <p:grpSp>
          <p:nvGrpSpPr>
            <p:cNvPr id="19" name="图标_phone"/>
            <p:cNvGrpSpPr/>
            <p:nvPr/>
          </p:nvGrpSpPr>
          <p:grpSpPr>
            <a:xfrm>
              <a:off x="1173632" y="3157423"/>
              <a:ext cx="451256" cy="844905"/>
              <a:chOff x="1173632" y="3157423"/>
              <a:chExt cx="451256" cy="844905"/>
            </a:xfrm>
          </p:grpSpPr>
          <p:sp>
            <p:nvSpPr>
              <p:cNvPr id="16" name="直角形状"/>
              <p:cNvSpPr/>
              <p:nvPr/>
            </p:nvSpPr>
            <p:spPr>
              <a:xfrm>
                <a:off x="1173632" y="3157423"/>
                <a:ext cx="451256" cy="844905"/>
              </a:xfrm>
              <a:prstGeom prst="rect">
                <a:avLst/>
              </a:prstGeom>
              <a:noFill/>
              <a:ln w="10160">
                <a:solidFill>
                  <a:srgbClr val="24241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7" name="图解线条"/>
              <p:cNvCxnSpPr/>
              <p:nvPr/>
            </p:nvCxnSpPr>
            <p:spPr>
              <a:xfrm>
                <a:off x="1308049" y="3243834"/>
                <a:ext cx="182423" cy="0"/>
              </a:xfrm>
              <a:prstGeom prst="line">
                <a:avLst/>
              </a:prstGeom>
              <a:ln w="12065">
                <a:solidFill>
                  <a:srgbClr val="24241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图解线条"/>
              <p:cNvCxnSpPr/>
              <p:nvPr/>
            </p:nvCxnSpPr>
            <p:spPr>
              <a:xfrm>
                <a:off x="1336852" y="3915918"/>
                <a:ext cx="124816" cy="0"/>
              </a:xfrm>
              <a:prstGeom prst="line">
                <a:avLst/>
              </a:prstGeom>
              <a:ln w="12065">
                <a:solidFill>
                  <a:srgbClr val="24241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角色_甲"/>
            <p:cNvGrpSpPr/>
            <p:nvPr/>
          </p:nvGrpSpPr>
          <p:grpSpPr>
            <a:xfrm>
              <a:off x="2404872" y="3310128"/>
              <a:ext cx="530352" cy="530352"/>
              <a:chOff x="2404872" y="3310128"/>
              <a:chExt cx="530352" cy="530352"/>
            </a:xfrm>
          </p:grpSpPr>
          <p:sp>
            <p:nvSpPr>
              <p:cNvPr id="20" name="语义节点"/>
              <p:cNvSpPr/>
              <p:nvPr/>
            </p:nvSpPr>
            <p:spPr>
              <a:xfrm>
                <a:off x="2404872" y="3310128"/>
                <a:ext cx="530352" cy="530352"/>
              </a:xfrm>
              <a:prstGeom prst="ellipse">
                <a:avLst/>
              </a:prstGeom>
              <a:solidFill>
                <a:srgbClr val="FCFBF8"/>
              </a:solidFill>
              <a:ln w="10160">
                <a:solidFill>
                  <a:srgbClr val="24241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文本_甲"/>
              <p:cNvSpPr txBox="1"/>
              <p:nvPr/>
            </p:nvSpPr>
            <p:spPr>
              <a:xfrm>
                <a:off x="2404872" y="3401568"/>
                <a:ext cx="530352" cy="30175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ts val="154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b="0">
                    <a:solidFill>
                      <a:srgbClr val="24241F"/>
                    </a:solidFill>
                    <a:latin typeface="Noto Sans SC Medium"/>
                    <a:ea typeface="Noto Sans SC Medium"/>
                    <a:cs typeface="Noto Sans SC Medium"/>
                  </a:rPr>
                  <a:t>甲</a:t>
                </a:r>
                <a:endParaRPr lang="zh-CN" sz="1400"/>
              </a:p>
            </p:txBody>
          </p:sp>
        </p:grpSp>
        <p:grpSp>
          <p:nvGrpSpPr>
            <p:cNvPr id="25" name="角色_乙"/>
            <p:cNvGrpSpPr/>
            <p:nvPr/>
          </p:nvGrpSpPr>
          <p:grpSpPr>
            <a:xfrm>
              <a:off x="3191256" y="3310128"/>
              <a:ext cx="530352" cy="530352"/>
              <a:chOff x="3191256" y="3310128"/>
              <a:chExt cx="530352" cy="530352"/>
            </a:xfrm>
          </p:grpSpPr>
          <p:sp>
            <p:nvSpPr>
              <p:cNvPr id="23" name="语义节点"/>
              <p:cNvSpPr/>
              <p:nvPr/>
            </p:nvSpPr>
            <p:spPr>
              <a:xfrm>
                <a:off x="3191256" y="3310128"/>
                <a:ext cx="530352" cy="530352"/>
              </a:xfrm>
              <a:prstGeom prst="ellipse">
                <a:avLst/>
              </a:prstGeom>
              <a:solidFill>
                <a:srgbClr val="FCFBF8"/>
              </a:solidFill>
              <a:ln w="10160">
                <a:solidFill>
                  <a:srgbClr val="24241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文本_乙"/>
              <p:cNvSpPr txBox="1"/>
              <p:nvPr/>
            </p:nvSpPr>
            <p:spPr>
              <a:xfrm>
                <a:off x="3191256" y="3401568"/>
                <a:ext cx="530352" cy="30175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ts val="154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b="0">
                    <a:solidFill>
                      <a:srgbClr val="24241F"/>
                    </a:solidFill>
                    <a:latin typeface="Noto Sans SC Medium"/>
                    <a:ea typeface="Noto Sans SC Medium"/>
                    <a:cs typeface="Noto Sans SC Medium"/>
                  </a:rPr>
                  <a:t>乙</a:t>
                </a:r>
                <a:endParaRPr lang="zh-CN" sz="1400"/>
              </a:p>
            </p:txBody>
          </p:sp>
        </p:grpSp>
        <p:sp>
          <p:nvSpPr>
            <p:cNvPr id="26" name="原生矢量路径"/>
            <p:cNvSpPr/>
            <p:nvPr/>
          </p:nvSpPr>
          <p:spPr>
            <a:xfrm>
              <a:off x="1773936" y="3575304"/>
              <a:ext cx="594360" cy="27432"/>
            </a:xfrm>
            <a:custGeom>
              <a:avLst/>
              <a:gdLst/>
              <a:ahLst/>
              <a:cxnLst/>
              <a:rect l="l" t="t" r="r" b="b"/>
              <a:pathLst>
                <a:path w="594360" h="27432">
                  <a:moveTo>
                    <a:pt x="0" y="27432"/>
                  </a:moveTo>
                  <a:lnTo>
                    <a:pt x="274320" y="27432"/>
                  </a:lnTo>
                  <a:lnTo>
                    <a:pt x="274320" y="0"/>
                  </a:lnTo>
                  <a:lnTo>
                    <a:pt x="594360" y="0"/>
                  </a:lnTo>
                </a:path>
              </a:pathLst>
            </a:custGeom>
            <a:noFill/>
            <a:ln w="10160">
              <a:solidFill>
                <a:srgbClr val="D4D2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文本_同一台 iPhone 共用"/>
            <p:cNvSpPr txBox="1"/>
            <p:nvPr/>
          </p:nvSpPr>
          <p:spPr>
            <a:xfrm>
              <a:off x="914400" y="4343400"/>
              <a:ext cx="4535424" cy="4206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71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90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同一台 iPhone 共用</a:t>
              </a:r>
              <a:endParaRPr lang="zh-CN" sz="1900"/>
            </a:p>
          </p:txBody>
        </p:sp>
        <p:sp>
          <p:nvSpPr>
            <p:cNvPr id="28" name="文本_家务责任卡、脑力劳动点数、每周复盘；_官方同样强调不裁判"/>
            <p:cNvSpPr txBox="1"/>
            <p:nvPr/>
          </p:nvSpPr>
          <p:spPr>
            <a:xfrm>
              <a:off x="914400" y="5038344"/>
              <a:ext cx="4535424" cy="7680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10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2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家务责任卡、脑力劳动点数、每周复盘；</a:t>
              </a:r>
              <a:endParaRPr lang="zh-CN" sz="1420"/>
            </a:p>
            <a:p>
              <a:pPr algn="l">
                <a:lnSpc>
                  <a:spcPts val="210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2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官方同样强调不裁判伴侣关系。</a:t>
              </a:r>
              <a:endParaRPr lang="zh-CN" sz="1420"/>
            </a:p>
          </p:txBody>
        </p:sp>
      </p:grpSp>
      <p:grpSp>
        <p:nvGrpSpPr>
          <p:cNvPr id="52" name="ANIM:ourDifference"/>
          <p:cNvGrpSpPr/>
          <p:nvPr/>
        </p:nvGrpSpPr>
        <p:grpSpPr>
          <a:xfrm>
            <a:off x="6528816" y="3157423"/>
            <a:ext cx="4727448" cy="2630729"/>
            <a:chOff x="6528816" y="3157423"/>
            <a:chExt cx="4727448" cy="2630729"/>
          </a:xfrm>
        </p:grpSpPr>
        <p:grpSp>
          <p:nvGrpSpPr>
            <p:cNvPr id="33" name="图标_phone"/>
            <p:cNvGrpSpPr/>
            <p:nvPr/>
          </p:nvGrpSpPr>
          <p:grpSpPr>
            <a:xfrm>
              <a:off x="6833768" y="3157423"/>
              <a:ext cx="451256" cy="844905"/>
              <a:chOff x="6833768" y="3157423"/>
              <a:chExt cx="451256" cy="844905"/>
            </a:xfrm>
          </p:grpSpPr>
          <p:sp>
            <p:nvSpPr>
              <p:cNvPr id="30" name="直角形状"/>
              <p:cNvSpPr/>
              <p:nvPr/>
            </p:nvSpPr>
            <p:spPr>
              <a:xfrm>
                <a:off x="6833768" y="3157423"/>
                <a:ext cx="451256" cy="844905"/>
              </a:xfrm>
              <a:prstGeom prst="rect">
                <a:avLst/>
              </a:prstGeom>
              <a:noFill/>
              <a:ln w="10160">
                <a:solidFill>
                  <a:srgbClr val="24241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1" name="图解线条"/>
              <p:cNvCxnSpPr/>
              <p:nvPr/>
            </p:nvCxnSpPr>
            <p:spPr>
              <a:xfrm>
                <a:off x="6968185" y="3243834"/>
                <a:ext cx="182423" cy="0"/>
              </a:xfrm>
              <a:prstGeom prst="line">
                <a:avLst/>
              </a:prstGeom>
              <a:ln w="12065">
                <a:solidFill>
                  <a:srgbClr val="24241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图解线条"/>
              <p:cNvCxnSpPr/>
              <p:nvPr/>
            </p:nvCxnSpPr>
            <p:spPr>
              <a:xfrm>
                <a:off x="6996988" y="3915918"/>
                <a:ext cx="124816" cy="0"/>
              </a:xfrm>
              <a:prstGeom prst="line">
                <a:avLst/>
              </a:prstGeom>
              <a:ln w="12065">
                <a:solidFill>
                  <a:srgbClr val="24241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图标_lock"/>
            <p:cNvGrpSpPr/>
            <p:nvPr/>
          </p:nvGrpSpPr>
          <p:grpSpPr>
            <a:xfrm>
              <a:off x="7587051" y="3353013"/>
              <a:ext cx="256489" cy="326440"/>
              <a:chOff x="7587051" y="3353013"/>
              <a:chExt cx="256489" cy="326440"/>
            </a:xfrm>
          </p:grpSpPr>
          <p:sp>
            <p:nvSpPr>
              <p:cNvPr id="34" name="直角形状"/>
              <p:cNvSpPr/>
              <p:nvPr/>
            </p:nvSpPr>
            <p:spPr>
              <a:xfrm>
                <a:off x="7587051" y="3469599"/>
                <a:ext cx="256489" cy="209854"/>
              </a:xfrm>
              <a:prstGeom prst="rect">
                <a:avLst/>
              </a:prstGeom>
              <a:noFill/>
              <a:ln w="1016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原生矢量路径"/>
              <p:cNvSpPr/>
              <p:nvPr/>
            </p:nvSpPr>
            <p:spPr>
              <a:xfrm>
                <a:off x="7631353" y="3353013"/>
                <a:ext cx="167884" cy="107259"/>
              </a:xfrm>
              <a:custGeom>
                <a:avLst/>
                <a:gdLst/>
                <a:ahLst/>
                <a:cxnLst/>
                <a:rect l="l" t="t" r="r" b="b"/>
                <a:pathLst>
                  <a:path w="167884" h="107259">
                    <a:moveTo>
                      <a:pt x="0" y="107259"/>
                    </a:moveTo>
                    <a:lnTo>
                      <a:pt x="1613" y="86334"/>
                    </a:lnTo>
                    <a:lnTo>
                      <a:pt x="6390" y="66213"/>
                    </a:lnTo>
                    <a:lnTo>
                      <a:pt x="14147" y="47669"/>
                    </a:lnTo>
                    <a:lnTo>
                      <a:pt x="24586" y="31415"/>
                    </a:lnTo>
                    <a:lnTo>
                      <a:pt x="37307" y="18076"/>
                    </a:lnTo>
                    <a:lnTo>
                      <a:pt x="51819" y="8164"/>
                    </a:lnTo>
                    <a:lnTo>
                      <a:pt x="67566" y="2061"/>
                    </a:lnTo>
                    <a:lnTo>
                      <a:pt x="83942" y="0"/>
                    </a:lnTo>
                    <a:lnTo>
                      <a:pt x="100318" y="2061"/>
                    </a:lnTo>
                    <a:lnTo>
                      <a:pt x="116065" y="8164"/>
                    </a:lnTo>
                    <a:lnTo>
                      <a:pt x="130578" y="18076"/>
                    </a:lnTo>
                    <a:lnTo>
                      <a:pt x="143298" y="31415"/>
                    </a:lnTo>
                    <a:lnTo>
                      <a:pt x="153737" y="47669"/>
                    </a:lnTo>
                    <a:lnTo>
                      <a:pt x="161494" y="66213"/>
                    </a:lnTo>
                    <a:lnTo>
                      <a:pt x="166271" y="86334"/>
                    </a:lnTo>
                    <a:lnTo>
                      <a:pt x="167884" y="107259"/>
                    </a:lnTo>
                  </a:path>
                </a:pathLst>
              </a:custGeom>
              <a:noFill/>
              <a:ln w="1270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6" name="图解线条"/>
              <p:cNvCxnSpPr/>
              <p:nvPr/>
            </p:nvCxnSpPr>
            <p:spPr>
              <a:xfrm>
                <a:off x="7715295" y="3544214"/>
                <a:ext cx="0" cy="65288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_甲 的私人草稿"/>
            <p:cNvSpPr txBox="1"/>
            <p:nvPr/>
          </p:nvSpPr>
          <p:spPr>
            <a:xfrm>
              <a:off x="6556248" y="4087368"/>
              <a:ext cx="137160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67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7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甲 的私人草稿</a:t>
              </a:r>
              <a:endParaRPr lang="zh-CN" sz="1170"/>
            </a:p>
          </p:txBody>
        </p:sp>
        <p:grpSp>
          <p:nvGrpSpPr>
            <p:cNvPr id="42" name="图标_phone"/>
            <p:cNvGrpSpPr/>
            <p:nvPr/>
          </p:nvGrpSpPr>
          <p:grpSpPr>
            <a:xfrm>
              <a:off x="9046616" y="3157423"/>
              <a:ext cx="451256" cy="844905"/>
              <a:chOff x="9046616" y="3157423"/>
              <a:chExt cx="451256" cy="844905"/>
            </a:xfrm>
          </p:grpSpPr>
          <p:sp>
            <p:nvSpPr>
              <p:cNvPr id="39" name="直角形状"/>
              <p:cNvSpPr/>
              <p:nvPr/>
            </p:nvSpPr>
            <p:spPr>
              <a:xfrm>
                <a:off x="9046616" y="3157423"/>
                <a:ext cx="451256" cy="844905"/>
              </a:xfrm>
              <a:prstGeom prst="rect">
                <a:avLst/>
              </a:prstGeom>
              <a:noFill/>
              <a:ln w="10160">
                <a:solidFill>
                  <a:srgbClr val="24241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0" name="图解线条"/>
              <p:cNvCxnSpPr/>
              <p:nvPr/>
            </p:nvCxnSpPr>
            <p:spPr>
              <a:xfrm>
                <a:off x="9181033" y="3243834"/>
                <a:ext cx="182423" cy="0"/>
              </a:xfrm>
              <a:prstGeom prst="line">
                <a:avLst/>
              </a:prstGeom>
              <a:ln w="12065">
                <a:solidFill>
                  <a:srgbClr val="24241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图解线条"/>
              <p:cNvCxnSpPr/>
              <p:nvPr/>
            </p:nvCxnSpPr>
            <p:spPr>
              <a:xfrm>
                <a:off x="9209836" y="3915918"/>
                <a:ext cx="124816" cy="0"/>
              </a:xfrm>
              <a:prstGeom prst="line">
                <a:avLst/>
              </a:prstGeom>
              <a:ln w="12065">
                <a:solidFill>
                  <a:srgbClr val="24241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图标_lock"/>
            <p:cNvGrpSpPr/>
            <p:nvPr/>
          </p:nvGrpSpPr>
          <p:grpSpPr>
            <a:xfrm>
              <a:off x="9799899" y="3353013"/>
              <a:ext cx="256489" cy="326440"/>
              <a:chOff x="9799899" y="3353013"/>
              <a:chExt cx="256489" cy="326440"/>
            </a:xfrm>
          </p:grpSpPr>
          <p:sp>
            <p:nvSpPr>
              <p:cNvPr id="43" name="直角形状"/>
              <p:cNvSpPr/>
              <p:nvPr/>
            </p:nvSpPr>
            <p:spPr>
              <a:xfrm>
                <a:off x="9799899" y="3469599"/>
                <a:ext cx="256489" cy="209854"/>
              </a:xfrm>
              <a:prstGeom prst="rect">
                <a:avLst/>
              </a:prstGeom>
              <a:noFill/>
              <a:ln w="1016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原生矢量路径"/>
              <p:cNvSpPr/>
              <p:nvPr/>
            </p:nvSpPr>
            <p:spPr>
              <a:xfrm>
                <a:off x="9844201" y="3353013"/>
                <a:ext cx="167884" cy="107259"/>
              </a:xfrm>
              <a:custGeom>
                <a:avLst/>
                <a:gdLst/>
                <a:ahLst/>
                <a:cxnLst/>
                <a:rect l="l" t="t" r="r" b="b"/>
                <a:pathLst>
                  <a:path w="167884" h="107259">
                    <a:moveTo>
                      <a:pt x="0" y="107259"/>
                    </a:moveTo>
                    <a:lnTo>
                      <a:pt x="1613" y="86334"/>
                    </a:lnTo>
                    <a:lnTo>
                      <a:pt x="6390" y="66213"/>
                    </a:lnTo>
                    <a:lnTo>
                      <a:pt x="14147" y="47669"/>
                    </a:lnTo>
                    <a:lnTo>
                      <a:pt x="24586" y="31415"/>
                    </a:lnTo>
                    <a:lnTo>
                      <a:pt x="37307" y="18076"/>
                    </a:lnTo>
                    <a:lnTo>
                      <a:pt x="51819" y="8164"/>
                    </a:lnTo>
                    <a:lnTo>
                      <a:pt x="67566" y="2061"/>
                    </a:lnTo>
                    <a:lnTo>
                      <a:pt x="83942" y="0"/>
                    </a:lnTo>
                    <a:lnTo>
                      <a:pt x="100318" y="2061"/>
                    </a:lnTo>
                    <a:lnTo>
                      <a:pt x="116065" y="8164"/>
                    </a:lnTo>
                    <a:lnTo>
                      <a:pt x="130578" y="18076"/>
                    </a:lnTo>
                    <a:lnTo>
                      <a:pt x="143298" y="31415"/>
                    </a:lnTo>
                    <a:lnTo>
                      <a:pt x="153737" y="47669"/>
                    </a:lnTo>
                    <a:lnTo>
                      <a:pt x="161494" y="66213"/>
                    </a:lnTo>
                    <a:lnTo>
                      <a:pt x="166271" y="86334"/>
                    </a:lnTo>
                    <a:lnTo>
                      <a:pt x="167884" y="107259"/>
                    </a:lnTo>
                  </a:path>
                </a:pathLst>
              </a:custGeom>
              <a:noFill/>
              <a:ln w="1270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5" name="图解线条"/>
              <p:cNvCxnSpPr/>
              <p:nvPr/>
            </p:nvCxnSpPr>
            <p:spPr>
              <a:xfrm>
                <a:off x="9928143" y="3544214"/>
                <a:ext cx="0" cy="65288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文本_乙 的私人草稿"/>
            <p:cNvSpPr txBox="1"/>
            <p:nvPr/>
          </p:nvSpPr>
          <p:spPr>
            <a:xfrm>
              <a:off x="8769096" y="4087368"/>
              <a:ext cx="137160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67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7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乙 的私人草稿</a:t>
              </a:r>
              <a:endParaRPr lang="zh-CN" sz="1170"/>
            </a:p>
          </p:txBody>
        </p:sp>
        <p:cxnSp>
          <p:nvCxnSpPr>
            <p:cNvPr id="48" name="流程连线"/>
            <p:cNvCxnSpPr/>
            <p:nvPr/>
          </p:nvCxnSpPr>
          <p:spPr>
            <a:xfrm>
              <a:off x="7818120" y="3602736"/>
              <a:ext cx="795528" cy="0"/>
            </a:xfrm>
            <a:prstGeom prst="line">
              <a:avLst/>
            </a:prstGeom>
            <a:ln w="12700">
              <a:solidFill>
                <a:srgbClr val="8C2D1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原生矢量路径"/>
            <p:cNvSpPr/>
            <p:nvPr/>
          </p:nvSpPr>
          <p:spPr>
            <a:xfrm>
              <a:off x="8535693" y="3554941"/>
              <a:ext cx="77955" cy="95589"/>
            </a:xfrm>
            <a:custGeom>
              <a:avLst/>
              <a:gdLst/>
              <a:ahLst/>
              <a:cxnLst/>
              <a:rect l="l" t="t" r="r" b="b"/>
              <a:pathLst>
                <a:path w="77955" h="95589">
                  <a:moveTo>
                    <a:pt x="0" y="95589"/>
                  </a:moveTo>
                  <a:lnTo>
                    <a:pt x="77955" y="47795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8C2D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文本_拟探索双机独立、主动共享"/>
            <p:cNvSpPr txBox="1"/>
            <p:nvPr/>
          </p:nvSpPr>
          <p:spPr>
            <a:xfrm>
              <a:off x="6528816" y="4553712"/>
              <a:ext cx="4727448" cy="40233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6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39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拟探索双机独立、主动共享</a:t>
              </a:r>
              <a:endParaRPr lang="zh-CN" sz="1839"/>
            </a:p>
          </p:txBody>
        </p:sp>
        <p:sp>
          <p:nvSpPr>
            <p:cNvPr id="51" name="文本_中文日常条目；不计算个人总分，不排名。_这些是交互尝试，"/>
            <p:cNvSpPr txBox="1"/>
            <p:nvPr/>
          </p:nvSpPr>
          <p:spPr>
            <a:xfrm>
              <a:off x="6528816" y="5202936"/>
              <a:ext cx="4727448" cy="5852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0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8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中文日常条目；不计算个人总分，不排名。</a:t>
              </a:r>
              <a:endParaRPr lang="zh-CN" sz="1380"/>
            </a:p>
            <a:p>
              <a:pPr algn="l">
                <a:lnSpc>
                  <a:spcPts val="20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8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这些是交互尝试，不是已验证的优势。</a:t>
              </a:r>
              <a:endParaRPr lang="zh-CN" sz="138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2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"/>
          <p:cNvSpPr txBox="1"/>
          <p:nvPr/>
        </p:nvSpPr>
        <p:spPr>
          <a:xfrm>
            <a:off x="594360" y="370332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近竞品与用户范围</a:t>
            </a:r>
            <a:endParaRPr lang="zh-CN" sz="1070"/>
          </a:p>
        </p:txBody>
      </p:sp>
      <p:sp>
        <p:nvSpPr>
          <p:cNvPr id="3" name="!!chapterTitle0"/>
          <p:cNvSpPr txBox="1"/>
          <p:nvPr/>
        </p:nvSpPr>
        <p:spPr>
          <a:xfrm>
            <a:off x="7040880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问题界定</a:t>
            </a:r>
            <a:endParaRPr lang="zh-CN" sz="919"/>
          </a:p>
        </p:txBody>
      </p:sp>
      <p:sp>
        <p:nvSpPr>
          <p:cNvPr id="4" name="!!chapterTitle1"/>
          <p:cNvSpPr txBox="1"/>
          <p:nvPr/>
        </p:nvSpPr>
        <p:spPr>
          <a:xfrm>
            <a:off x="8065008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产品演示</a:t>
            </a:r>
            <a:endParaRPr lang="zh-CN" sz="919"/>
          </a:p>
        </p:txBody>
      </p:sp>
      <p:sp>
        <p:nvSpPr>
          <p:cNvPr id="5" name="!!chapterTitle2"/>
          <p:cNvSpPr txBox="1"/>
          <p:nvPr/>
        </p:nvSpPr>
        <p:spPr>
          <a:xfrm>
            <a:off x="9089136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用户范围</a:t>
            </a:r>
            <a:endParaRPr lang="zh-CN" sz="919"/>
          </a:p>
        </p:txBody>
      </p:sp>
      <p:cxnSp>
        <p:nvCxnSpPr>
          <p:cNvPr id="6" name="!!activeNavRule"/>
          <p:cNvCxnSpPr/>
          <p:nvPr/>
        </p:nvCxnSpPr>
        <p:spPr>
          <a:xfrm>
            <a:off x="9089136" y="701344"/>
            <a:ext cx="570585" cy="0"/>
          </a:xfrm>
          <a:prstGeom prst="line">
            <a:avLst/>
          </a:prstGeom>
          <a:ln w="10160">
            <a:solidFill>
              <a:srgbClr val="8C2D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!!chapterTitle3"/>
          <p:cNvSpPr txBox="1"/>
          <p:nvPr/>
        </p:nvSpPr>
        <p:spPr>
          <a:xfrm>
            <a:off x="10113264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验证计划</a:t>
            </a:r>
            <a:endParaRPr lang="zh-CN" sz="919"/>
          </a:p>
        </p:txBody>
      </p:sp>
      <p:sp>
        <p:nvSpPr>
          <p:cNvPr id="8" name="页码"/>
          <p:cNvSpPr txBox="1"/>
          <p:nvPr/>
        </p:nvSpPr>
        <p:spPr>
          <a:xfrm>
            <a:off x="11247120" y="374904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16</a:t>
            </a:r>
            <a:endParaRPr lang="zh-CN" sz="1070"/>
          </a:p>
        </p:txBody>
      </p:sp>
      <p:sp>
        <p:nvSpPr>
          <p:cNvPr id="9" name="主标题"/>
          <p:cNvSpPr txBox="1"/>
          <p:nvPr/>
        </p:nvSpPr>
        <p:spPr>
          <a:xfrm>
            <a:off x="576072" y="932688"/>
            <a:ext cx="7086600" cy="11978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1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只邀请愿意一起记录的</a:t>
            </a:r>
            <a:endParaRPr lang="zh-CN" sz="3100"/>
          </a:p>
          <a:p>
            <a:pPr algn="l">
              <a:lnSpc>
                <a:spcPts val="4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1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两名成年伴侣。</a:t>
            </a:r>
            <a:endParaRPr lang="zh-CN" sz="3100"/>
          </a:p>
        </p:txBody>
      </p:sp>
      <p:cxnSp>
        <p:nvCxnSpPr>
          <p:cNvPr id="10" name="分隔细线"/>
          <p:cNvCxnSpPr/>
          <p:nvPr/>
        </p:nvCxnSpPr>
        <p:spPr>
          <a:xfrm>
            <a:off x="585216" y="6451092"/>
            <a:ext cx="1100937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窄纸白裱边"/>
          <p:cNvSpPr/>
          <p:nvPr/>
        </p:nvSpPr>
        <p:spPr>
          <a:xfrm>
            <a:off x="7735824" y="1892807"/>
            <a:ext cx="3831336" cy="4270248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2" name="真实情境摄影" descr="备餐协作_Pexels7653651_原始.jpg"/>
          <p:cNvPicPr>
            <a:picLocks noChangeAspect="1"/>
          </p:cNvPicPr>
          <p:nvPr/>
        </p:nvPicPr>
        <p:blipFill>
          <a:blip r:embed="rId2"/>
          <a:srcRect t="2017" b="23190"/>
          <a:stretch>
            <a:fillRect/>
          </a:stretch>
        </p:blipFill>
        <p:spPr>
          <a:xfrm>
            <a:off x="7827264" y="1984248"/>
            <a:ext cx="3648456" cy="4087368"/>
          </a:xfrm>
          <a:prstGeom prst="rect">
            <a:avLst/>
          </a:prstGeom>
        </p:spPr>
      </p:pic>
      <p:grpSp>
        <p:nvGrpSpPr>
          <p:cNvPr id="23" name="ANIM:users"/>
          <p:cNvGrpSpPr/>
          <p:nvPr/>
        </p:nvGrpSpPr>
        <p:grpSpPr>
          <a:xfrm>
            <a:off x="594360" y="2852928"/>
            <a:ext cx="6556247" cy="1801368"/>
            <a:chOff x="594360" y="2852928"/>
            <a:chExt cx="6556247" cy="1801368"/>
          </a:xfrm>
        </p:grpSpPr>
        <p:grpSp>
          <p:nvGrpSpPr>
            <p:cNvPr id="15" name="角色_甲"/>
            <p:cNvGrpSpPr/>
            <p:nvPr/>
          </p:nvGrpSpPr>
          <p:grpSpPr>
            <a:xfrm>
              <a:off x="722376" y="2852928"/>
              <a:ext cx="530352" cy="530352"/>
              <a:chOff x="722376" y="2852928"/>
              <a:chExt cx="530352" cy="530352"/>
            </a:xfrm>
          </p:grpSpPr>
          <p:sp>
            <p:nvSpPr>
              <p:cNvPr id="13" name="语义节点"/>
              <p:cNvSpPr/>
              <p:nvPr/>
            </p:nvSpPr>
            <p:spPr>
              <a:xfrm>
                <a:off x="722376" y="2852928"/>
                <a:ext cx="530352" cy="530352"/>
              </a:xfrm>
              <a:prstGeom prst="ellipse">
                <a:avLst/>
              </a:prstGeom>
              <a:solidFill>
                <a:srgbClr val="FCFBF8"/>
              </a:solidFill>
              <a:ln w="10160">
                <a:solidFill>
                  <a:srgbClr val="24241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文本_甲"/>
              <p:cNvSpPr txBox="1"/>
              <p:nvPr/>
            </p:nvSpPr>
            <p:spPr>
              <a:xfrm>
                <a:off x="722376" y="2944368"/>
                <a:ext cx="530352" cy="30175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ts val="154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b="0">
                    <a:solidFill>
                      <a:srgbClr val="24241F"/>
                    </a:solidFill>
                    <a:latin typeface="Noto Sans SC Medium"/>
                    <a:ea typeface="Noto Sans SC Medium"/>
                    <a:cs typeface="Noto Sans SC Medium"/>
                  </a:rPr>
                  <a:t>甲</a:t>
                </a:r>
                <a:endParaRPr lang="zh-CN" sz="1400"/>
              </a:p>
            </p:txBody>
          </p:sp>
        </p:grpSp>
        <p:grpSp>
          <p:nvGrpSpPr>
            <p:cNvPr id="18" name="角色_乙"/>
            <p:cNvGrpSpPr/>
            <p:nvPr/>
          </p:nvGrpSpPr>
          <p:grpSpPr>
            <a:xfrm>
              <a:off x="2139696" y="2852928"/>
              <a:ext cx="530352" cy="530352"/>
              <a:chOff x="2139696" y="2852928"/>
              <a:chExt cx="530352" cy="530352"/>
            </a:xfrm>
          </p:grpSpPr>
          <p:sp>
            <p:nvSpPr>
              <p:cNvPr id="16" name="语义节点"/>
              <p:cNvSpPr/>
              <p:nvPr/>
            </p:nvSpPr>
            <p:spPr>
              <a:xfrm>
                <a:off x="2139696" y="2852928"/>
                <a:ext cx="530352" cy="530352"/>
              </a:xfrm>
              <a:prstGeom prst="ellipse">
                <a:avLst/>
              </a:prstGeom>
              <a:solidFill>
                <a:srgbClr val="FCFBF8"/>
              </a:solidFill>
              <a:ln w="10160">
                <a:solidFill>
                  <a:srgbClr val="24241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文本_乙"/>
              <p:cNvSpPr txBox="1"/>
              <p:nvPr/>
            </p:nvSpPr>
            <p:spPr>
              <a:xfrm>
                <a:off x="2139696" y="2944368"/>
                <a:ext cx="530352" cy="30175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ts val="154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b="0">
                    <a:solidFill>
                      <a:srgbClr val="24241F"/>
                    </a:solidFill>
                    <a:latin typeface="Noto Sans SC Medium"/>
                    <a:ea typeface="Noto Sans SC Medium"/>
                    <a:cs typeface="Noto Sans SC Medium"/>
                  </a:rPr>
                  <a:t>乙</a:t>
                </a:r>
                <a:endParaRPr lang="zh-CN" sz="1400"/>
              </a:p>
            </p:txBody>
          </p:sp>
        </p:grpSp>
        <p:cxnSp>
          <p:nvCxnSpPr>
            <p:cNvPr id="19" name="流程连线"/>
            <p:cNvCxnSpPr/>
            <p:nvPr/>
          </p:nvCxnSpPr>
          <p:spPr>
            <a:xfrm>
              <a:off x="1435608" y="3108960"/>
              <a:ext cx="502920" cy="0"/>
            </a:xfrm>
            <a:prstGeom prst="line">
              <a:avLst/>
            </a:prstGeom>
            <a:ln w="12700">
              <a:solidFill>
                <a:srgbClr val="8C2D1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原生矢量路径"/>
            <p:cNvSpPr/>
            <p:nvPr/>
          </p:nvSpPr>
          <p:spPr>
            <a:xfrm>
              <a:off x="1860573" y="3061165"/>
              <a:ext cx="77955" cy="95589"/>
            </a:xfrm>
            <a:custGeom>
              <a:avLst/>
              <a:gdLst/>
              <a:ahLst/>
              <a:cxnLst/>
              <a:rect l="l" t="t" r="r" b="b"/>
              <a:pathLst>
                <a:path w="77955" h="95589">
                  <a:moveTo>
                    <a:pt x="0" y="95589"/>
                  </a:moveTo>
                  <a:lnTo>
                    <a:pt x="77955" y="47795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8C2D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文本_共同管理家务"/>
            <p:cNvSpPr txBox="1"/>
            <p:nvPr/>
          </p:nvSpPr>
          <p:spPr>
            <a:xfrm>
              <a:off x="3172968" y="2898648"/>
              <a:ext cx="3977639" cy="4297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8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共同管理家务</a:t>
              </a:r>
              <a:endParaRPr lang="zh-CN" sz="2000"/>
            </a:p>
          </p:txBody>
        </p:sp>
        <p:sp>
          <p:nvSpPr>
            <p:cNvPr id="22" name="文本_两人均成年、知情、自愿。_任一方不愿参与，就不安排共同体"/>
            <p:cNvSpPr txBox="1"/>
            <p:nvPr/>
          </p:nvSpPr>
          <p:spPr>
            <a:xfrm>
              <a:off x="594360" y="3767328"/>
              <a:ext cx="6547104" cy="8869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5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30" b="0">
                  <a:solidFill>
                    <a:srgbClr val="24241F"/>
                  </a:solidFill>
                  <a:latin typeface="Noto Sans SC"/>
                  <a:ea typeface="Noto Sans SC"/>
                  <a:cs typeface="Noto Sans SC"/>
                </a:rPr>
                <a:t>两人均成年、知情、自愿。</a:t>
              </a:r>
              <a:endParaRPr lang="zh-CN" sz="1630"/>
            </a:p>
            <a:p>
              <a:pPr algn="l">
                <a:lnSpc>
                  <a:spcPts val="25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30" b="0">
                  <a:solidFill>
                    <a:srgbClr val="24241F"/>
                  </a:solidFill>
                  <a:latin typeface="Noto Sans SC"/>
                  <a:ea typeface="Noto Sans SC"/>
                  <a:cs typeface="Noto Sans SC"/>
                </a:rPr>
                <a:t>任一方不愿参与，就不安排共同体验。</a:t>
              </a:r>
              <a:endParaRPr lang="zh-CN" sz="1630"/>
            </a:p>
          </p:txBody>
        </p:sp>
      </p:grpSp>
      <p:cxnSp>
        <p:nvCxnSpPr>
          <p:cNvPr id="24" name="分隔细线"/>
          <p:cNvCxnSpPr/>
          <p:nvPr/>
        </p:nvCxnSpPr>
        <p:spPr>
          <a:xfrm>
            <a:off x="594360" y="4992624"/>
            <a:ext cx="6547104" cy="0"/>
          </a:xfrm>
          <a:prstGeom prst="line">
            <a:avLst/>
          </a:prstGeom>
          <a:ln w="698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_本期只做两成员空间"/>
          <p:cNvSpPr txBox="1"/>
          <p:nvPr/>
        </p:nvSpPr>
        <p:spPr>
          <a:xfrm>
            <a:off x="594360" y="5248656"/>
            <a:ext cx="6547104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本期只做两成员空间</a:t>
            </a:r>
            <a:endParaRPr lang="zh-CN" sz="1400"/>
          </a:p>
        </p:txBody>
      </p:sp>
      <p:sp>
        <p:nvSpPr>
          <p:cNvPr id="26" name="文本_不覆盖多人合租、多代同住的多角色协作。_不符合条件者可评"/>
          <p:cNvSpPr txBox="1"/>
          <p:nvPr/>
        </p:nvSpPr>
        <p:spPr>
          <a:xfrm>
            <a:off x="594360" y="5742432"/>
            <a:ext cx="6547104" cy="5577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3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不覆盖多人合租、多代同住的多角色协作。</a:t>
            </a:r>
            <a:endParaRPr lang="zh-CN" sz="1330"/>
          </a:p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3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不符合条件者可评界面，但不计入伴侣体验。</a:t>
            </a:r>
            <a:endParaRPr lang="zh-CN" sz="133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2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"/>
          <p:cNvSpPr txBox="1"/>
          <p:nvPr/>
        </p:nvSpPr>
        <p:spPr>
          <a:xfrm>
            <a:off x="594360" y="370332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近竞品与用户范围</a:t>
            </a:r>
            <a:endParaRPr lang="zh-CN" sz="1070"/>
          </a:p>
        </p:txBody>
      </p:sp>
      <p:sp>
        <p:nvSpPr>
          <p:cNvPr id="3" name="!!chapterTitle0"/>
          <p:cNvSpPr txBox="1"/>
          <p:nvPr/>
        </p:nvSpPr>
        <p:spPr>
          <a:xfrm>
            <a:off x="7040880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问题界定</a:t>
            </a:r>
            <a:endParaRPr lang="zh-CN" sz="919"/>
          </a:p>
        </p:txBody>
      </p:sp>
      <p:sp>
        <p:nvSpPr>
          <p:cNvPr id="4" name="!!chapterTitle1"/>
          <p:cNvSpPr txBox="1"/>
          <p:nvPr/>
        </p:nvSpPr>
        <p:spPr>
          <a:xfrm>
            <a:off x="8065008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产品演示</a:t>
            </a:r>
            <a:endParaRPr lang="zh-CN" sz="919"/>
          </a:p>
        </p:txBody>
      </p:sp>
      <p:sp>
        <p:nvSpPr>
          <p:cNvPr id="5" name="!!chapterTitle2"/>
          <p:cNvSpPr txBox="1"/>
          <p:nvPr/>
        </p:nvSpPr>
        <p:spPr>
          <a:xfrm>
            <a:off x="9089136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用户范围</a:t>
            </a:r>
            <a:endParaRPr lang="zh-CN" sz="919"/>
          </a:p>
        </p:txBody>
      </p:sp>
      <p:cxnSp>
        <p:nvCxnSpPr>
          <p:cNvPr id="6" name="!!activeNavRule"/>
          <p:cNvCxnSpPr/>
          <p:nvPr/>
        </p:nvCxnSpPr>
        <p:spPr>
          <a:xfrm>
            <a:off x="9089136" y="701344"/>
            <a:ext cx="570585" cy="0"/>
          </a:xfrm>
          <a:prstGeom prst="line">
            <a:avLst/>
          </a:prstGeom>
          <a:ln w="10160">
            <a:solidFill>
              <a:srgbClr val="8C2D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!!chapterTitle3"/>
          <p:cNvSpPr txBox="1"/>
          <p:nvPr/>
        </p:nvSpPr>
        <p:spPr>
          <a:xfrm>
            <a:off x="10113264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验证计划</a:t>
            </a:r>
            <a:endParaRPr lang="zh-CN" sz="919"/>
          </a:p>
        </p:txBody>
      </p:sp>
      <p:sp>
        <p:nvSpPr>
          <p:cNvPr id="8" name="页码"/>
          <p:cNvSpPr txBox="1"/>
          <p:nvPr/>
        </p:nvSpPr>
        <p:spPr>
          <a:xfrm>
            <a:off x="11247120" y="374904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17</a:t>
            </a:r>
            <a:endParaRPr lang="zh-CN" sz="1070"/>
          </a:p>
        </p:txBody>
      </p:sp>
      <p:sp>
        <p:nvSpPr>
          <p:cNvPr id="9" name="主标题"/>
          <p:cNvSpPr txBox="1"/>
          <p:nvPr/>
        </p:nvSpPr>
        <p:spPr>
          <a:xfrm>
            <a:off x="576072" y="932688"/>
            <a:ext cx="10972800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1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本期只检验三个动作能否发生。</a:t>
            </a:r>
            <a:endParaRPr lang="zh-CN" sz="3100"/>
          </a:p>
        </p:txBody>
      </p:sp>
      <p:cxnSp>
        <p:nvCxnSpPr>
          <p:cNvPr id="10" name="分隔细线"/>
          <p:cNvCxnSpPr/>
          <p:nvPr/>
        </p:nvCxnSpPr>
        <p:spPr>
          <a:xfrm>
            <a:off x="585216" y="6451092"/>
            <a:ext cx="1100937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ANIM:questionTrace"/>
          <p:cNvGrpSpPr/>
          <p:nvPr/>
        </p:nvGrpSpPr>
        <p:grpSpPr>
          <a:xfrm>
            <a:off x="3255264" y="3097741"/>
            <a:ext cx="4764024" cy="95589"/>
            <a:chOff x="3255264" y="3097741"/>
            <a:chExt cx="4764024" cy="95589"/>
          </a:xfrm>
        </p:grpSpPr>
        <p:cxnSp>
          <p:nvCxnSpPr>
            <p:cNvPr id="11" name="流程连线"/>
            <p:cNvCxnSpPr/>
            <p:nvPr/>
          </p:nvCxnSpPr>
          <p:spPr>
            <a:xfrm>
              <a:off x="3255264" y="3145536"/>
              <a:ext cx="969264" cy="0"/>
            </a:xfrm>
            <a:prstGeom prst="line">
              <a:avLst/>
            </a:prstGeom>
            <a:ln w="12700">
              <a:solidFill>
                <a:srgbClr val="6E6D6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原生矢量路径"/>
            <p:cNvSpPr/>
            <p:nvPr/>
          </p:nvSpPr>
          <p:spPr>
            <a:xfrm>
              <a:off x="4146573" y="3097741"/>
              <a:ext cx="77955" cy="95589"/>
            </a:xfrm>
            <a:custGeom>
              <a:avLst/>
              <a:gdLst/>
              <a:ahLst/>
              <a:cxnLst/>
              <a:rect l="l" t="t" r="r" b="b"/>
              <a:pathLst>
                <a:path w="77955" h="95589">
                  <a:moveTo>
                    <a:pt x="0" y="95589"/>
                  </a:moveTo>
                  <a:lnTo>
                    <a:pt x="77955" y="47795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6E6D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3" name="流程连线"/>
            <p:cNvCxnSpPr/>
            <p:nvPr/>
          </p:nvCxnSpPr>
          <p:spPr>
            <a:xfrm>
              <a:off x="7050023" y="3145536"/>
              <a:ext cx="969265" cy="0"/>
            </a:xfrm>
            <a:prstGeom prst="line">
              <a:avLst/>
            </a:prstGeom>
            <a:ln w="12700">
              <a:solidFill>
                <a:srgbClr val="6E6D6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原生矢量路径"/>
            <p:cNvSpPr/>
            <p:nvPr/>
          </p:nvSpPr>
          <p:spPr>
            <a:xfrm>
              <a:off x="7941333" y="3097741"/>
              <a:ext cx="77955" cy="95589"/>
            </a:xfrm>
            <a:custGeom>
              <a:avLst/>
              <a:gdLst/>
              <a:ahLst/>
              <a:cxnLst/>
              <a:rect l="l" t="t" r="r" b="b"/>
              <a:pathLst>
                <a:path w="77955" h="95589">
                  <a:moveTo>
                    <a:pt x="0" y="95589"/>
                  </a:moveTo>
                  <a:lnTo>
                    <a:pt x="77955" y="47795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6E6D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4" name="ANIM:question0"/>
          <p:cNvGrpSpPr/>
          <p:nvPr/>
        </p:nvGrpSpPr>
        <p:grpSpPr>
          <a:xfrm>
            <a:off x="832104" y="2386584"/>
            <a:ext cx="3044952" cy="3337560"/>
            <a:chOff x="832104" y="2386584"/>
            <a:chExt cx="3044952" cy="3337560"/>
          </a:xfrm>
        </p:grpSpPr>
        <p:sp>
          <p:nvSpPr>
            <p:cNvPr id="16" name="语义节点"/>
            <p:cNvSpPr/>
            <p:nvPr/>
          </p:nvSpPr>
          <p:spPr>
            <a:xfrm>
              <a:off x="1362456" y="2386584"/>
              <a:ext cx="1517904" cy="1517904"/>
            </a:xfrm>
            <a:prstGeom prst="ellipse">
              <a:avLst/>
            </a:prstGeom>
            <a:solidFill>
              <a:srgbClr val="FCFBF8"/>
            </a:solidFill>
            <a:ln w="8890">
              <a:solidFill>
                <a:srgbClr val="E5E2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1" name="图标_document"/>
            <p:cNvGrpSpPr/>
            <p:nvPr/>
          </p:nvGrpSpPr>
          <p:grpSpPr>
            <a:xfrm>
              <a:off x="1921703" y="2858231"/>
              <a:ext cx="406542" cy="556320"/>
              <a:chOff x="1921703" y="2858231"/>
              <a:chExt cx="406542" cy="556320"/>
            </a:xfrm>
          </p:grpSpPr>
          <p:sp>
            <p:nvSpPr>
              <p:cNvPr id="17" name="直角形状"/>
              <p:cNvSpPr/>
              <p:nvPr/>
            </p:nvSpPr>
            <p:spPr>
              <a:xfrm>
                <a:off x="1921703" y="2858231"/>
                <a:ext cx="406542" cy="556320"/>
              </a:xfrm>
              <a:prstGeom prst="rect">
                <a:avLst/>
              </a:prstGeom>
              <a:noFill/>
              <a:ln w="1016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8" name="图解线条"/>
              <p:cNvCxnSpPr/>
              <p:nvPr/>
            </p:nvCxnSpPr>
            <p:spPr>
              <a:xfrm>
                <a:off x="2007290" y="3022274"/>
                <a:ext cx="228235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图解线条"/>
              <p:cNvCxnSpPr/>
              <p:nvPr/>
            </p:nvCxnSpPr>
            <p:spPr>
              <a:xfrm>
                <a:off x="2007290" y="3136392"/>
                <a:ext cx="228235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图解线条"/>
              <p:cNvCxnSpPr/>
              <p:nvPr/>
            </p:nvCxnSpPr>
            <p:spPr>
              <a:xfrm>
                <a:off x="2007290" y="3250509"/>
                <a:ext cx="164044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文本_本人认可"/>
            <p:cNvSpPr txBox="1"/>
            <p:nvPr/>
          </p:nvSpPr>
          <p:spPr>
            <a:xfrm>
              <a:off x="832104" y="4215384"/>
              <a:ext cx="3044952" cy="4297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31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20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本人认可</a:t>
              </a:r>
              <a:endParaRPr lang="zh-CN" sz="2200"/>
            </a:p>
          </p:txBody>
        </p:sp>
        <p:sp>
          <p:nvSpPr>
            <p:cNvPr id="23" name="文本_AI能否整理清楚，_并让本人修正？"/>
            <p:cNvSpPr txBox="1"/>
            <p:nvPr/>
          </p:nvSpPr>
          <p:spPr>
            <a:xfrm>
              <a:off x="832104" y="4965192"/>
              <a:ext cx="3044952" cy="7589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2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50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AI能否整理清楚，</a:t>
              </a:r>
              <a:endParaRPr lang="zh-CN" sz="1500"/>
            </a:p>
            <a:p>
              <a:pPr algn="ctr">
                <a:lnSpc>
                  <a:spcPts val="2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50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并让本人修正？</a:t>
              </a:r>
              <a:endParaRPr lang="zh-CN" sz="1500"/>
            </a:p>
          </p:txBody>
        </p:sp>
      </p:grpSp>
      <p:grpSp>
        <p:nvGrpSpPr>
          <p:cNvPr id="32" name="ANIM:question1"/>
          <p:cNvGrpSpPr/>
          <p:nvPr/>
        </p:nvGrpSpPr>
        <p:grpSpPr>
          <a:xfrm>
            <a:off x="4626864" y="2386584"/>
            <a:ext cx="3044952" cy="3337560"/>
            <a:chOff x="4626864" y="2386584"/>
            <a:chExt cx="3044952" cy="3337560"/>
          </a:xfrm>
        </p:grpSpPr>
        <p:sp>
          <p:nvSpPr>
            <p:cNvPr id="25" name="语义节点"/>
            <p:cNvSpPr/>
            <p:nvPr/>
          </p:nvSpPr>
          <p:spPr>
            <a:xfrm>
              <a:off x="5157216" y="2386584"/>
              <a:ext cx="1517904" cy="1517904"/>
            </a:xfrm>
            <a:prstGeom prst="ellipse">
              <a:avLst/>
            </a:prstGeom>
            <a:solidFill>
              <a:srgbClr val="FCFBF8"/>
            </a:solidFill>
            <a:ln w="8890">
              <a:solidFill>
                <a:srgbClr val="E5E2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9" name="图标_talk"/>
            <p:cNvGrpSpPr/>
            <p:nvPr/>
          </p:nvGrpSpPr>
          <p:grpSpPr>
            <a:xfrm>
              <a:off x="5645139" y="2915290"/>
              <a:ext cx="542057" cy="484997"/>
              <a:chOff x="5645139" y="2915290"/>
              <a:chExt cx="542057" cy="484997"/>
            </a:xfrm>
          </p:grpSpPr>
          <p:sp>
            <p:nvSpPr>
              <p:cNvPr id="26" name="原生矢量路径"/>
              <p:cNvSpPr/>
              <p:nvPr/>
            </p:nvSpPr>
            <p:spPr>
              <a:xfrm>
                <a:off x="5645139" y="2915290"/>
                <a:ext cx="542057" cy="484997"/>
              </a:xfrm>
              <a:custGeom>
                <a:avLst/>
                <a:gdLst/>
                <a:ahLst/>
                <a:cxnLst/>
                <a:rect l="l" t="t" r="r" b="b"/>
                <a:pathLst>
                  <a:path w="542057" h="484997">
                    <a:moveTo>
                      <a:pt x="0" y="0"/>
                    </a:moveTo>
                    <a:lnTo>
                      <a:pt x="542057" y="0"/>
                    </a:lnTo>
                    <a:lnTo>
                      <a:pt x="542057" y="363748"/>
                    </a:lnTo>
                    <a:lnTo>
                      <a:pt x="221102" y="363748"/>
                    </a:lnTo>
                    <a:lnTo>
                      <a:pt x="78456" y="484997"/>
                    </a:lnTo>
                    <a:lnTo>
                      <a:pt x="85588" y="363748"/>
                    </a:lnTo>
                    <a:lnTo>
                      <a:pt x="0" y="363748"/>
                    </a:lnTo>
                    <a:lnTo>
                      <a:pt x="0" y="0"/>
                    </a:lnTo>
                  </a:path>
                </a:pathLst>
              </a:custGeom>
              <a:noFill/>
              <a:ln w="12065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7" name="图解线条"/>
              <p:cNvCxnSpPr/>
              <p:nvPr/>
            </p:nvCxnSpPr>
            <p:spPr>
              <a:xfrm>
                <a:off x="5752124" y="3043671"/>
                <a:ext cx="320955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图解线条"/>
              <p:cNvCxnSpPr/>
              <p:nvPr/>
            </p:nvCxnSpPr>
            <p:spPr>
              <a:xfrm>
                <a:off x="5752124" y="3150656"/>
                <a:ext cx="213970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文本_对方核对"/>
            <p:cNvSpPr txBox="1"/>
            <p:nvPr/>
          </p:nvSpPr>
          <p:spPr>
            <a:xfrm>
              <a:off x="4626864" y="4215384"/>
              <a:ext cx="3044952" cy="4297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31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20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对方核对</a:t>
              </a:r>
              <a:endParaRPr lang="zh-CN" sz="2200"/>
            </a:p>
          </p:txBody>
        </p:sp>
        <p:sp>
          <p:nvSpPr>
            <p:cNvPr id="31" name="文本_能否看懂，_愿不愿回应？"/>
            <p:cNvSpPr txBox="1"/>
            <p:nvPr/>
          </p:nvSpPr>
          <p:spPr>
            <a:xfrm>
              <a:off x="4626864" y="4965192"/>
              <a:ext cx="3044952" cy="7589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2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50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能否看懂，</a:t>
              </a:r>
              <a:endParaRPr lang="zh-CN" sz="1500"/>
            </a:p>
            <a:p>
              <a:pPr algn="ctr">
                <a:lnSpc>
                  <a:spcPts val="2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50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愿不愿回应？</a:t>
              </a:r>
              <a:endParaRPr lang="zh-CN" sz="1500"/>
            </a:p>
          </p:txBody>
        </p:sp>
      </p:grpSp>
      <p:grpSp>
        <p:nvGrpSpPr>
          <p:cNvPr id="45" name="ANIM:question2"/>
          <p:cNvGrpSpPr/>
          <p:nvPr/>
        </p:nvGrpSpPr>
        <p:grpSpPr>
          <a:xfrm>
            <a:off x="8421624" y="2386584"/>
            <a:ext cx="3044952" cy="3337560"/>
            <a:chOff x="8421624" y="2386584"/>
            <a:chExt cx="3044952" cy="3337560"/>
          </a:xfrm>
        </p:grpSpPr>
        <p:sp>
          <p:nvSpPr>
            <p:cNvPr id="33" name="语义节点"/>
            <p:cNvSpPr/>
            <p:nvPr/>
          </p:nvSpPr>
          <p:spPr>
            <a:xfrm>
              <a:off x="8951976" y="2386584"/>
              <a:ext cx="1517904" cy="1517904"/>
            </a:xfrm>
            <a:prstGeom prst="ellipse">
              <a:avLst/>
            </a:prstGeom>
            <a:solidFill>
              <a:srgbClr val="FCFBF8"/>
            </a:solidFill>
            <a:ln w="8890">
              <a:solidFill>
                <a:srgbClr val="E5E2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42" name="图标_planning"/>
            <p:cNvGrpSpPr/>
            <p:nvPr/>
          </p:nvGrpSpPr>
          <p:grpSpPr>
            <a:xfrm>
              <a:off x="9454164" y="2843966"/>
              <a:ext cx="520659" cy="556321"/>
              <a:chOff x="9454164" y="2843966"/>
              <a:chExt cx="520659" cy="556321"/>
            </a:xfrm>
          </p:grpSpPr>
          <p:sp>
            <p:nvSpPr>
              <p:cNvPr id="34" name="直角形状"/>
              <p:cNvSpPr/>
              <p:nvPr/>
            </p:nvSpPr>
            <p:spPr>
              <a:xfrm>
                <a:off x="9454164" y="2908157"/>
                <a:ext cx="520659" cy="492130"/>
              </a:xfrm>
              <a:prstGeom prst="rect">
                <a:avLst/>
              </a:prstGeom>
              <a:noFill/>
              <a:ln w="1016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5" name="图解线条"/>
              <p:cNvCxnSpPr/>
              <p:nvPr/>
            </p:nvCxnSpPr>
            <p:spPr>
              <a:xfrm>
                <a:off x="9454164" y="3057936"/>
                <a:ext cx="520659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图解线条"/>
              <p:cNvCxnSpPr/>
              <p:nvPr/>
            </p:nvCxnSpPr>
            <p:spPr>
              <a:xfrm>
                <a:off x="9596810" y="2843966"/>
                <a:ext cx="0" cy="142647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图解线条"/>
              <p:cNvCxnSpPr/>
              <p:nvPr/>
            </p:nvCxnSpPr>
            <p:spPr>
              <a:xfrm>
                <a:off x="9832177" y="2843966"/>
                <a:ext cx="0" cy="142647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语义节点"/>
              <p:cNvSpPr/>
              <p:nvPr/>
            </p:nvSpPr>
            <p:spPr>
              <a:xfrm>
                <a:off x="9596810" y="3157788"/>
                <a:ext cx="42793" cy="42793"/>
              </a:xfrm>
              <a:prstGeom prst="ellipse">
                <a:avLst/>
              </a:prstGeom>
              <a:solidFill>
                <a:srgbClr val="8C2D1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语义节点"/>
              <p:cNvSpPr/>
              <p:nvPr/>
            </p:nvSpPr>
            <p:spPr>
              <a:xfrm>
                <a:off x="9789383" y="3157788"/>
                <a:ext cx="42793" cy="42793"/>
              </a:xfrm>
              <a:prstGeom prst="ellipse">
                <a:avLst/>
              </a:prstGeom>
              <a:solidFill>
                <a:srgbClr val="8C2D1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语义节点"/>
              <p:cNvSpPr/>
              <p:nvPr/>
            </p:nvSpPr>
            <p:spPr>
              <a:xfrm>
                <a:off x="9596810" y="3293303"/>
                <a:ext cx="42793" cy="42793"/>
              </a:xfrm>
              <a:prstGeom prst="ellipse">
                <a:avLst/>
              </a:prstGeom>
              <a:solidFill>
                <a:srgbClr val="8C2D1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语义节点"/>
              <p:cNvSpPr/>
              <p:nvPr/>
            </p:nvSpPr>
            <p:spPr>
              <a:xfrm>
                <a:off x="9789383" y="3293303"/>
                <a:ext cx="42793" cy="42793"/>
              </a:xfrm>
              <a:prstGeom prst="ellipse">
                <a:avLst/>
              </a:prstGeom>
              <a:solidFill>
                <a:srgbClr val="8C2D1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43" name="文本_自愿约定"/>
            <p:cNvSpPr txBox="1"/>
            <p:nvPr/>
          </p:nvSpPr>
          <p:spPr>
            <a:xfrm>
              <a:off x="8421624" y="4215384"/>
              <a:ext cx="3044952" cy="4297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31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20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自愿约定</a:t>
              </a:r>
              <a:endParaRPr lang="zh-CN" sz="2200"/>
            </a:p>
          </p:txBody>
        </p:sp>
        <p:sp>
          <p:nvSpPr>
            <p:cNvPr id="44" name="文本_能否保留一条_下一步安排？"/>
            <p:cNvSpPr txBox="1"/>
            <p:nvPr/>
          </p:nvSpPr>
          <p:spPr>
            <a:xfrm>
              <a:off x="8421624" y="4965192"/>
              <a:ext cx="3044952" cy="7589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ts val="2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50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能否保留一条</a:t>
              </a:r>
              <a:endParaRPr lang="zh-CN" sz="1500"/>
            </a:p>
            <a:p>
              <a:pPr algn="ctr">
                <a:lnSpc>
                  <a:spcPts val="2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50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下一步安排？</a:t>
              </a:r>
              <a:endParaRPr lang="zh-CN" sz="1500"/>
            </a:p>
          </p:txBody>
        </p:sp>
      </p:grpSp>
      <p:cxnSp>
        <p:nvCxnSpPr>
          <p:cNvPr id="46" name="分隔细线"/>
          <p:cNvCxnSpPr/>
          <p:nvPr/>
        </p:nvCxnSpPr>
        <p:spPr>
          <a:xfrm>
            <a:off x="594360" y="6025896"/>
            <a:ext cx="11000232" cy="0"/>
          </a:xfrm>
          <a:prstGeom prst="line">
            <a:avLst/>
          </a:prstGeom>
          <a:ln w="698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_这是一条待观察的行动链，不是转化率数据；下载量或话题热度"/>
          <p:cNvSpPr txBox="1"/>
          <p:nvPr/>
        </p:nvSpPr>
        <p:spPr>
          <a:xfrm>
            <a:off x="594360" y="6199632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这是一条待观察的行动链，不是转化率数据；下载量或话题热度不能替代它。</a:t>
            </a:r>
            <a:endParaRPr lang="zh-CN" sz="117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2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4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4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_成员D  ／  验证方案与风险控制"/>
          <p:cNvSpPr txBox="1"/>
          <p:nvPr/>
        </p:nvSpPr>
        <p:spPr>
          <a:xfrm>
            <a:off x="594360" y="370332"/>
            <a:ext cx="822960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成员D  ／  验证方案与风险控制</a:t>
            </a:r>
            <a:endParaRPr lang="zh-CN" sz="1070"/>
          </a:p>
        </p:txBody>
      </p:sp>
      <p:sp>
        <p:nvSpPr>
          <p:cNvPr id="3" name="文本_18"/>
          <p:cNvSpPr txBox="1"/>
          <p:nvPr/>
        </p:nvSpPr>
        <p:spPr>
          <a:xfrm>
            <a:off x="11247120" y="374904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1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18</a:t>
            </a:r>
            <a:endParaRPr lang="zh-CN" sz="1070"/>
          </a:p>
        </p:txBody>
      </p:sp>
      <p:sp>
        <p:nvSpPr>
          <p:cNvPr id="4" name="!!chapterNum3"/>
          <p:cNvSpPr txBox="1"/>
          <p:nvPr/>
        </p:nvSpPr>
        <p:spPr>
          <a:xfrm>
            <a:off x="9043416" y="1197864"/>
            <a:ext cx="2505456" cy="19751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8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800" b="0">
                <a:solidFill>
                  <a:srgbClr val="8C2D19"/>
                </a:solidFill>
                <a:latin typeface="Source Han Serif SC SemiBold"/>
                <a:ea typeface="Source Han Serif SC SemiBold"/>
                <a:cs typeface="Source Han Serif SC SemiBold"/>
              </a:rPr>
              <a:t>04</a:t>
            </a:r>
            <a:endParaRPr lang="zh-CN" sz="10800"/>
          </a:p>
        </p:txBody>
      </p:sp>
      <p:cxnSp>
        <p:nvCxnSpPr>
          <p:cNvPr id="5" name="分隔细线"/>
          <p:cNvCxnSpPr/>
          <p:nvPr/>
        </p:nvCxnSpPr>
        <p:spPr>
          <a:xfrm>
            <a:off x="594360" y="1344168"/>
            <a:ext cx="7205471" cy="0"/>
          </a:xfrm>
          <a:prstGeom prst="line">
            <a:avLst/>
          </a:prstGeom>
          <a:ln w="7620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!!chapterTitle3"/>
          <p:cNvSpPr txBox="1"/>
          <p:nvPr/>
        </p:nvSpPr>
        <p:spPr>
          <a:xfrm>
            <a:off x="576072" y="1856231"/>
            <a:ext cx="7434072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5375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3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验证计划</a:t>
            </a:r>
            <a:endParaRPr lang="zh-CN" sz="4300"/>
          </a:p>
        </p:txBody>
      </p:sp>
      <p:sp>
        <p:nvSpPr>
          <p:cNvPr id="7" name="文本_到真实生活中验证，_也观察工具带来的负担。"/>
          <p:cNvSpPr txBox="1"/>
          <p:nvPr/>
        </p:nvSpPr>
        <p:spPr>
          <a:xfrm>
            <a:off x="594360" y="3337560"/>
            <a:ext cx="7498079" cy="950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33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2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到真实生活中验证，</a:t>
            </a:r>
            <a:endParaRPr lang="zh-CN" sz="2320"/>
          </a:p>
          <a:p>
            <a:pPr algn="l">
              <a:lnSpc>
                <a:spcPts val="3433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2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也观察工具带来的负担。</a:t>
            </a:r>
            <a:endParaRPr lang="zh-CN" sz="2320"/>
          </a:p>
        </p:txBody>
      </p:sp>
      <p:sp>
        <p:nvSpPr>
          <p:cNvPr id="8" name="!!chapterTitle0"/>
          <p:cNvSpPr txBox="1"/>
          <p:nvPr/>
        </p:nvSpPr>
        <p:spPr>
          <a:xfrm>
            <a:off x="9034272" y="4791456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8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8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问题界定</a:t>
            </a:r>
            <a:endParaRPr lang="zh-CN" sz="1280"/>
          </a:p>
        </p:txBody>
      </p:sp>
      <p:sp>
        <p:nvSpPr>
          <p:cNvPr id="9" name="!!chapterTitle1"/>
          <p:cNvSpPr txBox="1"/>
          <p:nvPr/>
        </p:nvSpPr>
        <p:spPr>
          <a:xfrm>
            <a:off x="9034272" y="523036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8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8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产品演示</a:t>
            </a:r>
            <a:endParaRPr lang="zh-CN" sz="1280"/>
          </a:p>
        </p:txBody>
      </p:sp>
      <p:sp>
        <p:nvSpPr>
          <p:cNvPr id="10" name="!!chapterTitle2"/>
          <p:cNvSpPr txBox="1"/>
          <p:nvPr/>
        </p:nvSpPr>
        <p:spPr>
          <a:xfrm>
            <a:off x="9034272" y="566928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8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8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用户范围</a:t>
            </a:r>
            <a:endParaRPr lang="zh-CN" sz="1280"/>
          </a:p>
        </p:txBody>
      </p:sp>
      <p:sp>
        <p:nvSpPr>
          <p:cNvPr id="11" name="文本_验证方案与风险控制"/>
          <p:cNvSpPr txBox="1"/>
          <p:nvPr/>
        </p:nvSpPr>
        <p:spPr>
          <a:xfrm>
            <a:off x="594360" y="5897880"/>
            <a:ext cx="7498079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0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3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验证方案与风险控制</a:t>
            </a:r>
            <a:endParaRPr lang="zh-CN" sz="1330"/>
          </a:p>
        </p:txBody>
      </p:sp>
      <p:cxnSp>
        <p:nvCxnSpPr>
          <p:cNvPr id="12" name="分隔细线"/>
          <p:cNvCxnSpPr/>
          <p:nvPr/>
        </p:nvCxnSpPr>
        <p:spPr>
          <a:xfrm>
            <a:off x="585216" y="6451092"/>
            <a:ext cx="1100937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1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"/>
          <p:cNvSpPr txBox="1"/>
          <p:nvPr/>
        </p:nvSpPr>
        <p:spPr>
          <a:xfrm>
            <a:off x="594360" y="370332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验证方案与风险控制</a:t>
            </a:r>
            <a:endParaRPr lang="zh-CN" sz="1070"/>
          </a:p>
        </p:txBody>
      </p:sp>
      <p:sp>
        <p:nvSpPr>
          <p:cNvPr id="3" name="!!chapterTitle0"/>
          <p:cNvSpPr txBox="1"/>
          <p:nvPr/>
        </p:nvSpPr>
        <p:spPr>
          <a:xfrm>
            <a:off x="7040880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问题界定</a:t>
            </a:r>
            <a:endParaRPr lang="zh-CN" sz="919"/>
          </a:p>
        </p:txBody>
      </p:sp>
      <p:sp>
        <p:nvSpPr>
          <p:cNvPr id="4" name="!!chapterTitle1"/>
          <p:cNvSpPr txBox="1"/>
          <p:nvPr/>
        </p:nvSpPr>
        <p:spPr>
          <a:xfrm>
            <a:off x="8065008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产品演示</a:t>
            </a:r>
            <a:endParaRPr lang="zh-CN" sz="919"/>
          </a:p>
        </p:txBody>
      </p:sp>
      <p:sp>
        <p:nvSpPr>
          <p:cNvPr id="5" name="!!chapterTitle2"/>
          <p:cNvSpPr txBox="1"/>
          <p:nvPr/>
        </p:nvSpPr>
        <p:spPr>
          <a:xfrm>
            <a:off x="9089136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用户范围</a:t>
            </a:r>
            <a:endParaRPr lang="zh-CN" sz="919"/>
          </a:p>
        </p:txBody>
      </p:sp>
      <p:sp>
        <p:nvSpPr>
          <p:cNvPr id="6" name="!!chapterTitle3"/>
          <p:cNvSpPr txBox="1"/>
          <p:nvPr/>
        </p:nvSpPr>
        <p:spPr>
          <a:xfrm>
            <a:off x="10113264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验证计划</a:t>
            </a:r>
            <a:endParaRPr lang="zh-CN" sz="919"/>
          </a:p>
        </p:txBody>
      </p:sp>
      <p:cxnSp>
        <p:nvCxnSpPr>
          <p:cNvPr id="7" name="!!activeNavRule"/>
          <p:cNvCxnSpPr/>
          <p:nvPr/>
        </p:nvCxnSpPr>
        <p:spPr>
          <a:xfrm>
            <a:off x="10113264" y="701344"/>
            <a:ext cx="570585" cy="0"/>
          </a:xfrm>
          <a:prstGeom prst="line">
            <a:avLst/>
          </a:prstGeom>
          <a:ln w="10160">
            <a:solidFill>
              <a:srgbClr val="8C2D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页码"/>
          <p:cNvSpPr txBox="1"/>
          <p:nvPr/>
        </p:nvSpPr>
        <p:spPr>
          <a:xfrm>
            <a:off x="11247120" y="374904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19</a:t>
            </a:r>
            <a:endParaRPr lang="zh-CN" sz="1070"/>
          </a:p>
        </p:txBody>
      </p:sp>
      <p:sp>
        <p:nvSpPr>
          <p:cNvPr id="9" name="主标题"/>
          <p:cNvSpPr txBox="1"/>
          <p:nvPr/>
        </p:nvSpPr>
        <p:spPr>
          <a:xfrm>
            <a:off x="576072" y="932688"/>
            <a:ext cx="10972800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1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推广现金为0，验证仍要真实发生。</a:t>
            </a:r>
            <a:endParaRPr lang="zh-CN" sz="3100"/>
          </a:p>
        </p:txBody>
      </p:sp>
      <p:cxnSp>
        <p:nvCxnSpPr>
          <p:cNvPr id="10" name="分隔细线"/>
          <p:cNvCxnSpPr/>
          <p:nvPr/>
        </p:nvCxnSpPr>
        <p:spPr>
          <a:xfrm>
            <a:off x="585216" y="6451092"/>
            <a:ext cx="1100937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ANIM:zero"/>
          <p:cNvGrpSpPr/>
          <p:nvPr/>
        </p:nvGrpSpPr>
        <p:grpSpPr>
          <a:xfrm>
            <a:off x="576072" y="2057400"/>
            <a:ext cx="4096512" cy="4069080"/>
            <a:chOff x="576072" y="2057400"/>
            <a:chExt cx="4096512" cy="4069080"/>
          </a:xfrm>
        </p:grpSpPr>
        <p:sp>
          <p:nvSpPr>
            <p:cNvPr id="11" name="文本_营销现金"/>
            <p:cNvSpPr txBox="1"/>
            <p:nvPr/>
          </p:nvSpPr>
          <p:spPr>
            <a:xfrm>
              <a:off x="594360" y="2057400"/>
              <a:ext cx="4078224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90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30" b="0">
                  <a:solidFill>
                    <a:srgbClr val="6E6D68"/>
                  </a:solidFill>
                  <a:latin typeface="Noto Sans SC Medium"/>
                  <a:ea typeface="Noto Sans SC Medium"/>
                  <a:cs typeface="Noto Sans SC Medium"/>
                </a:rPr>
                <a:t>营销现金</a:t>
              </a:r>
              <a:endParaRPr lang="zh-CN" sz="1330"/>
            </a:p>
          </p:txBody>
        </p:sp>
        <p:sp>
          <p:nvSpPr>
            <p:cNvPr id="12" name="文本_0"/>
            <p:cNvSpPr txBox="1"/>
            <p:nvPr/>
          </p:nvSpPr>
          <p:spPr>
            <a:xfrm>
              <a:off x="576072" y="2523744"/>
              <a:ext cx="1645920" cy="142646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9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200" b="0">
                  <a:solidFill>
                    <a:srgbClr val="8C2D19"/>
                  </a:solidFill>
                  <a:latin typeface="Source Han Serif SC SemiBold"/>
                  <a:ea typeface="Source Han Serif SC SemiBold"/>
                  <a:cs typeface="Source Han Serif SC SemiBold"/>
                </a:rPr>
                <a:t>0</a:t>
              </a:r>
              <a:endParaRPr lang="zh-CN" sz="9200"/>
            </a:p>
          </p:txBody>
        </p:sp>
        <p:sp>
          <p:nvSpPr>
            <p:cNvPr id="13" name="文本_元"/>
            <p:cNvSpPr txBox="1"/>
            <p:nvPr/>
          </p:nvSpPr>
          <p:spPr>
            <a:xfrm>
              <a:off x="2240280" y="3383280"/>
              <a:ext cx="594360" cy="3931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71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900" b="0">
                  <a:solidFill>
                    <a:srgbClr val="24241F"/>
                  </a:solidFill>
                  <a:latin typeface="Noto Sans SC"/>
                  <a:ea typeface="Noto Sans SC"/>
                  <a:cs typeface="Noto Sans SC"/>
                </a:rPr>
                <a:t>元</a:t>
              </a:r>
              <a:endParaRPr lang="zh-CN" sz="1900"/>
            </a:p>
          </p:txBody>
        </p:sp>
        <p:cxnSp>
          <p:nvCxnSpPr>
            <p:cNvPr id="14" name="分隔细线"/>
            <p:cNvCxnSpPr/>
            <p:nvPr/>
          </p:nvCxnSpPr>
          <p:spPr>
            <a:xfrm>
              <a:off x="594360" y="4425696"/>
              <a:ext cx="4078224" cy="0"/>
            </a:xfrm>
            <a:prstGeom prst="line">
              <a:avLst/>
            </a:prstGeom>
            <a:ln w="6985">
              <a:solidFill>
                <a:srgbClr val="D4D2C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_不买推广位，不发红包，_不搞裂变。"/>
            <p:cNvSpPr txBox="1"/>
            <p:nvPr/>
          </p:nvSpPr>
          <p:spPr>
            <a:xfrm>
              <a:off x="594360" y="4709160"/>
              <a:ext cx="4078224" cy="8321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50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50" b="0">
                  <a:solidFill>
                    <a:srgbClr val="24241F"/>
                  </a:solidFill>
                  <a:latin typeface="Noto Sans SC"/>
                  <a:ea typeface="Noto Sans SC"/>
                  <a:cs typeface="Noto Sans SC"/>
                </a:rPr>
                <a:t>不买推广位，不发红包，</a:t>
              </a:r>
              <a:endParaRPr lang="zh-CN" sz="1650"/>
            </a:p>
            <a:p>
              <a:pPr algn="l">
                <a:lnSpc>
                  <a:spcPts val="250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50" b="0">
                  <a:solidFill>
                    <a:srgbClr val="24241F"/>
                  </a:solidFill>
                  <a:latin typeface="Noto Sans SC"/>
                  <a:ea typeface="Noto Sans SC"/>
                  <a:cs typeface="Noto Sans SC"/>
                </a:rPr>
                <a:t>不搞裂变。</a:t>
              </a:r>
              <a:endParaRPr lang="zh-CN" sz="1650"/>
            </a:p>
          </p:txBody>
        </p:sp>
        <p:sp>
          <p:nvSpPr>
            <p:cNvPr id="16" name="文本_不等于产品总成本为0。"/>
            <p:cNvSpPr txBox="1"/>
            <p:nvPr/>
          </p:nvSpPr>
          <p:spPr>
            <a:xfrm>
              <a:off x="594360" y="5797296"/>
              <a:ext cx="4078224" cy="329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07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5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不等于产品总成本为0。</a:t>
              </a:r>
              <a:endParaRPr lang="zh-CN" sz="1450"/>
            </a:p>
          </p:txBody>
        </p:sp>
      </p:grpSp>
      <p:grpSp>
        <p:nvGrpSpPr>
          <p:cNvPr id="24" name="ANIM:channel0"/>
          <p:cNvGrpSpPr/>
          <p:nvPr/>
        </p:nvGrpSpPr>
        <p:grpSpPr>
          <a:xfrm>
            <a:off x="5556900" y="2188890"/>
            <a:ext cx="5214732" cy="920070"/>
            <a:chOff x="5556900" y="2188890"/>
            <a:chExt cx="5214732" cy="920070"/>
          </a:xfrm>
        </p:grpSpPr>
        <p:grpSp>
          <p:nvGrpSpPr>
            <p:cNvPr id="21" name="图标_phone"/>
            <p:cNvGrpSpPr/>
            <p:nvPr/>
          </p:nvGrpSpPr>
          <p:grpSpPr>
            <a:xfrm>
              <a:off x="5556900" y="2188890"/>
              <a:ext cx="313730" cy="587410"/>
              <a:chOff x="5556900" y="2188890"/>
              <a:chExt cx="313730" cy="587410"/>
            </a:xfrm>
          </p:grpSpPr>
          <p:sp>
            <p:nvSpPr>
              <p:cNvPr id="18" name="直角形状"/>
              <p:cNvSpPr/>
              <p:nvPr/>
            </p:nvSpPr>
            <p:spPr>
              <a:xfrm>
                <a:off x="5556900" y="2188890"/>
                <a:ext cx="313730" cy="587410"/>
              </a:xfrm>
              <a:prstGeom prst="rect">
                <a:avLst/>
              </a:prstGeom>
              <a:noFill/>
              <a:ln w="1016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9" name="图解线条"/>
              <p:cNvCxnSpPr/>
              <p:nvPr/>
            </p:nvCxnSpPr>
            <p:spPr>
              <a:xfrm>
                <a:off x="5650351" y="2248966"/>
                <a:ext cx="126828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图解线条"/>
              <p:cNvCxnSpPr/>
              <p:nvPr/>
            </p:nvCxnSpPr>
            <p:spPr>
              <a:xfrm>
                <a:off x="5670377" y="2716225"/>
                <a:ext cx="86776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文本_个人账号录屏"/>
            <p:cNvSpPr txBox="1"/>
            <p:nvPr/>
          </p:nvSpPr>
          <p:spPr>
            <a:xfrm>
              <a:off x="6309360" y="2194560"/>
              <a:ext cx="4462272" cy="3931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67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7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个人账号录屏</a:t>
              </a:r>
              <a:endParaRPr lang="zh-CN" sz="1870"/>
            </a:p>
          </p:txBody>
        </p:sp>
        <p:sp>
          <p:nvSpPr>
            <p:cNvPr id="23" name="文本_只用示例数据"/>
            <p:cNvSpPr txBox="1"/>
            <p:nvPr/>
          </p:nvSpPr>
          <p:spPr>
            <a:xfrm>
              <a:off x="6309360" y="2761488"/>
              <a:ext cx="4462272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1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只用示例数据</a:t>
              </a:r>
              <a:endParaRPr lang="zh-CN" sz="1410"/>
            </a:p>
          </p:txBody>
        </p:sp>
      </p:grpSp>
      <p:grpSp>
        <p:nvGrpSpPr>
          <p:cNvPr id="33" name="ANIM:channel1"/>
          <p:cNvGrpSpPr/>
          <p:nvPr/>
        </p:nvGrpSpPr>
        <p:grpSpPr>
          <a:xfrm>
            <a:off x="5456773" y="3429000"/>
            <a:ext cx="5314859" cy="914400"/>
            <a:chOff x="5456773" y="3429000"/>
            <a:chExt cx="5314859" cy="914400"/>
          </a:xfrm>
        </p:grpSpPr>
        <p:grpSp>
          <p:nvGrpSpPr>
            <p:cNvPr id="30" name="图标_share"/>
            <p:cNvGrpSpPr/>
            <p:nvPr/>
          </p:nvGrpSpPr>
          <p:grpSpPr>
            <a:xfrm>
              <a:off x="5456773" y="3463381"/>
              <a:ext cx="500634" cy="493959"/>
              <a:chOff x="5456773" y="3463381"/>
              <a:chExt cx="500634" cy="493959"/>
            </a:xfrm>
          </p:grpSpPr>
          <p:sp>
            <p:nvSpPr>
              <p:cNvPr id="25" name="语义节点"/>
              <p:cNvSpPr/>
              <p:nvPr/>
            </p:nvSpPr>
            <p:spPr>
              <a:xfrm>
                <a:off x="5456773" y="3643609"/>
                <a:ext cx="120152" cy="120152"/>
              </a:xfrm>
              <a:prstGeom prst="ellipse">
                <a:avLst/>
              </a:prstGeom>
              <a:noFill/>
              <a:ln w="889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语义节点"/>
              <p:cNvSpPr/>
              <p:nvPr/>
            </p:nvSpPr>
            <p:spPr>
              <a:xfrm>
                <a:off x="5837255" y="3463381"/>
                <a:ext cx="120152" cy="120152"/>
              </a:xfrm>
              <a:prstGeom prst="ellipse">
                <a:avLst/>
              </a:prstGeom>
              <a:noFill/>
              <a:ln w="889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语义节点"/>
              <p:cNvSpPr/>
              <p:nvPr/>
            </p:nvSpPr>
            <p:spPr>
              <a:xfrm>
                <a:off x="5837255" y="3837188"/>
                <a:ext cx="120152" cy="120152"/>
              </a:xfrm>
              <a:prstGeom prst="ellipse">
                <a:avLst/>
              </a:prstGeom>
              <a:noFill/>
              <a:ln w="889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8" name="图解线条"/>
              <p:cNvCxnSpPr/>
              <p:nvPr/>
            </p:nvCxnSpPr>
            <p:spPr>
              <a:xfrm flipV="1">
                <a:off x="5576925" y="3530132"/>
                <a:ext cx="260330" cy="160203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图解线条"/>
              <p:cNvCxnSpPr/>
              <p:nvPr/>
            </p:nvCxnSpPr>
            <p:spPr>
              <a:xfrm>
                <a:off x="5576925" y="3730386"/>
                <a:ext cx="260330" cy="160203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文本_熟人自愿转发"/>
            <p:cNvSpPr txBox="1"/>
            <p:nvPr/>
          </p:nvSpPr>
          <p:spPr>
            <a:xfrm>
              <a:off x="6309360" y="3429000"/>
              <a:ext cx="4462272" cy="3931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67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7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熟人自愿转发</a:t>
              </a:r>
              <a:endParaRPr lang="zh-CN" sz="1870"/>
            </a:p>
          </p:txBody>
        </p:sp>
        <p:sp>
          <p:nvSpPr>
            <p:cNvPr id="32" name="文本_不公开真实家庭内容"/>
            <p:cNvSpPr txBox="1"/>
            <p:nvPr/>
          </p:nvSpPr>
          <p:spPr>
            <a:xfrm>
              <a:off x="6309360" y="3995928"/>
              <a:ext cx="4462272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1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不公开真实家庭内容</a:t>
              </a:r>
              <a:endParaRPr lang="zh-CN" sz="1410"/>
            </a:p>
          </p:txBody>
        </p:sp>
      </p:grpSp>
      <p:grpSp>
        <p:nvGrpSpPr>
          <p:cNvPr id="40" name="ANIM:channel2"/>
          <p:cNvGrpSpPr/>
          <p:nvPr/>
        </p:nvGrpSpPr>
        <p:grpSpPr>
          <a:xfrm>
            <a:off x="5456773" y="4663440"/>
            <a:ext cx="5314859" cy="914400"/>
            <a:chOff x="5456773" y="4663440"/>
            <a:chExt cx="5314859" cy="914400"/>
          </a:xfrm>
        </p:grpSpPr>
        <p:grpSp>
          <p:nvGrpSpPr>
            <p:cNvPr id="37" name="图标_talk"/>
            <p:cNvGrpSpPr/>
            <p:nvPr/>
          </p:nvGrpSpPr>
          <p:grpSpPr>
            <a:xfrm>
              <a:off x="5456773" y="4744547"/>
              <a:ext cx="507309" cy="453908"/>
              <a:chOff x="5456773" y="4744547"/>
              <a:chExt cx="507309" cy="453908"/>
            </a:xfrm>
          </p:grpSpPr>
          <p:sp>
            <p:nvSpPr>
              <p:cNvPr id="34" name="原生矢量路径"/>
              <p:cNvSpPr/>
              <p:nvPr/>
            </p:nvSpPr>
            <p:spPr>
              <a:xfrm>
                <a:off x="5456773" y="4744547"/>
                <a:ext cx="507309" cy="453908"/>
              </a:xfrm>
              <a:custGeom>
                <a:avLst/>
                <a:gdLst/>
                <a:ahLst/>
                <a:cxnLst/>
                <a:rect l="l" t="t" r="r" b="b"/>
                <a:pathLst>
                  <a:path w="507309" h="453908">
                    <a:moveTo>
                      <a:pt x="0" y="0"/>
                    </a:moveTo>
                    <a:lnTo>
                      <a:pt x="507309" y="0"/>
                    </a:lnTo>
                    <a:lnTo>
                      <a:pt x="507309" y="340431"/>
                    </a:lnTo>
                    <a:lnTo>
                      <a:pt x="206929" y="340431"/>
                    </a:lnTo>
                    <a:lnTo>
                      <a:pt x="73426" y="453908"/>
                    </a:lnTo>
                    <a:lnTo>
                      <a:pt x="80101" y="340431"/>
                    </a:lnTo>
                    <a:lnTo>
                      <a:pt x="0" y="340431"/>
                    </a:lnTo>
                    <a:lnTo>
                      <a:pt x="0" y="0"/>
                    </a:lnTo>
                  </a:path>
                </a:pathLst>
              </a:custGeom>
              <a:noFill/>
              <a:ln w="12065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5" name="图解线条"/>
              <p:cNvCxnSpPr/>
              <p:nvPr/>
            </p:nvCxnSpPr>
            <p:spPr>
              <a:xfrm>
                <a:off x="5556900" y="4864699"/>
                <a:ext cx="300380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图解线条"/>
              <p:cNvCxnSpPr/>
              <p:nvPr/>
            </p:nvCxnSpPr>
            <p:spPr>
              <a:xfrm>
                <a:off x="5556900" y="4964826"/>
                <a:ext cx="200253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_课程汇报演示"/>
            <p:cNvSpPr txBox="1"/>
            <p:nvPr/>
          </p:nvSpPr>
          <p:spPr>
            <a:xfrm>
              <a:off x="6309360" y="4663440"/>
              <a:ext cx="4462272" cy="3931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67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7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课程汇报演示</a:t>
              </a:r>
              <a:endParaRPr lang="zh-CN" sz="1870"/>
            </a:p>
          </p:txBody>
        </p:sp>
        <p:sp>
          <p:nvSpPr>
            <p:cNvPr id="39" name="文本_由参与者主动联系"/>
            <p:cNvSpPr txBox="1"/>
            <p:nvPr/>
          </p:nvSpPr>
          <p:spPr>
            <a:xfrm>
              <a:off x="6309360" y="5230368"/>
              <a:ext cx="4462272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1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由参与者主动联系</a:t>
              </a:r>
              <a:endParaRPr lang="zh-CN" sz="1410"/>
            </a:p>
          </p:txBody>
        </p:sp>
      </p:grpSp>
      <p:sp>
        <p:nvSpPr>
          <p:cNvPr id="41" name="文本_不强求参与；普通界面反馈不能代替目标伴侣体验。"/>
          <p:cNvSpPr txBox="1"/>
          <p:nvPr/>
        </p:nvSpPr>
        <p:spPr>
          <a:xfrm>
            <a:off x="5376672" y="6062472"/>
            <a:ext cx="6144768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76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6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不强求参与；普通界面反馈不能代替目标伴侣体验。</a:t>
            </a:r>
            <a:endParaRPr lang="zh-CN" sz="116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2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4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4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"/>
          <p:cNvSpPr txBox="1"/>
          <p:nvPr/>
        </p:nvSpPr>
        <p:spPr>
          <a:xfrm>
            <a:off x="594360" y="370332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验证方案与风险控制</a:t>
            </a:r>
            <a:endParaRPr lang="zh-CN" sz="1070"/>
          </a:p>
        </p:txBody>
      </p:sp>
      <p:sp>
        <p:nvSpPr>
          <p:cNvPr id="3" name="!!chapterTitle0"/>
          <p:cNvSpPr txBox="1"/>
          <p:nvPr/>
        </p:nvSpPr>
        <p:spPr>
          <a:xfrm>
            <a:off x="7040880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问题界定</a:t>
            </a:r>
            <a:endParaRPr lang="zh-CN" sz="919"/>
          </a:p>
        </p:txBody>
      </p:sp>
      <p:sp>
        <p:nvSpPr>
          <p:cNvPr id="4" name="!!chapterTitle1"/>
          <p:cNvSpPr txBox="1"/>
          <p:nvPr/>
        </p:nvSpPr>
        <p:spPr>
          <a:xfrm>
            <a:off x="8065008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产品演示</a:t>
            </a:r>
            <a:endParaRPr lang="zh-CN" sz="919"/>
          </a:p>
        </p:txBody>
      </p:sp>
      <p:sp>
        <p:nvSpPr>
          <p:cNvPr id="5" name="!!chapterTitle2"/>
          <p:cNvSpPr txBox="1"/>
          <p:nvPr/>
        </p:nvSpPr>
        <p:spPr>
          <a:xfrm>
            <a:off x="9089136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用户范围</a:t>
            </a:r>
            <a:endParaRPr lang="zh-CN" sz="919"/>
          </a:p>
        </p:txBody>
      </p:sp>
      <p:sp>
        <p:nvSpPr>
          <p:cNvPr id="6" name="!!chapterTitle3"/>
          <p:cNvSpPr txBox="1"/>
          <p:nvPr/>
        </p:nvSpPr>
        <p:spPr>
          <a:xfrm>
            <a:off x="10113264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验证计划</a:t>
            </a:r>
            <a:endParaRPr lang="zh-CN" sz="919"/>
          </a:p>
        </p:txBody>
      </p:sp>
      <p:cxnSp>
        <p:nvCxnSpPr>
          <p:cNvPr id="7" name="!!activeNavRule"/>
          <p:cNvCxnSpPr/>
          <p:nvPr/>
        </p:nvCxnSpPr>
        <p:spPr>
          <a:xfrm>
            <a:off x="10113264" y="701344"/>
            <a:ext cx="570585" cy="0"/>
          </a:xfrm>
          <a:prstGeom prst="line">
            <a:avLst/>
          </a:prstGeom>
          <a:ln w="10160">
            <a:solidFill>
              <a:srgbClr val="8C2D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页码"/>
          <p:cNvSpPr txBox="1"/>
          <p:nvPr/>
        </p:nvSpPr>
        <p:spPr>
          <a:xfrm>
            <a:off x="11247120" y="374904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20</a:t>
            </a:r>
            <a:endParaRPr lang="zh-CN" sz="1070"/>
          </a:p>
        </p:txBody>
      </p:sp>
      <p:sp>
        <p:nvSpPr>
          <p:cNvPr id="9" name="主标题"/>
          <p:cNvSpPr txBox="1"/>
          <p:nvPr/>
        </p:nvSpPr>
        <p:spPr>
          <a:xfrm>
            <a:off x="576072" y="932688"/>
            <a:ext cx="10972800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1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记录本身，不应成为新的家务。</a:t>
            </a:r>
            <a:endParaRPr lang="zh-CN" sz="3100"/>
          </a:p>
        </p:txBody>
      </p:sp>
      <p:cxnSp>
        <p:nvCxnSpPr>
          <p:cNvPr id="10" name="分隔细线"/>
          <p:cNvCxnSpPr/>
          <p:nvPr/>
        </p:nvCxnSpPr>
        <p:spPr>
          <a:xfrm>
            <a:off x="585216" y="6451092"/>
            <a:ext cx="1100937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窄纸白裱边"/>
          <p:cNvSpPr/>
          <p:nvPr/>
        </p:nvSpPr>
        <p:spPr>
          <a:xfrm>
            <a:off x="594360" y="2121408"/>
            <a:ext cx="4937760" cy="3364992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2" name="真实情境摄影" descr="双人备餐_Pexels7653646_原始.jpg"/>
          <p:cNvPicPr>
            <a:picLocks noChangeAspect="1"/>
          </p:cNvPicPr>
          <p:nvPr/>
        </p:nvPicPr>
        <p:blipFill>
          <a:blip r:embed="rId2"/>
          <a:srcRect l="126" r="126"/>
          <a:stretch>
            <a:fillRect/>
          </a:stretch>
        </p:blipFill>
        <p:spPr>
          <a:xfrm>
            <a:off x="685800" y="2212848"/>
            <a:ext cx="4754880" cy="3182112"/>
          </a:xfrm>
          <a:prstGeom prst="rect">
            <a:avLst/>
          </a:prstGeom>
        </p:spPr>
      </p:pic>
      <p:sp>
        <p:nvSpPr>
          <p:cNvPr id="13" name="文本_只选一件近期、真实、_低敏感度的日常家务。"/>
          <p:cNvSpPr txBox="1"/>
          <p:nvPr/>
        </p:nvSpPr>
        <p:spPr>
          <a:xfrm>
            <a:off x="594360" y="5669280"/>
            <a:ext cx="5047488" cy="6126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7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只选一件近期、真实、</a:t>
            </a:r>
            <a:endParaRPr lang="zh-CN" sz="1400"/>
          </a:p>
          <a:p>
            <a:pPr algn="l">
              <a:lnSpc>
                <a:spcPts val="207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低敏感度的日常家务。</a:t>
            </a:r>
            <a:endParaRPr lang="zh-CN" sz="1400"/>
          </a:p>
        </p:txBody>
      </p:sp>
      <p:grpSp>
        <p:nvGrpSpPr>
          <p:cNvPr id="22" name="ANIM:observe0"/>
          <p:cNvGrpSpPr/>
          <p:nvPr/>
        </p:nvGrpSpPr>
        <p:grpSpPr>
          <a:xfrm>
            <a:off x="6099048" y="2307671"/>
            <a:ext cx="2478024" cy="1596817"/>
            <a:chOff x="6099048" y="2307671"/>
            <a:chExt cx="2478024" cy="1596817"/>
          </a:xfrm>
        </p:grpSpPr>
        <p:grpSp>
          <p:nvGrpSpPr>
            <p:cNvPr id="18" name="图标_document"/>
            <p:cNvGrpSpPr/>
            <p:nvPr/>
          </p:nvGrpSpPr>
          <p:grpSpPr>
            <a:xfrm>
              <a:off x="6233830" y="2307671"/>
              <a:ext cx="349209" cy="477865"/>
              <a:chOff x="6233830" y="2307671"/>
              <a:chExt cx="349209" cy="477865"/>
            </a:xfrm>
          </p:grpSpPr>
          <p:sp>
            <p:nvSpPr>
              <p:cNvPr id="14" name="直角形状"/>
              <p:cNvSpPr/>
              <p:nvPr/>
            </p:nvSpPr>
            <p:spPr>
              <a:xfrm>
                <a:off x="6233830" y="2307671"/>
                <a:ext cx="349209" cy="477865"/>
              </a:xfrm>
              <a:prstGeom prst="rect">
                <a:avLst/>
              </a:prstGeom>
              <a:noFill/>
              <a:ln w="10160">
                <a:solidFill>
                  <a:srgbClr val="24241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5" name="图解线条"/>
              <p:cNvCxnSpPr/>
              <p:nvPr/>
            </p:nvCxnSpPr>
            <p:spPr>
              <a:xfrm>
                <a:off x="6307348" y="2448580"/>
                <a:ext cx="196047" cy="0"/>
              </a:xfrm>
              <a:prstGeom prst="line">
                <a:avLst/>
              </a:prstGeom>
              <a:ln w="12065">
                <a:solidFill>
                  <a:srgbClr val="24241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图解线条"/>
              <p:cNvCxnSpPr/>
              <p:nvPr/>
            </p:nvCxnSpPr>
            <p:spPr>
              <a:xfrm>
                <a:off x="6307348" y="2546604"/>
                <a:ext cx="196047" cy="0"/>
              </a:xfrm>
              <a:prstGeom prst="line">
                <a:avLst/>
              </a:prstGeom>
              <a:ln w="12065">
                <a:solidFill>
                  <a:srgbClr val="24241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图解线条"/>
              <p:cNvCxnSpPr/>
              <p:nvPr/>
            </p:nvCxnSpPr>
            <p:spPr>
              <a:xfrm>
                <a:off x="6307348" y="2644627"/>
                <a:ext cx="140909" cy="0"/>
              </a:xfrm>
              <a:prstGeom prst="line">
                <a:avLst/>
              </a:prstGeom>
              <a:ln w="12065">
                <a:solidFill>
                  <a:srgbClr val="24241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文本_修正"/>
            <p:cNvSpPr txBox="1"/>
            <p:nvPr/>
          </p:nvSpPr>
          <p:spPr>
            <a:xfrm>
              <a:off x="6903720" y="2340864"/>
              <a:ext cx="1673352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7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95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修正</a:t>
              </a:r>
              <a:endParaRPr lang="zh-CN" sz="1950"/>
            </a:p>
          </p:txBody>
        </p:sp>
        <p:sp>
          <p:nvSpPr>
            <p:cNvPr id="20" name="文本_漏项或错误，是否容易改？"/>
            <p:cNvSpPr txBox="1"/>
            <p:nvPr/>
          </p:nvSpPr>
          <p:spPr>
            <a:xfrm>
              <a:off x="6099048" y="3172968"/>
              <a:ext cx="2478024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1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漏项或错误，是否容易改？</a:t>
              </a:r>
              <a:endParaRPr lang="zh-CN" sz="1400"/>
            </a:p>
          </p:txBody>
        </p:sp>
        <p:cxnSp>
          <p:nvCxnSpPr>
            <p:cNvPr id="21" name="分隔细线"/>
            <p:cNvCxnSpPr/>
            <p:nvPr/>
          </p:nvCxnSpPr>
          <p:spPr>
            <a:xfrm>
              <a:off x="6099048" y="3849624"/>
              <a:ext cx="2468880" cy="0"/>
            </a:xfrm>
            <a:prstGeom prst="line">
              <a:avLst/>
            </a:prstGeom>
            <a:ln w="5715">
              <a:solidFill>
                <a:srgbClr val="D4D2C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ANIM:observe1"/>
          <p:cNvGrpSpPr/>
          <p:nvPr/>
        </p:nvGrpSpPr>
        <p:grpSpPr>
          <a:xfrm>
            <a:off x="8933688" y="2340864"/>
            <a:ext cx="2478024" cy="1563624"/>
            <a:chOff x="8933688" y="2340864"/>
            <a:chExt cx="2478024" cy="1563624"/>
          </a:xfrm>
        </p:grpSpPr>
        <p:grpSp>
          <p:nvGrpSpPr>
            <p:cNvPr id="25" name="图标_eye"/>
            <p:cNvGrpSpPr/>
            <p:nvPr/>
          </p:nvGrpSpPr>
          <p:grpSpPr>
            <a:xfrm>
              <a:off x="8994952" y="2375062"/>
              <a:ext cx="502372" cy="343083"/>
              <a:chOff x="8994952" y="2375062"/>
              <a:chExt cx="502372" cy="343083"/>
            </a:xfrm>
          </p:grpSpPr>
          <p:sp>
            <p:nvSpPr>
              <p:cNvPr id="23" name="原生矢量路径"/>
              <p:cNvSpPr/>
              <p:nvPr/>
            </p:nvSpPr>
            <p:spPr>
              <a:xfrm>
                <a:off x="8994952" y="2375062"/>
                <a:ext cx="502372" cy="343083"/>
              </a:xfrm>
              <a:custGeom>
                <a:avLst/>
                <a:gdLst/>
                <a:ahLst/>
                <a:cxnLst/>
                <a:rect l="l" t="t" r="r" b="b"/>
                <a:pathLst>
                  <a:path w="502372" h="343083">
                    <a:moveTo>
                      <a:pt x="0" y="171542"/>
                    </a:moveTo>
                    <a:lnTo>
                      <a:pt x="116403" y="49012"/>
                    </a:lnTo>
                    <a:lnTo>
                      <a:pt x="245060" y="0"/>
                    </a:lnTo>
                    <a:lnTo>
                      <a:pt x="379842" y="55138"/>
                    </a:lnTo>
                    <a:lnTo>
                      <a:pt x="502372" y="171542"/>
                    </a:lnTo>
                    <a:lnTo>
                      <a:pt x="379842" y="287945"/>
                    </a:lnTo>
                    <a:lnTo>
                      <a:pt x="245060" y="343083"/>
                    </a:lnTo>
                    <a:lnTo>
                      <a:pt x="116403" y="294071"/>
                    </a:lnTo>
                    <a:lnTo>
                      <a:pt x="0" y="171542"/>
                    </a:lnTo>
                  </a:path>
                </a:pathLst>
              </a:custGeom>
              <a:noFill/>
              <a:ln w="12065">
                <a:solidFill>
                  <a:srgbClr val="24241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语义节点"/>
              <p:cNvSpPr/>
              <p:nvPr/>
            </p:nvSpPr>
            <p:spPr>
              <a:xfrm>
                <a:off x="9160367" y="2466959"/>
                <a:ext cx="159288" cy="159288"/>
              </a:xfrm>
              <a:prstGeom prst="ellipse">
                <a:avLst/>
              </a:prstGeom>
              <a:noFill/>
              <a:ln w="8890">
                <a:solidFill>
                  <a:srgbClr val="24241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6" name="文本_理解"/>
            <p:cNvSpPr txBox="1"/>
            <p:nvPr/>
          </p:nvSpPr>
          <p:spPr>
            <a:xfrm>
              <a:off x="9738360" y="2340864"/>
              <a:ext cx="1673352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7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95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理解</a:t>
              </a:r>
              <a:endParaRPr lang="zh-CN" sz="1950"/>
            </a:p>
          </p:txBody>
        </p:sp>
        <p:sp>
          <p:nvSpPr>
            <p:cNvPr id="27" name="文本_对方能否说清记了什么？"/>
            <p:cNvSpPr txBox="1"/>
            <p:nvPr/>
          </p:nvSpPr>
          <p:spPr>
            <a:xfrm>
              <a:off x="8933688" y="3172968"/>
              <a:ext cx="2478024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1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对方能否说清记了什么？</a:t>
              </a:r>
              <a:endParaRPr lang="zh-CN" sz="1400"/>
            </a:p>
          </p:txBody>
        </p:sp>
        <p:cxnSp>
          <p:nvCxnSpPr>
            <p:cNvPr id="28" name="分隔细线"/>
            <p:cNvCxnSpPr/>
            <p:nvPr/>
          </p:nvCxnSpPr>
          <p:spPr>
            <a:xfrm>
              <a:off x="8933688" y="3849624"/>
              <a:ext cx="2468879" cy="0"/>
            </a:xfrm>
            <a:prstGeom prst="line">
              <a:avLst/>
            </a:prstGeom>
            <a:ln w="5715">
              <a:solidFill>
                <a:srgbClr val="D4D2C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ANIM:observe2"/>
          <p:cNvGrpSpPr/>
          <p:nvPr/>
        </p:nvGrpSpPr>
        <p:grpSpPr>
          <a:xfrm>
            <a:off x="6099048" y="4215384"/>
            <a:ext cx="2478024" cy="1563624"/>
            <a:chOff x="6099048" y="4215384"/>
            <a:chExt cx="2478024" cy="1563624"/>
          </a:xfrm>
        </p:grpSpPr>
        <p:grpSp>
          <p:nvGrpSpPr>
            <p:cNvPr id="36" name="图标_repeat"/>
            <p:cNvGrpSpPr/>
            <p:nvPr/>
          </p:nvGrpSpPr>
          <p:grpSpPr>
            <a:xfrm>
              <a:off x="6184818" y="4225076"/>
              <a:ext cx="441107" cy="392095"/>
              <a:chOff x="6184818" y="4225076"/>
              <a:chExt cx="441107" cy="392095"/>
            </a:xfrm>
          </p:grpSpPr>
          <p:sp>
            <p:nvSpPr>
              <p:cNvPr id="30" name="原生矢量路径"/>
              <p:cNvSpPr/>
              <p:nvPr/>
            </p:nvSpPr>
            <p:spPr>
              <a:xfrm>
                <a:off x="6221577" y="4237329"/>
                <a:ext cx="404348" cy="110277"/>
              </a:xfrm>
              <a:custGeom>
                <a:avLst/>
                <a:gdLst/>
                <a:ahLst/>
                <a:cxnLst/>
                <a:rect l="l" t="t" r="r" b="b"/>
                <a:pathLst>
                  <a:path w="404348" h="110277">
                    <a:moveTo>
                      <a:pt x="0" y="104150"/>
                    </a:moveTo>
                    <a:lnTo>
                      <a:pt x="122530" y="0"/>
                    </a:lnTo>
                    <a:lnTo>
                      <a:pt x="324704" y="0"/>
                    </a:lnTo>
                    <a:lnTo>
                      <a:pt x="404348" y="110277"/>
                    </a:lnTo>
                  </a:path>
                </a:pathLst>
              </a:custGeom>
              <a:noFill/>
              <a:ln w="1270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原生矢量路径"/>
              <p:cNvSpPr/>
              <p:nvPr/>
            </p:nvSpPr>
            <p:spPr>
              <a:xfrm>
                <a:off x="6184818" y="4494641"/>
                <a:ext cx="404348" cy="110277"/>
              </a:xfrm>
              <a:custGeom>
                <a:avLst/>
                <a:gdLst/>
                <a:ahLst/>
                <a:cxnLst/>
                <a:rect l="l" t="t" r="r" b="b"/>
                <a:pathLst>
                  <a:path w="404348" h="110277">
                    <a:moveTo>
                      <a:pt x="404348" y="6127"/>
                    </a:moveTo>
                    <a:lnTo>
                      <a:pt x="281818" y="110277"/>
                    </a:lnTo>
                    <a:lnTo>
                      <a:pt x="79644" y="110277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2" name="图解线条"/>
              <p:cNvCxnSpPr/>
              <p:nvPr/>
            </p:nvCxnSpPr>
            <p:spPr>
              <a:xfrm flipV="1">
                <a:off x="6625925" y="4225076"/>
                <a:ext cx="0" cy="12253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图解线条"/>
              <p:cNvCxnSpPr/>
              <p:nvPr/>
            </p:nvCxnSpPr>
            <p:spPr>
              <a:xfrm flipH="1" flipV="1">
                <a:off x="6503395" y="4335353"/>
                <a:ext cx="122530" cy="12253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图解线条"/>
              <p:cNvCxnSpPr/>
              <p:nvPr/>
            </p:nvCxnSpPr>
            <p:spPr>
              <a:xfrm>
                <a:off x="6184818" y="4494641"/>
                <a:ext cx="0" cy="12253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图解线条"/>
              <p:cNvCxnSpPr/>
              <p:nvPr/>
            </p:nvCxnSpPr>
            <p:spPr>
              <a:xfrm>
                <a:off x="6184818" y="4494641"/>
                <a:ext cx="122530" cy="12253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文本_催促"/>
            <p:cNvSpPr txBox="1"/>
            <p:nvPr/>
          </p:nvSpPr>
          <p:spPr>
            <a:xfrm>
              <a:off x="6903720" y="4215384"/>
              <a:ext cx="1673352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7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950" b="0">
                  <a:solidFill>
                    <a:srgbClr val="8C2D19"/>
                  </a:solidFill>
                  <a:latin typeface="Noto Sans SC Medium"/>
                  <a:ea typeface="Noto Sans SC Medium"/>
                  <a:cs typeface="Noto Sans SC Medium"/>
                </a:rPr>
                <a:t>催促</a:t>
              </a:r>
              <a:endParaRPr lang="zh-CN" sz="1950"/>
            </a:p>
          </p:txBody>
        </p:sp>
        <p:sp>
          <p:nvSpPr>
            <p:cNvPr id="38" name="文本_录入和催核对由谁承担？"/>
            <p:cNvSpPr txBox="1"/>
            <p:nvPr/>
          </p:nvSpPr>
          <p:spPr>
            <a:xfrm>
              <a:off x="6099048" y="5047488"/>
              <a:ext cx="2478024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1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录入和催核对由谁承担？</a:t>
              </a:r>
              <a:endParaRPr lang="zh-CN" sz="1400"/>
            </a:p>
          </p:txBody>
        </p:sp>
        <p:cxnSp>
          <p:nvCxnSpPr>
            <p:cNvPr id="39" name="分隔细线"/>
            <p:cNvCxnSpPr/>
            <p:nvPr/>
          </p:nvCxnSpPr>
          <p:spPr>
            <a:xfrm>
              <a:off x="6099048" y="5724144"/>
              <a:ext cx="2468880" cy="0"/>
            </a:xfrm>
            <a:prstGeom prst="line">
              <a:avLst/>
            </a:prstGeom>
            <a:ln w="5715">
              <a:solidFill>
                <a:srgbClr val="D4D2C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ANIM:observe3"/>
          <p:cNvGrpSpPr/>
          <p:nvPr/>
        </p:nvGrpSpPr>
        <p:grpSpPr>
          <a:xfrm>
            <a:off x="8933688" y="4169938"/>
            <a:ext cx="2478024" cy="1609070"/>
            <a:chOff x="8933688" y="4169938"/>
            <a:chExt cx="2478024" cy="1609070"/>
          </a:xfrm>
        </p:grpSpPr>
        <p:grpSp>
          <p:nvGrpSpPr>
            <p:cNvPr id="49" name="图标_planning"/>
            <p:cNvGrpSpPr/>
            <p:nvPr/>
          </p:nvGrpSpPr>
          <p:grpSpPr>
            <a:xfrm>
              <a:off x="9019458" y="4169938"/>
              <a:ext cx="447233" cy="477865"/>
              <a:chOff x="9019458" y="4169938"/>
              <a:chExt cx="447233" cy="477865"/>
            </a:xfrm>
          </p:grpSpPr>
          <p:sp>
            <p:nvSpPr>
              <p:cNvPr id="41" name="直角形状"/>
              <p:cNvSpPr/>
              <p:nvPr/>
            </p:nvSpPr>
            <p:spPr>
              <a:xfrm>
                <a:off x="9019458" y="4225076"/>
                <a:ext cx="447233" cy="422727"/>
              </a:xfrm>
              <a:prstGeom prst="rect">
                <a:avLst/>
              </a:prstGeom>
              <a:noFill/>
              <a:ln w="10160">
                <a:solidFill>
                  <a:srgbClr val="24241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2" name="图解线条"/>
              <p:cNvCxnSpPr/>
              <p:nvPr/>
            </p:nvCxnSpPr>
            <p:spPr>
              <a:xfrm>
                <a:off x="9019458" y="4353732"/>
                <a:ext cx="447233" cy="0"/>
              </a:xfrm>
              <a:prstGeom prst="line">
                <a:avLst/>
              </a:prstGeom>
              <a:ln w="12065">
                <a:solidFill>
                  <a:srgbClr val="24241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图解线条"/>
              <p:cNvCxnSpPr/>
              <p:nvPr/>
            </p:nvCxnSpPr>
            <p:spPr>
              <a:xfrm>
                <a:off x="9141988" y="4169938"/>
                <a:ext cx="0" cy="122529"/>
              </a:xfrm>
              <a:prstGeom prst="line">
                <a:avLst/>
              </a:prstGeom>
              <a:ln w="12065">
                <a:solidFill>
                  <a:srgbClr val="24241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图解线条"/>
              <p:cNvCxnSpPr/>
              <p:nvPr/>
            </p:nvCxnSpPr>
            <p:spPr>
              <a:xfrm>
                <a:off x="9344162" y="4169938"/>
                <a:ext cx="0" cy="122529"/>
              </a:xfrm>
              <a:prstGeom prst="line">
                <a:avLst/>
              </a:prstGeom>
              <a:ln w="12065">
                <a:solidFill>
                  <a:srgbClr val="24241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语义节点"/>
              <p:cNvSpPr/>
              <p:nvPr/>
            </p:nvSpPr>
            <p:spPr>
              <a:xfrm>
                <a:off x="9141988" y="4439503"/>
                <a:ext cx="36758" cy="36758"/>
              </a:xfrm>
              <a:prstGeom prst="ellipse">
                <a:avLst/>
              </a:prstGeom>
              <a:solidFill>
                <a:srgbClr val="2424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语义节点"/>
              <p:cNvSpPr/>
              <p:nvPr/>
            </p:nvSpPr>
            <p:spPr>
              <a:xfrm>
                <a:off x="9307403" y="4439503"/>
                <a:ext cx="36758" cy="36758"/>
              </a:xfrm>
              <a:prstGeom prst="ellipse">
                <a:avLst/>
              </a:prstGeom>
              <a:solidFill>
                <a:srgbClr val="2424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语义节点"/>
              <p:cNvSpPr/>
              <p:nvPr/>
            </p:nvSpPr>
            <p:spPr>
              <a:xfrm>
                <a:off x="9141988" y="4555906"/>
                <a:ext cx="36758" cy="36758"/>
              </a:xfrm>
              <a:prstGeom prst="ellipse">
                <a:avLst/>
              </a:prstGeom>
              <a:solidFill>
                <a:srgbClr val="2424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语义节点"/>
              <p:cNvSpPr/>
              <p:nvPr/>
            </p:nvSpPr>
            <p:spPr>
              <a:xfrm>
                <a:off x="9307403" y="4555906"/>
                <a:ext cx="36758" cy="36758"/>
              </a:xfrm>
              <a:prstGeom prst="ellipse">
                <a:avLst/>
              </a:prstGeom>
              <a:solidFill>
                <a:srgbClr val="8C2D1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50" name="文本_约定"/>
            <p:cNvSpPr txBox="1"/>
            <p:nvPr/>
          </p:nvSpPr>
          <p:spPr>
            <a:xfrm>
              <a:off x="9738360" y="4215384"/>
              <a:ext cx="1673352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7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95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约定</a:t>
              </a:r>
              <a:endParaRPr lang="zh-CN" sz="1950"/>
            </a:p>
          </p:txBody>
        </p:sp>
        <p:sp>
          <p:nvSpPr>
            <p:cNvPr id="51" name="文本_形成安排是否出于自愿？"/>
            <p:cNvSpPr txBox="1"/>
            <p:nvPr/>
          </p:nvSpPr>
          <p:spPr>
            <a:xfrm>
              <a:off x="8933688" y="5047488"/>
              <a:ext cx="2478024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1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形成安排是否出于自愿？</a:t>
              </a:r>
              <a:endParaRPr lang="zh-CN" sz="1400"/>
            </a:p>
          </p:txBody>
        </p:sp>
        <p:cxnSp>
          <p:nvCxnSpPr>
            <p:cNvPr id="52" name="分隔细线"/>
            <p:cNvCxnSpPr/>
            <p:nvPr/>
          </p:nvCxnSpPr>
          <p:spPr>
            <a:xfrm>
              <a:off x="8933688" y="5724144"/>
              <a:ext cx="2468879" cy="0"/>
            </a:xfrm>
            <a:prstGeom prst="line">
              <a:avLst/>
            </a:prstGeom>
            <a:ln w="5715">
              <a:solidFill>
                <a:srgbClr val="D4D2C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2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4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4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4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"/>
          <p:cNvSpPr txBox="1"/>
          <p:nvPr/>
        </p:nvSpPr>
        <p:spPr>
          <a:xfrm>
            <a:off x="594360" y="370332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验证方案与风险控制</a:t>
            </a:r>
            <a:endParaRPr lang="zh-CN" sz="1070"/>
          </a:p>
        </p:txBody>
      </p:sp>
      <p:sp>
        <p:nvSpPr>
          <p:cNvPr id="3" name="!!chapterTitle0"/>
          <p:cNvSpPr txBox="1"/>
          <p:nvPr/>
        </p:nvSpPr>
        <p:spPr>
          <a:xfrm>
            <a:off x="7040880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问题界定</a:t>
            </a:r>
            <a:endParaRPr lang="zh-CN" sz="919"/>
          </a:p>
        </p:txBody>
      </p:sp>
      <p:sp>
        <p:nvSpPr>
          <p:cNvPr id="4" name="!!chapterTitle1"/>
          <p:cNvSpPr txBox="1"/>
          <p:nvPr/>
        </p:nvSpPr>
        <p:spPr>
          <a:xfrm>
            <a:off x="8065008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产品演示</a:t>
            </a:r>
            <a:endParaRPr lang="zh-CN" sz="919"/>
          </a:p>
        </p:txBody>
      </p:sp>
      <p:sp>
        <p:nvSpPr>
          <p:cNvPr id="5" name="!!chapterTitle2"/>
          <p:cNvSpPr txBox="1"/>
          <p:nvPr/>
        </p:nvSpPr>
        <p:spPr>
          <a:xfrm>
            <a:off x="9089136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用户范围</a:t>
            </a:r>
            <a:endParaRPr lang="zh-CN" sz="919"/>
          </a:p>
        </p:txBody>
      </p:sp>
      <p:sp>
        <p:nvSpPr>
          <p:cNvPr id="6" name="!!chapterTitle3"/>
          <p:cNvSpPr txBox="1"/>
          <p:nvPr/>
        </p:nvSpPr>
        <p:spPr>
          <a:xfrm>
            <a:off x="10113264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验证计划</a:t>
            </a:r>
            <a:endParaRPr lang="zh-CN" sz="919"/>
          </a:p>
        </p:txBody>
      </p:sp>
      <p:cxnSp>
        <p:nvCxnSpPr>
          <p:cNvPr id="7" name="!!activeNavRule"/>
          <p:cNvCxnSpPr/>
          <p:nvPr/>
        </p:nvCxnSpPr>
        <p:spPr>
          <a:xfrm>
            <a:off x="10113264" y="701344"/>
            <a:ext cx="570585" cy="0"/>
          </a:xfrm>
          <a:prstGeom prst="line">
            <a:avLst/>
          </a:prstGeom>
          <a:ln w="10160">
            <a:solidFill>
              <a:srgbClr val="8C2D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页码"/>
          <p:cNvSpPr txBox="1"/>
          <p:nvPr/>
        </p:nvSpPr>
        <p:spPr>
          <a:xfrm>
            <a:off x="11247120" y="374904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21</a:t>
            </a:r>
            <a:endParaRPr lang="zh-CN" sz="1070"/>
          </a:p>
        </p:txBody>
      </p:sp>
      <p:sp>
        <p:nvSpPr>
          <p:cNvPr id="9" name="主标题"/>
          <p:cNvSpPr txBox="1"/>
          <p:nvPr/>
        </p:nvSpPr>
        <p:spPr>
          <a:xfrm>
            <a:off x="576072" y="932688"/>
            <a:ext cx="10972800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1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先观察一件家务，再争取一周后回访。</a:t>
            </a:r>
            <a:endParaRPr lang="zh-CN" sz="3100"/>
          </a:p>
        </p:txBody>
      </p:sp>
      <p:cxnSp>
        <p:nvCxnSpPr>
          <p:cNvPr id="10" name="分隔细线"/>
          <p:cNvCxnSpPr/>
          <p:nvPr/>
        </p:nvCxnSpPr>
        <p:spPr>
          <a:xfrm>
            <a:off x="585216" y="6451092"/>
            <a:ext cx="1100937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ANIM:timelineTrace"/>
          <p:cNvGrpSpPr/>
          <p:nvPr/>
        </p:nvGrpSpPr>
        <p:grpSpPr>
          <a:xfrm>
            <a:off x="905256" y="3291840"/>
            <a:ext cx="10424160" cy="0"/>
            <a:chOff x="905256" y="3291840"/>
            <a:chExt cx="10424160" cy="0"/>
          </a:xfrm>
        </p:grpSpPr>
        <p:cxnSp>
          <p:nvCxnSpPr>
            <p:cNvPr id="11" name="分隔细线"/>
            <p:cNvCxnSpPr/>
            <p:nvPr/>
          </p:nvCxnSpPr>
          <p:spPr>
            <a:xfrm>
              <a:off x="905256" y="3291840"/>
              <a:ext cx="10424160" cy="0"/>
            </a:xfrm>
            <a:prstGeom prst="line">
              <a:avLst/>
            </a:prstGeom>
            <a:ln w="8255">
              <a:solidFill>
                <a:srgbClr val="D4D2C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ANIM:time0"/>
          <p:cNvGrpSpPr/>
          <p:nvPr/>
        </p:nvGrpSpPr>
        <p:grpSpPr>
          <a:xfrm>
            <a:off x="594360" y="2220894"/>
            <a:ext cx="2523744" cy="2597994"/>
            <a:chOff x="594360" y="2220894"/>
            <a:chExt cx="2523744" cy="2597994"/>
          </a:xfrm>
        </p:grpSpPr>
        <p:grpSp>
          <p:nvGrpSpPr>
            <p:cNvPr id="18" name="图标_coordinate"/>
            <p:cNvGrpSpPr/>
            <p:nvPr/>
          </p:nvGrpSpPr>
          <p:grpSpPr>
            <a:xfrm>
              <a:off x="691286" y="2220894"/>
              <a:ext cx="555955" cy="486461"/>
              <a:chOff x="691286" y="2220894"/>
              <a:chExt cx="555955" cy="486461"/>
            </a:xfrm>
          </p:grpSpPr>
          <p:sp>
            <p:nvSpPr>
              <p:cNvPr id="13" name="语义节点"/>
              <p:cNvSpPr/>
              <p:nvPr/>
            </p:nvSpPr>
            <p:spPr>
              <a:xfrm>
                <a:off x="691286" y="2220894"/>
                <a:ext cx="194584" cy="194584"/>
              </a:xfrm>
              <a:prstGeom prst="ellipse">
                <a:avLst/>
              </a:prstGeom>
              <a:noFill/>
              <a:ln w="8890">
                <a:solidFill>
                  <a:srgbClr val="24241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语义节点"/>
              <p:cNvSpPr/>
              <p:nvPr/>
            </p:nvSpPr>
            <p:spPr>
              <a:xfrm>
                <a:off x="1052657" y="2220894"/>
                <a:ext cx="194584" cy="194584"/>
              </a:xfrm>
              <a:prstGeom prst="ellipse">
                <a:avLst/>
              </a:prstGeom>
              <a:noFill/>
              <a:ln w="8890">
                <a:solidFill>
                  <a:srgbClr val="24241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5" name="图解线条"/>
              <p:cNvCxnSpPr/>
              <p:nvPr/>
            </p:nvCxnSpPr>
            <p:spPr>
              <a:xfrm>
                <a:off x="788578" y="2436327"/>
                <a:ext cx="0" cy="271028"/>
              </a:xfrm>
              <a:prstGeom prst="line">
                <a:avLst/>
              </a:prstGeom>
              <a:ln w="12065">
                <a:solidFill>
                  <a:srgbClr val="24241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图解线条"/>
              <p:cNvCxnSpPr/>
              <p:nvPr/>
            </p:nvCxnSpPr>
            <p:spPr>
              <a:xfrm>
                <a:off x="1149949" y="2436327"/>
                <a:ext cx="0" cy="271028"/>
              </a:xfrm>
              <a:prstGeom prst="line">
                <a:avLst/>
              </a:prstGeom>
              <a:ln w="12065">
                <a:solidFill>
                  <a:srgbClr val="24241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图解线条"/>
              <p:cNvCxnSpPr/>
              <p:nvPr/>
            </p:nvCxnSpPr>
            <p:spPr>
              <a:xfrm>
                <a:off x="788578" y="2575316"/>
                <a:ext cx="361371" cy="0"/>
              </a:xfrm>
              <a:prstGeom prst="line">
                <a:avLst/>
              </a:prstGeom>
              <a:ln w="12065">
                <a:solidFill>
                  <a:srgbClr val="24241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语义节点"/>
            <p:cNvSpPr/>
            <p:nvPr/>
          </p:nvSpPr>
          <p:spPr>
            <a:xfrm>
              <a:off x="877824" y="3246120"/>
              <a:ext cx="91440" cy="91440"/>
            </a:xfrm>
            <a:prstGeom prst="ellipse">
              <a:avLst/>
            </a:prstGeom>
            <a:solidFill>
              <a:srgbClr val="6E6D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文本_知情招募"/>
            <p:cNvSpPr txBox="1"/>
            <p:nvPr/>
          </p:nvSpPr>
          <p:spPr>
            <a:xfrm>
              <a:off x="594360" y="3657600"/>
              <a:ext cx="2523744" cy="4206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67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7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知情招募</a:t>
              </a:r>
              <a:endParaRPr lang="zh-CN" sz="1870"/>
            </a:p>
          </p:txBody>
        </p:sp>
        <p:sp>
          <p:nvSpPr>
            <p:cNvPr id="21" name="文本_两名伴侣均自愿"/>
            <p:cNvSpPr txBox="1"/>
            <p:nvPr/>
          </p:nvSpPr>
          <p:spPr>
            <a:xfrm>
              <a:off x="594360" y="4261104"/>
              <a:ext cx="2523744" cy="5577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9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4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两名伴侣均自愿</a:t>
              </a:r>
              <a:endParaRPr lang="zh-CN" sz="1340"/>
            </a:p>
          </p:txBody>
        </p:sp>
      </p:grpSp>
      <p:grpSp>
        <p:nvGrpSpPr>
          <p:cNvPr id="31" name="ANIM:time1"/>
          <p:cNvGrpSpPr/>
          <p:nvPr/>
        </p:nvGrpSpPr>
        <p:grpSpPr>
          <a:xfrm>
            <a:off x="3401568" y="2206995"/>
            <a:ext cx="2523744" cy="2611893"/>
            <a:chOff x="3401568" y="2206995"/>
            <a:chExt cx="2523744" cy="2611893"/>
          </a:xfrm>
        </p:grpSpPr>
        <p:grpSp>
          <p:nvGrpSpPr>
            <p:cNvPr id="27" name="图标_document"/>
            <p:cNvGrpSpPr/>
            <p:nvPr/>
          </p:nvGrpSpPr>
          <p:grpSpPr>
            <a:xfrm>
              <a:off x="3581887" y="2206995"/>
              <a:ext cx="396118" cy="542056"/>
              <a:chOff x="3581887" y="2206995"/>
              <a:chExt cx="396118" cy="542056"/>
            </a:xfrm>
          </p:grpSpPr>
          <p:sp>
            <p:nvSpPr>
              <p:cNvPr id="23" name="直角形状"/>
              <p:cNvSpPr/>
              <p:nvPr/>
            </p:nvSpPr>
            <p:spPr>
              <a:xfrm>
                <a:off x="3581887" y="2206995"/>
                <a:ext cx="396118" cy="542056"/>
              </a:xfrm>
              <a:prstGeom prst="rect">
                <a:avLst/>
              </a:prstGeom>
              <a:noFill/>
              <a:ln w="10160">
                <a:solidFill>
                  <a:srgbClr val="24241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4" name="图解线条"/>
              <p:cNvCxnSpPr/>
              <p:nvPr/>
            </p:nvCxnSpPr>
            <p:spPr>
              <a:xfrm>
                <a:off x="3665280" y="2366832"/>
                <a:ext cx="222383" cy="0"/>
              </a:xfrm>
              <a:prstGeom prst="line">
                <a:avLst/>
              </a:prstGeom>
              <a:ln w="12065">
                <a:solidFill>
                  <a:srgbClr val="24241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图解线条"/>
              <p:cNvCxnSpPr/>
              <p:nvPr/>
            </p:nvCxnSpPr>
            <p:spPr>
              <a:xfrm>
                <a:off x="3665280" y="2478024"/>
                <a:ext cx="222383" cy="0"/>
              </a:xfrm>
              <a:prstGeom prst="line">
                <a:avLst/>
              </a:prstGeom>
              <a:ln w="12065">
                <a:solidFill>
                  <a:srgbClr val="24241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图解线条"/>
              <p:cNvCxnSpPr/>
              <p:nvPr/>
            </p:nvCxnSpPr>
            <p:spPr>
              <a:xfrm>
                <a:off x="3665280" y="2589215"/>
                <a:ext cx="159838" cy="0"/>
              </a:xfrm>
              <a:prstGeom prst="line">
                <a:avLst/>
              </a:prstGeom>
              <a:ln w="12065">
                <a:solidFill>
                  <a:srgbClr val="24241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语义节点"/>
            <p:cNvSpPr/>
            <p:nvPr/>
          </p:nvSpPr>
          <p:spPr>
            <a:xfrm>
              <a:off x="3685031" y="3246120"/>
              <a:ext cx="91440" cy="91440"/>
            </a:xfrm>
            <a:prstGeom prst="ellipse">
              <a:avLst/>
            </a:prstGeom>
            <a:solidFill>
              <a:srgbClr val="6E6D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文本_选一件家务"/>
            <p:cNvSpPr txBox="1"/>
            <p:nvPr/>
          </p:nvSpPr>
          <p:spPr>
            <a:xfrm>
              <a:off x="3401568" y="3657600"/>
              <a:ext cx="2523744" cy="4206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67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7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选一件家务</a:t>
              </a:r>
              <a:endParaRPr lang="zh-CN" sz="1870"/>
            </a:p>
          </p:txBody>
        </p:sp>
        <p:sp>
          <p:nvSpPr>
            <p:cNvPr id="30" name="文本_近期、真实、低敏感"/>
            <p:cNvSpPr txBox="1"/>
            <p:nvPr/>
          </p:nvSpPr>
          <p:spPr>
            <a:xfrm>
              <a:off x="3401568" y="4261104"/>
              <a:ext cx="2523744" cy="5577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9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4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近期、真实、低敏感</a:t>
              </a:r>
              <a:endParaRPr lang="zh-CN" sz="1340"/>
            </a:p>
          </p:txBody>
        </p:sp>
      </p:grpSp>
      <p:grpSp>
        <p:nvGrpSpPr>
          <p:cNvPr id="38" name="ANIM:time2"/>
          <p:cNvGrpSpPr/>
          <p:nvPr/>
        </p:nvGrpSpPr>
        <p:grpSpPr>
          <a:xfrm>
            <a:off x="6208776" y="2283439"/>
            <a:ext cx="2523744" cy="2535449"/>
            <a:chOff x="6208776" y="2283439"/>
            <a:chExt cx="2523744" cy="2535449"/>
          </a:xfrm>
        </p:grpSpPr>
        <p:grpSp>
          <p:nvGrpSpPr>
            <p:cNvPr id="34" name="图标_eye"/>
            <p:cNvGrpSpPr/>
            <p:nvPr/>
          </p:nvGrpSpPr>
          <p:grpSpPr>
            <a:xfrm>
              <a:off x="6305702" y="2283439"/>
              <a:ext cx="569854" cy="389169"/>
              <a:chOff x="6305702" y="2283439"/>
              <a:chExt cx="569854" cy="389169"/>
            </a:xfrm>
          </p:grpSpPr>
          <p:sp>
            <p:nvSpPr>
              <p:cNvPr id="32" name="原生矢量路径"/>
              <p:cNvSpPr/>
              <p:nvPr/>
            </p:nvSpPr>
            <p:spPr>
              <a:xfrm>
                <a:off x="6305702" y="2283439"/>
                <a:ext cx="569854" cy="389169"/>
              </a:xfrm>
              <a:custGeom>
                <a:avLst/>
                <a:gdLst/>
                <a:ahLst/>
                <a:cxnLst/>
                <a:rect l="l" t="t" r="r" b="b"/>
                <a:pathLst>
                  <a:path w="569854" h="389169">
                    <a:moveTo>
                      <a:pt x="0" y="194585"/>
                    </a:moveTo>
                    <a:lnTo>
                      <a:pt x="132039" y="55596"/>
                    </a:lnTo>
                    <a:lnTo>
                      <a:pt x="277978" y="0"/>
                    </a:lnTo>
                    <a:lnTo>
                      <a:pt x="430865" y="62545"/>
                    </a:lnTo>
                    <a:lnTo>
                      <a:pt x="569854" y="194585"/>
                    </a:lnTo>
                    <a:lnTo>
                      <a:pt x="430865" y="326624"/>
                    </a:lnTo>
                    <a:lnTo>
                      <a:pt x="277978" y="389169"/>
                    </a:lnTo>
                    <a:lnTo>
                      <a:pt x="132039" y="333573"/>
                    </a:lnTo>
                    <a:lnTo>
                      <a:pt x="0" y="194585"/>
                    </a:lnTo>
                  </a:path>
                </a:pathLst>
              </a:custGeom>
              <a:noFill/>
              <a:ln w="12065">
                <a:solidFill>
                  <a:srgbClr val="24241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语义节点"/>
              <p:cNvSpPr/>
              <p:nvPr/>
            </p:nvSpPr>
            <p:spPr>
              <a:xfrm>
                <a:off x="6493337" y="2387681"/>
                <a:ext cx="180685" cy="180685"/>
              </a:xfrm>
              <a:prstGeom prst="ellipse">
                <a:avLst/>
              </a:prstGeom>
              <a:noFill/>
              <a:ln w="8890">
                <a:solidFill>
                  <a:srgbClr val="24241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35" name="语义节点"/>
            <p:cNvSpPr/>
            <p:nvPr/>
          </p:nvSpPr>
          <p:spPr>
            <a:xfrm>
              <a:off x="6492240" y="3246120"/>
              <a:ext cx="91440" cy="91440"/>
            </a:xfrm>
            <a:prstGeom prst="ellipse">
              <a:avLst/>
            </a:prstGeom>
            <a:solidFill>
              <a:srgbClr val="6E6D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文本_四项观察"/>
            <p:cNvSpPr txBox="1"/>
            <p:nvPr/>
          </p:nvSpPr>
          <p:spPr>
            <a:xfrm>
              <a:off x="6208776" y="3657600"/>
              <a:ext cx="2523744" cy="4206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67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7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四项观察</a:t>
              </a:r>
              <a:endParaRPr lang="zh-CN" sz="1870"/>
            </a:p>
          </p:txBody>
        </p:sp>
        <p:sp>
          <p:nvSpPr>
            <p:cNvPr id="37" name="文本_包括记录与催促负担"/>
            <p:cNvSpPr txBox="1"/>
            <p:nvPr/>
          </p:nvSpPr>
          <p:spPr>
            <a:xfrm>
              <a:off x="6208776" y="4261104"/>
              <a:ext cx="2523744" cy="5577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9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4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包括记录与催促负担</a:t>
              </a:r>
              <a:endParaRPr lang="zh-CN" sz="1340"/>
            </a:p>
          </p:txBody>
        </p:sp>
      </p:grpSp>
      <p:grpSp>
        <p:nvGrpSpPr>
          <p:cNvPr id="46" name="ANIM:time3"/>
          <p:cNvGrpSpPr/>
          <p:nvPr/>
        </p:nvGrpSpPr>
        <p:grpSpPr>
          <a:xfrm>
            <a:off x="9015984" y="2213945"/>
            <a:ext cx="2523744" cy="2604943"/>
            <a:chOff x="9015984" y="2213945"/>
            <a:chExt cx="2523744" cy="2604943"/>
          </a:xfrm>
        </p:grpSpPr>
        <p:grpSp>
          <p:nvGrpSpPr>
            <p:cNvPr id="42" name="图标_clock"/>
            <p:cNvGrpSpPr/>
            <p:nvPr/>
          </p:nvGrpSpPr>
          <p:grpSpPr>
            <a:xfrm>
              <a:off x="9126809" y="2213945"/>
              <a:ext cx="528157" cy="528157"/>
              <a:chOff x="9126809" y="2213945"/>
              <a:chExt cx="528157" cy="528157"/>
            </a:xfrm>
          </p:grpSpPr>
          <p:sp>
            <p:nvSpPr>
              <p:cNvPr id="39" name="语义节点"/>
              <p:cNvSpPr/>
              <p:nvPr/>
            </p:nvSpPr>
            <p:spPr>
              <a:xfrm>
                <a:off x="9126809" y="2213945"/>
                <a:ext cx="528157" cy="528157"/>
              </a:xfrm>
              <a:prstGeom prst="ellipse">
                <a:avLst/>
              </a:prstGeom>
              <a:noFill/>
              <a:ln w="889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0" name="图解线条"/>
              <p:cNvCxnSpPr/>
              <p:nvPr/>
            </p:nvCxnSpPr>
            <p:spPr>
              <a:xfrm>
                <a:off x="9390888" y="2311237"/>
                <a:ext cx="0" cy="173736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图解线条"/>
              <p:cNvCxnSpPr/>
              <p:nvPr/>
            </p:nvCxnSpPr>
            <p:spPr>
              <a:xfrm>
                <a:off x="9390888" y="2484973"/>
                <a:ext cx="132039" cy="76444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语义节点"/>
            <p:cNvSpPr/>
            <p:nvPr/>
          </p:nvSpPr>
          <p:spPr>
            <a:xfrm>
              <a:off x="9299448" y="3246120"/>
              <a:ext cx="91440" cy="91440"/>
            </a:xfrm>
            <a:prstGeom prst="ellipse">
              <a:avLst/>
            </a:prstGeom>
            <a:solidFill>
              <a:srgbClr val="8C2D1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文本_约一周后回访"/>
            <p:cNvSpPr txBox="1"/>
            <p:nvPr/>
          </p:nvSpPr>
          <p:spPr>
            <a:xfrm>
              <a:off x="9015984" y="3657600"/>
              <a:ext cx="2523744" cy="4206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67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7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约一周后回访</a:t>
              </a:r>
              <a:endParaRPr lang="zh-CN" sz="1870"/>
            </a:p>
          </p:txBody>
        </p:sp>
        <p:sp>
          <p:nvSpPr>
            <p:cNvPr id="45" name="文本_完成情况据实报告"/>
            <p:cNvSpPr txBox="1"/>
            <p:nvPr/>
          </p:nvSpPr>
          <p:spPr>
            <a:xfrm>
              <a:off x="9015984" y="4261104"/>
              <a:ext cx="2523744" cy="5577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9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4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完成情况据实报告</a:t>
              </a:r>
              <a:endParaRPr lang="zh-CN" sz="1340"/>
            </a:p>
          </p:txBody>
        </p:sp>
      </p:grpSp>
      <p:sp>
        <p:nvSpPr>
          <p:cNvPr id="47" name="验证边界纸页"/>
          <p:cNvSpPr/>
          <p:nvPr/>
        </p:nvSpPr>
        <p:spPr>
          <a:xfrm>
            <a:off x="594360" y="5074920"/>
            <a:ext cx="5376672" cy="1088136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8" name="文本_按实际报告"/>
          <p:cNvSpPr txBox="1"/>
          <p:nvPr/>
        </p:nvSpPr>
        <p:spPr>
          <a:xfrm>
            <a:off x="868680" y="5294376"/>
            <a:ext cx="136245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59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8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按实际报告</a:t>
            </a:r>
            <a:endParaRPr lang="zh-CN" sz="1580"/>
          </a:p>
        </p:txBody>
      </p:sp>
      <p:sp>
        <p:nvSpPr>
          <p:cNvPr id="49" name="文本_招募、完成、退出分别记录；_未完成回访，不称周闭环成立。"/>
          <p:cNvSpPr txBox="1"/>
          <p:nvPr/>
        </p:nvSpPr>
        <p:spPr>
          <a:xfrm>
            <a:off x="2432303" y="5294376"/>
            <a:ext cx="3236976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73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1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招募、完成、退出分别记录；</a:t>
            </a:r>
            <a:endParaRPr lang="zh-CN" sz="1310"/>
          </a:p>
          <a:p>
            <a:pPr algn="l">
              <a:lnSpc>
                <a:spcPts val="1873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1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未完成回访，不称周闭环成立。</a:t>
            </a:r>
            <a:endParaRPr lang="zh-CN" sz="1310"/>
          </a:p>
        </p:txBody>
      </p:sp>
      <p:sp>
        <p:nvSpPr>
          <p:cNvPr id="50" name="验证边界纸页"/>
          <p:cNvSpPr/>
          <p:nvPr/>
        </p:nvSpPr>
        <p:spPr>
          <a:xfrm>
            <a:off x="6217920" y="5074920"/>
            <a:ext cx="5376672" cy="1088136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51" name="文本_只作质性观察"/>
          <p:cNvSpPr txBox="1"/>
          <p:nvPr/>
        </p:nvSpPr>
        <p:spPr>
          <a:xfrm>
            <a:off x="6492240" y="5294376"/>
            <a:ext cx="136245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59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8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只作质性观察</a:t>
            </a:r>
            <a:endParaRPr lang="zh-CN" sz="1580"/>
          </a:p>
        </p:txBody>
      </p:sp>
      <p:sp>
        <p:nvSpPr>
          <p:cNvPr id="52" name="文本_便签纸可作参考；小范围体验_不当作冲突减少的因果证明。"/>
          <p:cNvSpPr txBox="1"/>
          <p:nvPr/>
        </p:nvSpPr>
        <p:spPr>
          <a:xfrm>
            <a:off x="8055863" y="5294376"/>
            <a:ext cx="3236976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73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1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便签纸可作参考；小范围体验</a:t>
            </a:r>
            <a:endParaRPr lang="zh-CN" sz="1310"/>
          </a:p>
          <a:p>
            <a:pPr algn="l">
              <a:lnSpc>
                <a:spcPts val="1873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1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不当作冲突减少的因果证明。</a:t>
            </a:r>
            <a:endParaRPr lang="zh-CN" sz="131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2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"/>
          <p:cNvSpPr txBox="1"/>
          <p:nvPr/>
        </p:nvSpPr>
        <p:spPr>
          <a:xfrm>
            <a:off x="594360" y="370332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伦理与安全  ／  S07 权限与退出 · 可选截图预留</a:t>
            </a:r>
            <a:endParaRPr lang="zh-CN" sz="1070"/>
          </a:p>
        </p:txBody>
      </p:sp>
      <p:sp>
        <p:nvSpPr>
          <p:cNvPr id="3" name="!!chapterTitle0"/>
          <p:cNvSpPr txBox="1"/>
          <p:nvPr/>
        </p:nvSpPr>
        <p:spPr>
          <a:xfrm>
            <a:off x="7040880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问题界定</a:t>
            </a:r>
            <a:endParaRPr lang="zh-CN" sz="919"/>
          </a:p>
        </p:txBody>
      </p:sp>
      <p:sp>
        <p:nvSpPr>
          <p:cNvPr id="4" name="!!chapterTitle1"/>
          <p:cNvSpPr txBox="1"/>
          <p:nvPr/>
        </p:nvSpPr>
        <p:spPr>
          <a:xfrm>
            <a:off x="8065008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产品演示</a:t>
            </a:r>
            <a:endParaRPr lang="zh-CN" sz="919"/>
          </a:p>
        </p:txBody>
      </p:sp>
      <p:sp>
        <p:nvSpPr>
          <p:cNvPr id="5" name="!!chapterTitle2"/>
          <p:cNvSpPr txBox="1"/>
          <p:nvPr/>
        </p:nvSpPr>
        <p:spPr>
          <a:xfrm>
            <a:off x="9089136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用户范围</a:t>
            </a:r>
            <a:endParaRPr lang="zh-CN" sz="919"/>
          </a:p>
        </p:txBody>
      </p:sp>
      <p:sp>
        <p:nvSpPr>
          <p:cNvPr id="6" name="!!chapterTitle3"/>
          <p:cNvSpPr txBox="1"/>
          <p:nvPr/>
        </p:nvSpPr>
        <p:spPr>
          <a:xfrm>
            <a:off x="10113264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验证计划</a:t>
            </a:r>
            <a:endParaRPr lang="zh-CN" sz="919"/>
          </a:p>
        </p:txBody>
      </p:sp>
      <p:cxnSp>
        <p:nvCxnSpPr>
          <p:cNvPr id="7" name="!!activeNavRule"/>
          <p:cNvCxnSpPr/>
          <p:nvPr/>
        </p:nvCxnSpPr>
        <p:spPr>
          <a:xfrm>
            <a:off x="10113264" y="701344"/>
            <a:ext cx="570585" cy="0"/>
          </a:xfrm>
          <a:prstGeom prst="line">
            <a:avLst/>
          </a:prstGeom>
          <a:ln w="10160">
            <a:solidFill>
              <a:srgbClr val="8C2D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页码"/>
          <p:cNvSpPr txBox="1"/>
          <p:nvPr/>
        </p:nvSpPr>
        <p:spPr>
          <a:xfrm>
            <a:off x="11247120" y="374904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22</a:t>
            </a:r>
            <a:endParaRPr lang="zh-CN" sz="1070"/>
          </a:p>
        </p:txBody>
      </p:sp>
      <p:sp>
        <p:nvSpPr>
          <p:cNvPr id="9" name="主标题"/>
          <p:cNvSpPr txBox="1"/>
          <p:nvPr/>
        </p:nvSpPr>
        <p:spPr>
          <a:xfrm>
            <a:off x="576072" y="932688"/>
            <a:ext cx="10972800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10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保护拒绝权，比促成核对更优先。</a:t>
            </a:r>
            <a:endParaRPr lang="zh-CN" sz="3100"/>
          </a:p>
        </p:txBody>
      </p:sp>
      <p:cxnSp>
        <p:nvCxnSpPr>
          <p:cNvPr id="10" name="分隔细线"/>
          <p:cNvCxnSpPr/>
          <p:nvPr/>
        </p:nvCxnSpPr>
        <p:spPr>
          <a:xfrm>
            <a:off x="585216" y="6451092"/>
            <a:ext cx="1100937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!!phonePaper"/>
          <p:cNvSpPr/>
          <p:nvPr/>
        </p:nvSpPr>
        <p:spPr>
          <a:xfrm>
            <a:off x="8732520" y="1755648"/>
            <a:ext cx="2157984" cy="4416552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58" name="图片占位符 57">
            <a:extLst>
              <a:ext uri="{FF2B5EF4-FFF2-40B4-BE49-F238E27FC236}">
                <a16:creationId xmlns:a16="http://schemas.microsoft.com/office/drawing/2014/main" id="{9A9FA7E7-C034-CC04-73CC-6D29484218B4}"/>
              </a:ext>
            </a:extLst>
          </p:cNvPr>
          <p:cNvPicPr>
            <a:picLocks noGrp="1" noChangeAspect="1"/>
          </p:cNvPicPr>
          <p:nvPr>
            <p:ph type="pic" idx="50"/>
          </p:nvPr>
        </p:nvPicPr>
        <p:blipFill>
          <a:blip r:embed="rId2"/>
          <a:srcRect t="504" b="504"/>
          <a:stretch>
            <a:fillRect/>
          </a:stretch>
        </p:blipFill>
        <p:spPr>
          <a:prstGeom prst="rect">
            <a:avLst/>
          </a:prstGeom>
          <a:solidFill>
            <a:srgbClr val="F0EEE8"/>
          </a:solidFill>
          <a:ln w="7620" cap="flat" cmpd="sng" algn="ctr">
            <a:solidFill>
              <a:srgbClr val="E5E2D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pic>
      <p:sp>
        <p:nvSpPr>
          <p:cNvPr id="19" name="!!phoneCaption"/>
          <p:cNvSpPr txBox="1"/>
          <p:nvPr/>
        </p:nvSpPr>
        <p:spPr>
          <a:xfrm>
            <a:off x="8823960" y="1554480"/>
            <a:ext cx="1975104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20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S07  ／  权限与退出</a:t>
            </a:r>
            <a:endParaRPr lang="zh-CN" sz="1120"/>
          </a:p>
        </p:txBody>
      </p:sp>
      <p:grpSp>
        <p:nvGrpSpPr>
          <p:cNvPr id="27" name="ANIM:safety0"/>
          <p:cNvGrpSpPr/>
          <p:nvPr/>
        </p:nvGrpSpPr>
        <p:grpSpPr>
          <a:xfrm>
            <a:off x="814090" y="2057400"/>
            <a:ext cx="6885158" cy="868680"/>
            <a:chOff x="814090" y="2057400"/>
            <a:chExt cx="6885158" cy="868680"/>
          </a:xfrm>
        </p:grpSpPr>
        <p:grpSp>
          <p:nvGrpSpPr>
            <p:cNvPr id="23" name="图标_lock"/>
            <p:cNvGrpSpPr/>
            <p:nvPr/>
          </p:nvGrpSpPr>
          <p:grpSpPr>
            <a:xfrm>
              <a:off x="814090" y="2117658"/>
              <a:ext cx="306781" cy="390448"/>
              <a:chOff x="814090" y="2117658"/>
              <a:chExt cx="306781" cy="390448"/>
            </a:xfrm>
          </p:grpSpPr>
          <p:sp>
            <p:nvSpPr>
              <p:cNvPr id="20" name="直角形状"/>
              <p:cNvSpPr/>
              <p:nvPr/>
            </p:nvSpPr>
            <p:spPr>
              <a:xfrm>
                <a:off x="814090" y="2257104"/>
                <a:ext cx="306781" cy="251002"/>
              </a:xfrm>
              <a:prstGeom prst="rect">
                <a:avLst/>
              </a:prstGeom>
              <a:noFill/>
              <a:ln w="1016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原生矢量路径"/>
              <p:cNvSpPr/>
              <p:nvPr/>
            </p:nvSpPr>
            <p:spPr>
              <a:xfrm>
                <a:off x="867079" y="2117658"/>
                <a:ext cx="200803" cy="128291"/>
              </a:xfrm>
              <a:custGeom>
                <a:avLst/>
                <a:gdLst/>
                <a:ahLst/>
                <a:cxnLst/>
                <a:rect l="l" t="t" r="r" b="b"/>
                <a:pathLst>
                  <a:path w="200803" h="128291">
                    <a:moveTo>
                      <a:pt x="0" y="128291"/>
                    </a:moveTo>
                    <a:lnTo>
                      <a:pt x="1929" y="103263"/>
                    </a:lnTo>
                    <a:lnTo>
                      <a:pt x="7643" y="79196"/>
                    </a:lnTo>
                    <a:lnTo>
                      <a:pt x="16921" y="57016"/>
                    </a:lnTo>
                    <a:lnTo>
                      <a:pt x="29407" y="37576"/>
                    </a:lnTo>
                    <a:lnTo>
                      <a:pt x="44622" y="21621"/>
                    </a:lnTo>
                    <a:lnTo>
                      <a:pt x="61980" y="9766"/>
                    </a:lnTo>
                    <a:lnTo>
                      <a:pt x="80814" y="2466"/>
                    </a:lnTo>
                    <a:lnTo>
                      <a:pt x="100401" y="0"/>
                    </a:lnTo>
                    <a:lnTo>
                      <a:pt x="119989" y="2466"/>
                    </a:lnTo>
                    <a:lnTo>
                      <a:pt x="138823" y="9766"/>
                    </a:lnTo>
                    <a:lnTo>
                      <a:pt x="156181" y="21621"/>
                    </a:lnTo>
                    <a:lnTo>
                      <a:pt x="171396" y="37576"/>
                    </a:lnTo>
                    <a:lnTo>
                      <a:pt x="183882" y="57016"/>
                    </a:lnTo>
                    <a:lnTo>
                      <a:pt x="193160" y="79196"/>
                    </a:lnTo>
                    <a:lnTo>
                      <a:pt x="198873" y="103263"/>
                    </a:lnTo>
                    <a:lnTo>
                      <a:pt x="200803" y="128291"/>
                    </a:lnTo>
                  </a:path>
                </a:pathLst>
              </a:custGeom>
              <a:noFill/>
              <a:ln w="1270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2" name="图解线条"/>
              <p:cNvCxnSpPr/>
              <p:nvPr/>
            </p:nvCxnSpPr>
            <p:spPr>
              <a:xfrm>
                <a:off x="967480" y="2346350"/>
                <a:ext cx="0" cy="7809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文本_默认私密"/>
            <p:cNvSpPr txBox="1"/>
            <p:nvPr/>
          </p:nvSpPr>
          <p:spPr>
            <a:xfrm>
              <a:off x="1481328" y="2057400"/>
              <a:ext cx="6217920" cy="3749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5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1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默认私密</a:t>
              </a:r>
              <a:endParaRPr lang="zh-CN" sz="1810"/>
            </a:p>
          </p:txBody>
        </p:sp>
        <p:sp>
          <p:nvSpPr>
            <p:cNvPr id="25" name="文本_仅本人可见；共享由本人发起。"/>
            <p:cNvSpPr txBox="1"/>
            <p:nvPr/>
          </p:nvSpPr>
          <p:spPr>
            <a:xfrm>
              <a:off x="1481328" y="2569464"/>
              <a:ext cx="6217920" cy="3566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98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9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仅本人可见；共享由本人发起。</a:t>
              </a:r>
              <a:endParaRPr lang="zh-CN" sz="1390"/>
            </a:p>
          </p:txBody>
        </p:sp>
        <p:cxnSp>
          <p:nvCxnSpPr>
            <p:cNvPr id="26" name="分隔细线"/>
            <p:cNvCxnSpPr/>
            <p:nvPr/>
          </p:nvCxnSpPr>
          <p:spPr>
            <a:xfrm>
              <a:off x="1481328" y="2916936"/>
              <a:ext cx="6217920" cy="0"/>
            </a:xfrm>
            <a:prstGeom prst="line">
              <a:avLst/>
            </a:prstGeom>
            <a:ln w="5080">
              <a:solidFill>
                <a:srgbClr val="D4D2C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ANIM:safety1"/>
          <p:cNvGrpSpPr/>
          <p:nvPr/>
        </p:nvGrpSpPr>
        <p:grpSpPr>
          <a:xfrm>
            <a:off x="769467" y="3035808"/>
            <a:ext cx="6929781" cy="868680"/>
            <a:chOff x="769467" y="3035808"/>
            <a:chExt cx="6929781" cy="868680"/>
          </a:xfrm>
        </p:grpSpPr>
        <p:grpSp>
          <p:nvGrpSpPr>
            <p:cNvPr id="34" name="图标_upload"/>
            <p:cNvGrpSpPr/>
            <p:nvPr/>
          </p:nvGrpSpPr>
          <p:grpSpPr>
            <a:xfrm>
              <a:off x="769467" y="3073755"/>
              <a:ext cx="396027" cy="362560"/>
              <a:chOff x="769467" y="3073755"/>
              <a:chExt cx="396027" cy="362560"/>
            </a:xfrm>
          </p:grpSpPr>
          <p:cxnSp>
            <p:nvCxnSpPr>
              <p:cNvPr id="28" name="图解线条"/>
              <p:cNvCxnSpPr/>
              <p:nvPr/>
            </p:nvCxnSpPr>
            <p:spPr>
              <a:xfrm>
                <a:off x="769467" y="3436315"/>
                <a:ext cx="396027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图解线条"/>
              <p:cNvCxnSpPr/>
              <p:nvPr/>
            </p:nvCxnSpPr>
            <p:spPr>
              <a:xfrm>
                <a:off x="769467" y="3341491"/>
                <a:ext cx="0" cy="94824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图解线条"/>
              <p:cNvCxnSpPr/>
              <p:nvPr/>
            </p:nvCxnSpPr>
            <p:spPr>
              <a:xfrm>
                <a:off x="1165494" y="3341491"/>
                <a:ext cx="0" cy="94824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图解线条"/>
              <p:cNvCxnSpPr/>
              <p:nvPr/>
            </p:nvCxnSpPr>
            <p:spPr>
              <a:xfrm>
                <a:off x="964692" y="3073755"/>
                <a:ext cx="0" cy="295626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图解线条"/>
              <p:cNvCxnSpPr/>
              <p:nvPr/>
            </p:nvCxnSpPr>
            <p:spPr>
              <a:xfrm flipH="1">
                <a:off x="858713" y="3073755"/>
                <a:ext cx="105979" cy="105979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图解线条"/>
              <p:cNvCxnSpPr/>
              <p:nvPr/>
            </p:nvCxnSpPr>
            <p:spPr>
              <a:xfrm>
                <a:off x="964692" y="3073755"/>
                <a:ext cx="105978" cy="105979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文本_事先告知"/>
            <p:cNvSpPr txBox="1"/>
            <p:nvPr/>
          </p:nvSpPr>
          <p:spPr>
            <a:xfrm>
              <a:off x="1481328" y="3035808"/>
              <a:ext cx="6217920" cy="3749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5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1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事先告知</a:t>
              </a:r>
              <a:endParaRPr lang="zh-CN" sz="1810"/>
            </a:p>
          </p:txBody>
        </p:sp>
        <p:sp>
          <p:nvSpPr>
            <p:cNvPr id="36" name="文本_说明模型的数据传输与留存机制。"/>
            <p:cNvSpPr txBox="1"/>
            <p:nvPr/>
          </p:nvSpPr>
          <p:spPr>
            <a:xfrm>
              <a:off x="1481328" y="3547872"/>
              <a:ext cx="6217920" cy="3566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98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9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说明模型的数据传输与留存机制。</a:t>
              </a:r>
              <a:endParaRPr lang="zh-CN" sz="1390"/>
            </a:p>
          </p:txBody>
        </p:sp>
        <p:cxnSp>
          <p:nvCxnSpPr>
            <p:cNvPr id="37" name="分隔细线"/>
            <p:cNvCxnSpPr/>
            <p:nvPr/>
          </p:nvCxnSpPr>
          <p:spPr>
            <a:xfrm>
              <a:off x="1481328" y="3895344"/>
              <a:ext cx="6217920" cy="0"/>
            </a:xfrm>
            <a:prstGeom prst="line">
              <a:avLst/>
            </a:prstGeom>
            <a:ln w="5080">
              <a:solidFill>
                <a:srgbClr val="D4D2C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ANIM:safety2"/>
          <p:cNvGrpSpPr/>
          <p:nvPr/>
        </p:nvGrpSpPr>
        <p:grpSpPr>
          <a:xfrm>
            <a:off x="775045" y="4014215"/>
            <a:ext cx="6924203" cy="868681"/>
            <a:chOff x="775045" y="4014215"/>
            <a:chExt cx="6924203" cy="868681"/>
          </a:xfrm>
        </p:grpSpPr>
        <p:grpSp>
          <p:nvGrpSpPr>
            <p:cNvPr id="44" name="图标_choice"/>
            <p:cNvGrpSpPr/>
            <p:nvPr/>
          </p:nvGrpSpPr>
          <p:grpSpPr>
            <a:xfrm>
              <a:off x="775045" y="4068897"/>
              <a:ext cx="396027" cy="356981"/>
              <a:chOff x="775045" y="4068897"/>
              <a:chExt cx="396027" cy="356981"/>
            </a:xfrm>
          </p:grpSpPr>
          <p:cxnSp>
            <p:nvCxnSpPr>
              <p:cNvPr id="39" name="图解线条"/>
              <p:cNvCxnSpPr/>
              <p:nvPr/>
            </p:nvCxnSpPr>
            <p:spPr>
              <a:xfrm>
                <a:off x="775045" y="4247388"/>
                <a:ext cx="184069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图解线条"/>
              <p:cNvCxnSpPr/>
              <p:nvPr/>
            </p:nvCxnSpPr>
            <p:spPr>
              <a:xfrm flipV="1">
                <a:off x="959114" y="4068897"/>
                <a:ext cx="0" cy="178491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图解线条"/>
              <p:cNvCxnSpPr/>
              <p:nvPr/>
            </p:nvCxnSpPr>
            <p:spPr>
              <a:xfrm>
                <a:off x="959114" y="4247388"/>
                <a:ext cx="0" cy="17849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图解线条"/>
              <p:cNvCxnSpPr/>
              <p:nvPr/>
            </p:nvCxnSpPr>
            <p:spPr>
              <a:xfrm>
                <a:off x="959114" y="4068897"/>
                <a:ext cx="211958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图解线条"/>
              <p:cNvCxnSpPr/>
              <p:nvPr/>
            </p:nvCxnSpPr>
            <p:spPr>
              <a:xfrm>
                <a:off x="959114" y="4425878"/>
                <a:ext cx="211958" cy="0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文本_退出与撤销"/>
            <p:cNvSpPr txBox="1"/>
            <p:nvPr/>
          </p:nvSpPr>
          <p:spPr>
            <a:xfrm>
              <a:off x="1481328" y="4014215"/>
              <a:ext cx="6217920" cy="3749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5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1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退出与撤销</a:t>
              </a:r>
              <a:endParaRPr lang="zh-CN" sz="1810"/>
            </a:p>
          </p:txBody>
        </p:sp>
        <p:sp>
          <p:nvSpPr>
            <p:cNvPr id="46" name="文本_只删本人有权处理的数据，不删对方私记。"/>
            <p:cNvSpPr txBox="1"/>
            <p:nvPr/>
          </p:nvSpPr>
          <p:spPr>
            <a:xfrm>
              <a:off x="1481328" y="4526280"/>
              <a:ext cx="6217920" cy="3566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98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9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只删本人有权处理的数据，不删对方私记。</a:t>
              </a:r>
              <a:endParaRPr lang="zh-CN" sz="1390"/>
            </a:p>
          </p:txBody>
        </p:sp>
        <p:cxnSp>
          <p:nvCxnSpPr>
            <p:cNvPr id="47" name="分隔细线"/>
            <p:cNvCxnSpPr/>
            <p:nvPr/>
          </p:nvCxnSpPr>
          <p:spPr>
            <a:xfrm>
              <a:off x="1481328" y="4873752"/>
              <a:ext cx="6217920" cy="0"/>
            </a:xfrm>
            <a:prstGeom prst="line">
              <a:avLst/>
            </a:prstGeom>
            <a:ln w="5080">
              <a:solidFill>
                <a:srgbClr val="D4D2C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ANIM:safety3"/>
          <p:cNvGrpSpPr/>
          <p:nvPr/>
        </p:nvGrpSpPr>
        <p:grpSpPr>
          <a:xfrm>
            <a:off x="752734" y="4992624"/>
            <a:ext cx="6946514" cy="868680"/>
            <a:chOff x="752734" y="4992624"/>
            <a:chExt cx="6946514" cy="868680"/>
          </a:xfrm>
        </p:grpSpPr>
        <p:grpSp>
          <p:nvGrpSpPr>
            <p:cNvPr id="52" name="图标_clock"/>
            <p:cNvGrpSpPr/>
            <p:nvPr/>
          </p:nvGrpSpPr>
          <p:grpSpPr>
            <a:xfrm>
              <a:off x="752734" y="5013838"/>
              <a:ext cx="423915" cy="423915"/>
              <a:chOff x="752734" y="5013838"/>
              <a:chExt cx="423915" cy="423915"/>
            </a:xfrm>
          </p:grpSpPr>
          <p:sp>
            <p:nvSpPr>
              <p:cNvPr id="49" name="语义节点"/>
              <p:cNvSpPr/>
              <p:nvPr/>
            </p:nvSpPr>
            <p:spPr>
              <a:xfrm>
                <a:off x="752734" y="5013838"/>
                <a:ext cx="423915" cy="423915"/>
              </a:xfrm>
              <a:prstGeom prst="ellipse">
                <a:avLst/>
              </a:prstGeom>
              <a:noFill/>
              <a:ln w="8890">
                <a:solidFill>
                  <a:srgbClr val="8C2D1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0" name="图解线条"/>
              <p:cNvCxnSpPr/>
              <p:nvPr/>
            </p:nvCxnSpPr>
            <p:spPr>
              <a:xfrm>
                <a:off x="964692" y="5091927"/>
                <a:ext cx="0" cy="139446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图解线条"/>
              <p:cNvCxnSpPr/>
              <p:nvPr/>
            </p:nvCxnSpPr>
            <p:spPr>
              <a:xfrm>
                <a:off x="964692" y="5231373"/>
                <a:ext cx="105978" cy="61357"/>
              </a:xfrm>
              <a:prstGeom prst="line">
                <a:avLst/>
              </a:prstGeom>
              <a:ln w="12065">
                <a:solidFill>
                  <a:srgbClr val="8C2D1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文本_调用限额"/>
            <p:cNvSpPr txBox="1"/>
            <p:nvPr/>
          </p:nvSpPr>
          <p:spPr>
            <a:xfrm>
              <a:off x="1481328" y="4992624"/>
              <a:ext cx="6217920" cy="3749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25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10" b="0">
                  <a:solidFill>
                    <a:srgbClr val="24241F"/>
                  </a:solidFill>
                  <a:latin typeface="Noto Sans SC Medium"/>
                  <a:ea typeface="Noto Sans SC Medium"/>
                  <a:cs typeface="Noto Sans SC Medium"/>
                </a:rPr>
                <a:t>调用限额</a:t>
              </a:r>
              <a:endParaRPr lang="zh-CN" sz="1810"/>
            </a:p>
          </p:txBody>
        </p:sp>
        <p:sp>
          <p:nvSpPr>
            <p:cNvPr id="54" name="文本_后端与模型设用量上限，开发费用另算。"/>
            <p:cNvSpPr txBox="1"/>
            <p:nvPr/>
          </p:nvSpPr>
          <p:spPr>
            <a:xfrm>
              <a:off x="1481328" y="5504688"/>
              <a:ext cx="6217920" cy="3566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98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90" b="0">
                  <a:solidFill>
                    <a:srgbClr val="6E6D68"/>
                  </a:solidFill>
                  <a:latin typeface="Noto Sans SC"/>
                  <a:ea typeface="Noto Sans SC"/>
                  <a:cs typeface="Noto Sans SC"/>
                </a:rPr>
                <a:t>后端与模型设用量上限，开发费用另算。</a:t>
              </a:r>
              <a:endParaRPr lang="zh-CN" sz="1390"/>
            </a:p>
          </p:txBody>
        </p:sp>
      </p:grpSp>
      <p:sp>
        <p:nvSpPr>
          <p:cNvPr id="56" name="文本_试用前说明并测试共享副本、撤销访问与第三方留存范围。"/>
          <p:cNvSpPr txBox="1"/>
          <p:nvPr/>
        </p:nvSpPr>
        <p:spPr>
          <a:xfrm>
            <a:off x="594360" y="6153912"/>
            <a:ext cx="7114032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98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8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试用前说明并测试共享副本、撤销访问与第三方留存范围。</a:t>
            </a:r>
            <a:endParaRPr lang="zh-CN" sz="118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2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4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4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4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4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"/>
          <p:cNvSpPr txBox="1"/>
          <p:nvPr/>
        </p:nvSpPr>
        <p:spPr>
          <a:xfrm>
            <a:off x="594360" y="370332"/>
            <a:ext cx="100126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结语  ／  从说清楚走向一起安排</a:t>
            </a:r>
            <a:endParaRPr lang="zh-CN" sz="1070"/>
          </a:p>
        </p:txBody>
      </p:sp>
      <p:sp>
        <p:nvSpPr>
          <p:cNvPr id="3" name="页码"/>
          <p:cNvSpPr txBox="1"/>
          <p:nvPr/>
        </p:nvSpPr>
        <p:spPr>
          <a:xfrm>
            <a:off x="11045952" y="374904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23</a:t>
            </a:r>
            <a:endParaRPr lang="zh-CN" sz="1070"/>
          </a:p>
        </p:txBody>
      </p:sp>
      <p:cxnSp>
        <p:nvCxnSpPr>
          <p:cNvPr id="4" name="分隔细线"/>
          <p:cNvCxnSpPr/>
          <p:nvPr/>
        </p:nvCxnSpPr>
        <p:spPr>
          <a:xfrm>
            <a:off x="585216" y="6451092"/>
            <a:ext cx="11009376" cy="0"/>
          </a:xfrm>
          <a:prstGeom prst="line">
            <a:avLst/>
          </a:prstGeom>
          <a:ln w="571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页脚_普通文本无链接"/>
          <p:cNvSpPr txBox="1"/>
          <p:nvPr/>
        </p:nvSpPr>
        <p:spPr>
          <a:xfrm>
            <a:off x="594360" y="6528816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46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隐形家务翻译器  ／  产品原型与验证计划</a:t>
            </a:r>
            <a:endParaRPr lang="zh-CN" sz="910"/>
          </a:p>
        </p:txBody>
      </p:sp>
      <p:sp>
        <p:nvSpPr>
          <p:cNvPr id="6" name="结语主标题"/>
          <p:cNvSpPr txBox="1"/>
          <p:nvPr/>
        </p:nvSpPr>
        <p:spPr>
          <a:xfrm>
            <a:off x="576072" y="1060704"/>
            <a:ext cx="7406640" cy="1618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898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55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先把家务说具体，</a:t>
            </a:r>
            <a:endParaRPr lang="zh-CN" sz="3550"/>
          </a:p>
          <a:p>
            <a:pPr algn="l">
              <a:lnSpc>
                <a:spcPts val="4898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550" b="0">
                <a:solidFill>
                  <a:srgbClr val="24241F"/>
                </a:solidFill>
                <a:latin typeface="Source Han Serif SC SemiBold"/>
                <a:ea typeface="Source Han Serif SC SemiBold"/>
                <a:cs typeface="Source Han Serif SC SemiBold"/>
              </a:rPr>
              <a:t>再坐下来一起商量。</a:t>
            </a:r>
            <a:endParaRPr lang="zh-CN" sz="3550"/>
          </a:p>
        </p:txBody>
      </p:sp>
      <p:sp>
        <p:nvSpPr>
          <p:cNvPr id="7" name="文本_不承诺消除分歧。_本期先检验：能不能帮双方_把一件家务说"/>
          <p:cNvSpPr txBox="1"/>
          <p:nvPr/>
        </p:nvSpPr>
        <p:spPr>
          <a:xfrm>
            <a:off x="8138160" y="1527048"/>
            <a:ext cx="3401568" cy="1344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2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不承诺消除分歧。</a:t>
            </a:r>
            <a:endParaRPr lang="zh-CN" sz="1470"/>
          </a:p>
          <a:p>
            <a:pPr algn="l">
              <a:lnSpc>
                <a:spcPts val="232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本期先检验：能不能帮双方</a:t>
            </a:r>
            <a:endParaRPr lang="zh-CN" sz="1470"/>
          </a:p>
          <a:p>
            <a:pPr algn="l">
              <a:lnSpc>
                <a:spcPts val="232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7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把一件家务说清楚。</a:t>
            </a:r>
            <a:endParaRPr lang="zh-CN" sz="1470"/>
          </a:p>
        </p:txBody>
      </p:sp>
      <p:cxnSp>
        <p:nvCxnSpPr>
          <p:cNvPr id="8" name="分隔细线"/>
          <p:cNvCxnSpPr/>
          <p:nvPr/>
        </p:nvCxnSpPr>
        <p:spPr>
          <a:xfrm>
            <a:off x="594360" y="3364992"/>
            <a:ext cx="10981944" cy="0"/>
          </a:xfrm>
          <a:prstGeom prst="line">
            <a:avLst/>
          </a:prstGeom>
          <a:ln w="6985">
            <a:solidFill>
              <a:srgbClr val="D4D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_从表达走向下一步安排"/>
          <p:cNvSpPr txBox="1"/>
          <p:nvPr/>
        </p:nvSpPr>
        <p:spPr>
          <a:xfrm>
            <a:off x="594360" y="3593592"/>
            <a:ext cx="10972800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54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40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从表达走向下一步安排</a:t>
            </a:r>
            <a:endParaRPr lang="zh-CN" sz="1140"/>
          </a:p>
        </p:txBody>
      </p:sp>
      <p:sp>
        <p:nvSpPr>
          <p:cNvPr id="10" name="结语_轻纸页"/>
          <p:cNvSpPr/>
          <p:nvPr/>
        </p:nvSpPr>
        <p:spPr>
          <a:xfrm>
            <a:off x="585216" y="3931920"/>
            <a:ext cx="3474720" cy="1920240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文本_具体事项"/>
          <p:cNvSpPr txBox="1"/>
          <p:nvPr/>
        </p:nvSpPr>
        <p:spPr>
          <a:xfrm>
            <a:off x="841248" y="4169663"/>
            <a:ext cx="2962656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具体事项</a:t>
            </a:r>
            <a:endParaRPr lang="zh-CN" sz="2000"/>
          </a:p>
        </p:txBody>
      </p:sp>
      <p:sp>
        <p:nvSpPr>
          <p:cNvPr id="12" name="文本_把被漏掉的准备与协调，_整理成能核对的事情。"/>
          <p:cNvSpPr txBox="1"/>
          <p:nvPr/>
        </p:nvSpPr>
        <p:spPr>
          <a:xfrm>
            <a:off x="841248" y="4892040"/>
            <a:ext cx="2962656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把被漏掉的准备与协调，</a:t>
            </a:r>
            <a:endParaRPr lang="zh-CN" sz="1440"/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整理成能核对的事情。</a:t>
            </a:r>
            <a:endParaRPr lang="zh-CN" sz="1440"/>
          </a:p>
        </p:txBody>
      </p:sp>
      <p:sp>
        <p:nvSpPr>
          <p:cNvPr id="13" name="结语_轻纸页"/>
          <p:cNvSpPr/>
          <p:nvPr/>
        </p:nvSpPr>
        <p:spPr>
          <a:xfrm>
            <a:off x="4352544" y="3931920"/>
            <a:ext cx="3474720" cy="1920240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4" name="文本_独立感受"/>
          <p:cNvSpPr txBox="1"/>
          <p:nvPr/>
        </p:nvSpPr>
        <p:spPr>
          <a:xfrm>
            <a:off x="4608576" y="4169663"/>
            <a:ext cx="2962656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独立感受</a:t>
            </a:r>
            <a:endParaRPr lang="zh-CN" sz="2000"/>
          </a:p>
        </p:txBody>
      </p:sp>
      <p:sp>
        <p:nvSpPr>
          <p:cNvPr id="15" name="文本_投入由本人表达，_不必等对方批准。"/>
          <p:cNvSpPr txBox="1"/>
          <p:nvPr/>
        </p:nvSpPr>
        <p:spPr>
          <a:xfrm>
            <a:off x="4608576" y="4892040"/>
            <a:ext cx="2962656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投入由本人表达，</a:t>
            </a:r>
            <a:endParaRPr lang="zh-CN" sz="1440"/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不必等对方批准。</a:t>
            </a:r>
            <a:endParaRPr lang="zh-CN" sz="1440"/>
          </a:p>
        </p:txBody>
      </p:sp>
      <p:sp>
        <p:nvSpPr>
          <p:cNvPr id="16" name="结语_轻纸页"/>
          <p:cNvSpPr/>
          <p:nvPr/>
        </p:nvSpPr>
        <p:spPr>
          <a:xfrm>
            <a:off x="8119872" y="3931920"/>
            <a:ext cx="3474720" cy="1920240"/>
          </a:xfrm>
          <a:prstGeom prst="rect">
            <a:avLst/>
          </a:prstGeom>
          <a:solidFill>
            <a:srgbClr val="FCFBF8"/>
          </a:solidFill>
          <a:ln w="3810">
            <a:solidFill>
              <a:srgbClr val="E5E2DA"/>
            </a:solidFill>
          </a:ln>
          <a:effectLst>
            <a:outerShdw blurRad="57150" dist="19050" dir="5400000" algn="ctr" rotWithShape="0">
              <a:srgbClr val="4B463D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7" name="文本_共同约定"/>
          <p:cNvSpPr txBox="1"/>
          <p:nvPr/>
        </p:nvSpPr>
        <p:spPr>
          <a:xfrm>
            <a:off x="8375904" y="4169663"/>
            <a:ext cx="2962656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共同约定</a:t>
            </a:r>
            <a:endParaRPr lang="zh-CN" sz="2000"/>
          </a:p>
        </p:txBody>
      </p:sp>
      <p:sp>
        <p:nvSpPr>
          <p:cNvPr id="18" name="文本_不强求先消除分歧，_自愿商定下一步。"/>
          <p:cNvSpPr txBox="1"/>
          <p:nvPr/>
        </p:nvSpPr>
        <p:spPr>
          <a:xfrm>
            <a:off x="8375904" y="4892040"/>
            <a:ext cx="2962656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不强求先消除分歧，</a:t>
            </a:r>
            <a:endParaRPr lang="zh-CN" sz="1440"/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40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自愿商定下一步。</a:t>
            </a:r>
            <a:endParaRPr lang="zh-CN" sz="1440"/>
          </a:p>
        </p:txBody>
      </p:sp>
      <p:sp>
        <p:nvSpPr>
          <p:cNvPr id="19" name="文本_谢谢大家，欢迎批评与建议。"/>
          <p:cNvSpPr txBox="1"/>
          <p:nvPr/>
        </p:nvSpPr>
        <p:spPr>
          <a:xfrm>
            <a:off x="594360" y="60807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16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80" b="0">
                <a:solidFill>
                  <a:srgbClr val="24241F"/>
                </a:solidFill>
                <a:latin typeface="Noto Sans SC Medium"/>
                <a:ea typeface="Noto Sans SC Medium"/>
                <a:cs typeface="Noto Sans SC Medium"/>
              </a:rPr>
              <a:t>谢谢大家，欢迎批评与建议。</a:t>
            </a:r>
            <a:endParaRPr lang="zh-CN" sz="1480"/>
          </a:p>
        </p:txBody>
      </p:sp>
      <p:sp>
        <p:nvSpPr>
          <p:cNvPr id="20" name="!!chapterTitle0"/>
          <p:cNvSpPr txBox="1"/>
          <p:nvPr/>
        </p:nvSpPr>
        <p:spPr>
          <a:xfrm>
            <a:off x="7040880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问题界定</a:t>
            </a:r>
            <a:endParaRPr lang="zh-CN" sz="919"/>
          </a:p>
        </p:txBody>
      </p:sp>
      <p:sp>
        <p:nvSpPr>
          <p:cNvPr id="21" name="!!chapterTitle1"/>
          <p:cNvSpPr txBox="1"/>
          <p:nvPr/>
        </p:nvSpPr>
        <p:spPr>
          <a:xfrm>
            <a:off x="8065008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产品演示</a:t>
            </a:r>
            <a:endParaRPr lang="zh-CN" sz="919"/>
          </a:p>
        </p:txBody>
      </p:sp>
      <p:sp>
        <p:nvSpPr>
          <p:cNvPr id="22" name="!!chapterTitle2"/>
          <p:cNvSpPr txBox="1"/>
          <p:nvPr/>
        </p:nvSpPr>
        <p:spPr>
          <a:xfrm>
            <a:off x="9089136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6E6D68"/>
                </a:solidFill>
                <a:latin typeface="Noto Sans SC"/>
                <a:ea typeface="Noto Sans SC"/>
                <a:cs typeface="Noto Sans SC"/>
              </a:rPr>
              <a:t>用户范围</a:t>
            </a:r>
            <a:endParaRPr lang="zh-CN" sz="919"/>
          </a:p>
        </p:txBody>
      </p:sp>
      <p:sp>
        <p:nvSpPr>
          <p:cNvPr id="23" name="!!chapterTitle3"/>
          <p:cNvSpPr txBox="1"/>
          <p:nvPr/>
        </p:nvSpPr>
        <p:spPr>
          <a:xfrm>
            <a:off x="10113264" y="39044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19" b="0">
                <a:solidFill>
                  <a:srgbClr val="8C2D19"/>
                </a:solidFill>
                <a:latin typeface="Noto Sans SC Medium"/>
                <a:ea typeface="Noto Sans SC Medium"/>
                <a:cs typeface="Noto Sans SC Medium"/>
              </a:rPr>
              <a:t>验证计划</a:t>
            </a:r>
            <a:endParaRPr lang="zh-CN" sz="919"/>
          </a:p>
        </p:txBody>
      </p:sp>
      <p:cxnSp>
        <p:nvCxnSpPr>
          <p:cNvPr id="24" name="!!activeNavRule"/>
          <p:cNvCxnSpPr/>
          <p:nvPr/>
        </p:nvCxnSpPr>
        <p:spPr>
          <a:xfrm>
            <a:off x="10113264" y="701344"/>
            <a:ext cx="570585" cy="0"/>
          </a:xfrm>
          <a:prstGeom prst="line">
            <a:avLst/>
          </a:prstGeom>
          <a:ln w="10160">
            <a:solidFill>
              <a:srgbClr val="8C2D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1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Source Han Serif SC SemiBold"/>
        <a:ea typeface="Source Han Serif SC SemiBold"/>
        <a:cs typeface="Source Han Serif SC SemiBold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SC"/>
        <a:ea typeface="Noto Sans SC"/>
        <a:cs typeface="Noto Sans SC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3216</Words>
  <Application>Microsoft Office PowerPoint</Application>
  <PresentationFormat>宽屏</PresentationFormat>
  <Paragraphs>437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Arial</vt:lpstr>
      <vt:lpstr>Noto Sans SC Medium</vt:lpstr>
      <vt:lpstr>Noto Sans SC</vt:lpstr>
      <vt:lpstr>Source Han Serif SC SemiBold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隐形家务翻译器｜动态演示与应用截图预留｜第二版</dc:title>
  <dc:subject>目录、四部分分隔、可编辑可视图解、截图版位、Office365原生动画</dc:subject>
  <dc:creator/>
  <cp:keywords>隐形家务,认知劳动,学生原型,设计验证</cp:keywords>
  <dc:description/>
  <cp:lastModifiedBy>ZHANG, YUZHUO (UG)</cp:lastModifiedBy>
  <cp:revision>7</cp:revision>
  <dcterms:created xsi:type="dcterms:W3CDTF">2013-01-27T09:14:16Z</dcterms:created>
  <dcterms:modified xsi:type="dcterms:W3CDTF">2026-10-29T19:01:15Z</dcterms:modified>
  <cp:category/>
</cp:coreProperties>
</file>